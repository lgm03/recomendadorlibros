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png" ContentType="image/pn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7475200" cy="9753600"/>
  <p:notesSz cx="17475200" cy="9753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50" b="0" i="0">
                <a:solidFill>
                  <a:srgbClr val="343434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50" b="0" i="0">
                <a:solidFill>
                  <a:srgbClr val="343434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50" b="0" i="0">
                <a:solidFill>
                  <a:srgbClr val="343434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50" b="0" i="0">
                <a:solidFill>
                  <a:srgbClr val="343434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04641" y="321733"/>
            <a:ext cx="15546270" cy="223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50" b="0" i="0">
                <a:solidFill>
                  <a:srgbClr val="343434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86932" y="2451100"/>
            <a:ext cx="15109190" cy="47999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6.jpg"/><Relationship Id="rId6" Type="http://schemas.openxmlformats.org/officeDocument/2006/relationships/image" Target="../media/image7.jpg"/><Relationship Id="rId7" Type="http://schemas.openxmlformats.org/officeDocument/2006/relationships/image" Target="../media/image8.jpg"/><Relationship Id="rId8" Type="http://schemas.openxmlformats.org/officeDocument/2006/relationships/image" Target="../media/image9.jpg"/><Relationship Id="rId9" Type="http://schemas.openxmlformats.org/officeDocument/2006/relationships/image" Target="../media/image10.png"/><Relationship Id="rId10" Type="http://schemas.openxmlformats.org/officeDocument/2006/relationships/image" Target="../media/image11.jpg"/><Relationship Id="rId11" Type="http://schemas.openxmlformats.org/officeDocument/2006/relationships/image" Target="../media/image12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image" Target="../media/image20.png"/><Relationship Id="rId10" Type="http://schemas.openxmlformats.org/officeDocument/2006/relationships/image" Target="../media/image21.png"/><Relationship Id="rId11" Type="http://schemas.openxmlformats.org/officeDocument/2006/relationships/image" Target="../media/image22.png"/><Relationship Id="rId12" Type="http://schemas.openxmlformats.org/officeDocument/2006/relationships/image" Target="../media/image23.png"/><Relationship Id="rId13" Type="http://schemas.openxmlformats.org/officeDocument/2006/relationships/image" Target="../media/image24.png"/><Relationship Id="rId14" Type="http://schemas.openxmlformats.org/officeDocument/2006/relationships/image" Target="../media/image25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jpg"/><Relationship Id="rId3" Type="http://schemas.openxmlformats.org/officeDocument/2006/relationships/image" Target="../media/image29.png"/><Relationship Id="rId4" Type="http://schemas.openxmlformats.org/officeDocument/2006/relationships/image" Target="../media/image30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jp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image" Target="../media/image36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image" Target="../media/image42.png"/><Relationship Id="rId7" Type="http://schemas.openxmlformats.org/officeDocument/2006/relationships/image" Target="../media/image43.png"/><Relationship Id="rId8" Type="http://schemas.openxmlformats.org/officeDocument/2006/relationships/image" Target="../media/image44.png"/><Relationship Id="rId9" Type="http://schemas.openxmlformats.org/officeDocument/2006/relationships/image" Target="../media/image45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jpg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image" Target="../media/image49.jpg"/><Relationship Id="rId6" Type="http://schemas.openxmlformats.org/officeDocument/2006/relationships/image" Target="../media/image50.png"/><Relationship Id="rId7" Type="http://schemas.openxmlformats.org/officeDocument/2006/relationships/image" Target="../media/image51.png"/><Relationship Id="rId8" Type="http://schemas.openxmlformats.org/officeDocument/2006/relationships/image" Target="../media/image52.png"/><Relationship Id="rId9" Type="http://schemas.openxmlformats.org/officeDocument/2006/relationships/image" Target="../media/image53.png"/><Relationship Id="rId10" Type="http://schemas.openxmlformats.org/officeDocument/2006/relationships/image" Target="../media/image54.jpg"/><Relationship Id="rId11" Type="http://schemas.openxmlformats.org/officeDocument/2006/relationships/image" Target="../media/image55.png"/><Relationship Id="rId12" Type="http://schemas.openxmlformats.org/officeDocument/2006/relationships/image" Target="../media/image56.png"/><Relationship Id="rId13" Type="http://schemas.openxmlformats.org/officeDocument/2006/relationships/image" Target="../media/image57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8.jpg"/><Relationship Id="rId3" Type="http://schemas.openxmlformats.org/officeDocument/2006/relationships/image" Target="../media/image59.png"/><Relationship Id="rId4" Type="http://schemas.openxmlformats.org/officeDocument/2006/relationships/image" Target="../media/image60.jpg"/><Relationship Id="rId5" Type="http://schemas.openxmlformats.org/officeDocument/2006/relationships/image" Target="../media/image61.jpg"/><Relationship Id="rId6" Type="http://schemas.openxmlformats.org/officeDocument/2006/relationships/image" Target="../media/image62.jpg"/><Relationship Id="rId7" Type="http://schemas.openxmlformats.org/officeDocument/2006/relationships/image" Target="../media/image63.png"/><Relationship Id="rId8" Type="http://schemas.openxmlformats.org/officeDocument/2006/relationships/image" Target="../media/image64.png"/><Relationship Id="rId9" Type="http://schemas.openxmlformats.org/officeDocument/2006/relationships/image" Target="../media/image65.png"/><Relationship Id="rId10" Type="http://schemas.openxmlformats.org/officeDocument/2006/relationships/image" Target="../media/image66.png"/><Relationship Id="rId11" Type="http://schemas.openxmlformats.org/officeDocument/2006/relationships/image" Target="../media/image67.png"/><Relationship Id="rId12" Type="http://schemas.openxmlformats.org/officeDocument/2006/relationships/image" Target="../media/image68.png"/><Relationship Id="rId13" Type="http://schemas.openxmlformats.org/officeDocument/2006/relationships/image" Target="../media/image69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0.jpg"/><Relationship Id="rId3" Type="http://schemas.openxmlformats.org/officeDocument/2006/relationships/image" Target="../media/image71.png"/><Relationship Id="rId4" Type="http://schemas.openxmlformats.org/officeDocument/2006/relationships/image" Target="../media/image72.png"/><Relationship Id="rId5" Type="http://schemas.openxmlformats.org/officeDocument/2006/relationships/image" Target="../media/image73.png"/><Relationship Id="rId6" Type="http://schemas.openxmlformats.org/officeDocument/2006/relationships/image" Target="../media/image74.png"/><Relationship Id="rId7" Type="http://schemas.openxmlformats.org/officeDocument/2006/relationships/image" Target="../media/image75.png"/><Relationship Id="rId8" Type="http://schemas.openxmlformats.org/officeDocument/2006/relationships/image" Target="../media/image76.png"/><Relationship Id="rId9" Type="http://schemas.openxmlformats.org/officeDocument/2006/relationships/image" Target="../media/image77.png"/><Relationship Id="rId10" Type="http://schemas.openxmlformats.org/officeDocument/2006/relationships/image" Target="../media/image78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9.png"/><Relationship Id="rId3" Type="http://schemas.openxmlformats.org/officeDocument/2006/relationships/image" Target="../media/image80.jpg"/><Relationship Id="rId4" Type="http://schemas.openxmlformats.org/officeDocument/2006/relationships/image" Target="../media/image81.jpg"/><Relationship Id="rId5" Type="http://schemas.openxmlformats.org/officeDocument/2006/relationships/image" Target="../media/image82.jpg"/><Relationship Id="rId6" Type="http://schemas.openxmlformats.org/officeDocument/2006/relationships/image" Target="../media/image83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4.png"/><Relationship Id="rId3" Type="http://schemas.openxmlformats.org/officeDocument/2006/relationships/image" Target="../media/image85.png"/><Relationship Id="rId4" Type="http://schemas.openxmlformats.org/officeDocument/2006/relationships/image" Target="../media/image86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515100"/>
            <a:ext cx="11861800" cy="30988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80881" y="2423230"/>
            <a:ext cx="12614275" cy="2178050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algn="ctr" marL="67310">
              <a:lnSpc>
                <a:spcPts val="8430"/>
              </a:lnSpc>
              <a:spcBef>
                <a:spcPts val="120"/>
              </a:spcBef>
            </a:pPr>
            <a:r>
              <a:rPr dirty="0" sz="7550" spc="55">
                <a:solidFill>
                  <a:srgbClr val="333333"/>
                </a:solidFill>
                <a:latin typeface="Times New Roman"/>
                <a:cs typeface="Times New Roman"/>
              </a:rPr>
              <a:t>Sistema</a:t>
            </a:r>
            <a:r>
              <a:rPr dirty="0" sz="7550" spc="15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7550" spc="185">
                <a:solidFill>
                  <a:srgbClr val="313131"/>
                </a:solidFill>
                <a:latin typeface="Times New Roman"/>
                <a:cs typeface="Times New Roman"/>
              </a:rPr>
              <a:t>Recomendador</a:t>
            </a:r>
            <a:r>
              <a:rPr dirty="0" sz="7550" spc="305">
                <a:solidFill>
                  <a:srgbClr val="313131"/>
                </a:solidFill>
                <a:latin typeface="Times New Roman"/>
                <a:cs typeface="Times New Roman"/>
              </a:rPr>
              <a:t> </a:t>
            </a:r>
            <a:r>
              <a:rPr dirty="0" sz="7550" spc="285">
                <a:solidFill>
                  <a:srgbClr val="313131"/>
                </a:solidFill>
                <a:latin typeface="Times New Roman"/>
                <a:cs typeface="Times New Roman"/>
              </a:rPr>
              <a:t>de</a:t>
            </a:r>
            <a:endParaRPr sz="7550">
              <a:latin typeface="Times New Roman"/>
              <a:cs typeface="Times New Roman"/>
            </a:endParaRPr>
          </a:p>
          <a:p>
            <a:pPr algn="ctr">
              <a:lnSpc>
                <a:spcPts val="8490"/>
              </a:lnSpc>
            </a:pPr>
            <a:r>
              <a:rPr dirty="0" sz="7600" spc="-35">
                <a:solidFill>
                  <a:srgbClr val="313131"/>
                </a:solidFill>
                <a:latin typeface="Times New Roman"/>
                <a:cs typeface="Times New Roman"/>
              </a:rPr>
              <a:t>Libros</a:t>
            </a:r>
            <a:r>
              <a:rPr dirty="0" sz="7600" spc="-229">
                <a:solidFill>
                  <a:srgbClr val="313131"/>
                </a:solidFill>
                <a:latin typeface="Times New Roman"/>
                <a:cs typeface="Times New Roman"/>
              </a:rPr>
              <a:t> </a:t>
            </a:r>
            <a:r>
              <a:rPr dirty="0" sz="7600">
                <a:latin typeface="Times New Roman"/>
                <a:cs typeface="Times New Roman"/>
              </a:rPr>
              <a:t>Basado</a:t>
            </a:r>
            <a:r>
              <a:rPr dirty="0" sz="7600" spc="-145">
                <a:latin typeface="Times New Roman"/>
                <a:cs typeface="Times New Roman"/>
              </a:rPr>
              <a:t> </a:t>
            </a:r>
            <a:r>
              <a:rPr dirty="0" sz="7600" spc="285">
                <a:latin typeface="Times New Roman"/>
                <a:cs typeface="Times New Roman"/>
              </a:rPr>
              <a:t>en</a:t>
            </a:r>
            <a:r>
              <a:rPr dirty="0" sz="7600" spc="-370">
                <a:latin typeface="Times New Roman"/>
                <a:cs typeface="Times New Roman"/>
              </a:rPr>
              <a:t> </a:t>
            </a:r>
            <a:r>
              <a:rPr dirty="0" sz="7600" spc="60">
                <a:solidFill>
                  <a:srgbClr val="2F2F2F"/>
                </a:solidFill>
                <a:latin typeface="Times New Roman"/>
                <a:cs typeface="Times New Roman"/>
              </a:rPr>
              <a:t>Conocimiento</a:t>
            </a:r>
            <a:endParaRPr sz="76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6363314" y="2423230"/>
            <a:ext cx="97790" cy="11791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50" spc="-3260">
                <a:solidFill>
                  <a:srgbClr val="CDCDCD"/>
                </a:solidFill>
                <a:latin typeface="Times New Roman"/>
                <a:cs typeface="Times New Roman"/>
              </a:rPr>
              <a:t>o</a:t>
            </a:r>
            <a:endParaRPr sz="755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51612" y="5050366"/>
            <a:ext cx="828040" cy="143891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ts val="5455"/>
              </a:lnSpc>
              <a:spcBef>
                <a:spcPts val="130"/>
              </a:spcBef>
            </a:pPr>
            <a:r>
              <a:rPr dirty="0" sz="4550" spc="1375">
                <a:solidFill>
                  <a:srgbClr val="C1C1C1"/>
                </a:solidFill>
                <a:latin typeface="Calibri"/>
                <a:cs typeface="Calibri"/>
              </a:rPr>
              <a:t>,</a:t>
            </a:r>
            <a:r>
              <a:rPr dirty="0" sz="4550" spc="-229">
                <a:solidFill>
                  <a:srgbClr val="C1C1C1"/>
                </a:solidFill>
                <a:latin typeface="Calibri"/>
                <a:cs typeface="Calibri"/>
              </a:rPr>
              <a:t>...’</a:t>
            </a:r>
            <a:endParaRPr sz="4550">
              <a:latin typeface="Calibri"/>
              <a:cs typeface="Calibri"/>
            </a:endParaRPr>
          </a:p>
          <a:p>
            <a:pPr marL="75565">
              <a:lnSpc>
                <a:spcPts val="5635"/>
              </a:lnSpc>
            </a:pPr>
            <a:r>
              <a:rPr dirty="0" sz="4700" spc="-300">
                <a:solidFill>
                  <a:srgbClr val="CDCDCD"/>
                </a:solidFill>
                <a:latin typeface="Calibri"/>
                <a:cs typeface="Calibri"/>
              </a:rPr>
              <a:t>’’’’’’</a:t>
            </a:r>
            <a:endParaRPr sz="47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950130" y="5050366"/>
            <a:ext cx="8182609" cy="7239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838200" algn="l"/>
                <a:tab pos="1449705" algn="l"/>
              </a:tabLst>
            </a:pPr>
            <a:r>
              <a:rPr dirty="0" sz="4550" spc="-1705">
                <a:solidFill>
                  <a:srgbClr val="D8D8D8"/>
                </a:solidFill>
                <a:latin typeface="Calibri"/>
                <a:cs typeface="Calibri"/>
              </a:rPr>
              <a:t>”</a:t>
            </a:r>
            <a:r>
              <a:rPr dirty="0" sz="4550">
                <a:solidFill>
                  <a:srgbClr val="D8D8D8"/>
                </a:solidFill>
                <a:latin typeface="Calibri"/>
                <a:cs typeface="Calibri"/>
              </a:rPr>
              <a:t>	</a:t>
            </a:r>
            <a:r>
              <a:rPr dirty="0" sz="4550" spc="-1040">
                <a:solidFill>
                  <a:srgbClr val="D8D8D8"/>
                </a:solidFill>
                <a:latin typeface="Calibri"/>
                <a:cs typeface="Calibri"/>
              </a:rPr>
              <a:t>,</a:t>
            </a:r>
            <a:r>
              <a:rPr dirty="0" sz="4550">
                <a:solidFill>
                  <a:srgbClr val="D8D8D8"/>
                </a:solidFill>
                <a:latin typeface="Calibri"/>
                <a:cs typeface="Calibri"/>
              </a:rPr>
              <a:t>	</a:t>
            </a:r>
            <a:r>
              <a:rPr dirty="0" sz="4550" spc="-10">
                <a:solidFill>
                  <a:srgbClr val="0E0E0E"/>
                </a:solidFill>
                <a:latin typeface="Calibri"/>
                <a:cs typeface="Calibri"/>
              </a:rPr>
              <a:t>Unenfoquesemánticoparala</a:t>
            </a:r>
            <a:endParaRPr sz="455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7044111" y="5050366"/>
            <a:ext cx="173355" cy="7239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550" spc="-975">
                <a:solidFill>
                  <a:srgbClr val="CFCFCF"/>
                </a:solidFill>
                <a:latin typeface="Calibri"/>
                <a:cs typeface="Calibri"/>
              </a:rPr>
              <a:t>’”</a:t>
            </a:r>
            <a:endParaRPr sz="455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755799" y="5743927"/>
            <a:ext cx="7900034" cy="7454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4700" spc="-40">
                <a:latin typeface="Calibri"/>
                <a:cs typeface="Calibri"/>
              </a:rPr>
              <a:t>recomendacióndelibrosyautores.</a:t>
            </a:r>
            <a:endParaRPr sz="4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7500" y="254000"/>
            <a:ext cx="16776700" cy="91821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09340" rIns="0" bIns="0" rtlCol="0" vert="horz">
            <a:spAutoFit/>
          </a:bodyPr>
          <a:lstStyle/>
          <a:p>
            <a:pPr marL="7756525" marR="5080">
              <a:lnSpc>
                <a:spcPct val="88200"/>
              </a:lnSpc>
              <a:spcBef>
                <a:spcPts val="730"/>
              </a:spcBef>
            </a:pPr>
            <a:r>
              <a:rPr dirty="0" sz="4200" spc="70" b="1">
                <a:solidFill>
                  <a:srgbClr val="3B3B3B"/>
                </a:solidFill>
                <a:latin typeface="Cambria"/>
                <a:cs typeface="Cambria"/>
              </a:rPr>
              <a:t>El</a:t>
            </a:r>
            <a:r>
              <a:rPr dirty="0" sz="4200" spc="-235" b="1">
                <a:solidFill>
                  <a:srgbClr val="3B3B3B"/>
                </a:solidFill>
                <a:latin typeface="Cambria"/>
                <a:cs typeface="Cambria"/>
              </a:rPr>
              <a:t> </a:t>
            </a:r>
            <a:r>
              <a:rPr dirty="0" sz="4200" spc="-60" b="1">
                <a:solidFill>
                  <a:srgbClr val="333333"/>
                </a:solidFill>
                <a:latin typeface="Cambria"/>
                <a:cs typeface="Cambria"/>
              </a:rPr>
              <a:t>Problema:</a:t>
            </a:r>
            <a:r>
              <a:rPr dirty="0" sz="4200" spc="-95" b="1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dirty="0" sz="4200" b="1">
                <a:latin typeface="Cambria"/>
                <a:cs typeface="Cambria"/>
              </a:rPr>
              <a:t>La</a:t>
            </a:r>
            <a:r>
              <a:rPr dirty="0" sz="4200" spc="-229" b="1">
                <a:latin typeface="Cambria"/>
                <a:cs typeface="Cambria"/>
              </a:rPr>
              <a:t> </a:t>
            </a:r>
            <a:r>
              <a:rPr dirty="0" sz="4200" spc="-75" b="1">
                <a:latin typeface="Cambria"/>
                <a:cs typeface="Cambria"/>
              </a:rPr>
              <a:t>Paradoja</a:t>
            </a:r>
            <a:r>
              <a:rPr dirty="0" sz="4200" spc="30" b="1">
                <a:latin typeface="Cambria"/>
                <a:cs typeface="Cambria"/>
              </a:rPr>
              <a:t> </a:t>
            </a:r>
            <a:r>
              <a:rPr dirty="0" sz="4200" spc="-100" b="1">
                <a:solidFill>
                  <a:srgbClr val="3F3F3F"/>
                </a:solidFill>
                <a:latin typeface="Cambria"/>
                <a:cs typeface="Cambria"/>
              </a:rPr>
              <a:t>de</a:t>
            </a:r>
            <a:r>
              <a:rPr dirty="0" sz="4200" spc="-130" b="1">
                <a:solidFill>
                  <a:srgbClr val="3F3F3F"/>
                </a:solidFill>
                <a:latin typeface="Cambria"/>
                <a:cs typeface="Cambria"/>
              </a:rPr>
              <a:t> </a:t>
            </a:r>
            <a:r>
              <a:rPr dirty="0" sz="4200" spc="-25" b="1">
                <a:latin typeface="Cambria"/>
                <a:cs typeface="Cambria"/>
              </a:rPr>
              <a:t>la </a:t>
            </a:r>
            <a:r>
              <a:rPr dirty="0" sz="4350" spc="-110" b="1">
                <a:latin typeface="Cambria"/>
                <a:cs typeface="Cambria"/>
              </a:rPr>
              <a:t>Abundancia</a:t>
            </a:r>
            <a:r>
              <a:rPr dirty="0" sz="4350" spc="-35" b="1">
                <a:latin typeface="Cambria"/>
                <a:cs typeface="Cambria"/>
              </a:rPr>
              <a:t> </a:t>
            </a:r>
            <a:r>
              <a:rPr dirty="0" sz="4350" spc="-114" b="1">
                <a:solidFill>
                  <a:srgbClr val="3B3B3B"/>
                </a:solidFill>
                <a:latin typeface="Cambria"/>
                <a:cs typeface="Cambria"/>
              </a:rPr>
              <a:t>en</a:t>
            </a:r>
            <a:r>
              <a:rPr dirty="0" sz="4350" spc="-130" b="1">
                <a:solidFill>
                  <a:srgbClr val="3B3B3B"/>
                </a:solidFill>
                <a:latin typeface="Cambria"/>
                <a:cs typeface="Cambria"/>
              </a:rPr>
              <a:t> </a:t>
            </a:r>
            <a:r>
              <a:rPr dirty="0" sz="4350" spc="-125" b="1">
                <a:solidFill>
                  <a:srgbClr val="2B2B2B"/>
                </a:solidFill>
                <a:latin typeface="Cambria"/>
                <a:cs typeface="Cambria"/>
              </a:rPr>
              <a:t>los</a:t>
            </a:r>
            <a:r>
              <a:rPr dirty="0" sz="4350" spc="-245" b="1">
                <a:solidFill>
                  <a:srgbClr val="2B2B2B"/>
                </a:solidFill>
                <a:latin typeface="Cambria"/>
                <a:cs typeface="Cambria"/>
              </a:rPr>
              <a:t> </a:t>
            </a:r>
            <a:r>
              <a:rPr dirty="0" sz="4350" spc="-10" b="1">
                <a:latin typeface="Cambria"/>
                <a:cs typeface="Cambria"/>
              </a:rPr>
              <a:t>Catálogos </a:t>
            </a:r>
            <a:r>
              <a:rPr dirty="0" sz="4200" spc="-10" b="1">
                <a:solidFill>
                  <a:srgbClr val="2D2D2D"/>
                </a:solidFill>
                <a:latin typeface="Cambria"/>
                <a:cs typeface="Cambria"/>
              </a:rPr>
              <a:t>Digitales</a:t>
            </a:r>
            <a:endParaRPr sz="4200">
              <a:latin typeface="Cambria"/>
              <a:cs typeface="Cambri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643732" y="3111852"/>
            <a:ext cx="7629525" cy="5279390"/>
          </a:xfrm>
          <a:prstGeom prst="rect">
            <a:avLst/>
          </a:prstGeom>
        </p:spPr>
        <p:txBody>
          <a:bodyPr wrap="square" lIns="0" tIns="59055" rIns="0" bIns="0" rtlCol="0" vert="horz">
            <a:spAutoFit/>
          </a:bodyPr>
          <a:lstStyle/>
          <a:p>
            <a:pPr marL="13970" marR="400685" indent="-1905">
              <a:lnSpc>
                <a:spcPts val="3100"/>
              </a:lnSpc>
              <a:spcBef>
                <a:spcPts val="465"/>
              </a:spcBef>
            </a:pPr>
            <a:r>
              <a:rPr dirty="0" sz="2850" spc="-20">
                <a:latin typeface="Calibri"/>
                <a:cs typeface="Calibri"/>
              </a:rPr>
              <a:t>Los</a:t>
            </a:r>
            <a:r>
              <a:rPr dirty="0" sz="2850" spc="-145">
                <a:latin typeface="Calibri"/>
                <a:cs typeface="Calibri"/>
              </a:rPr>
              <a:t> </a:t>
            </a:r>
            <a:r>
              <a:rPr dirty="0" sz="2850" spc="-85">
                <a:latin typeface="Calibri"/>
                <a:cs typeface="Calibri"/>
              </a:rPr>
              <a:t>catálogos</a:t>
            </a:r>
            <a:r>
              <a:rPr dirty="0" sz="2850" spc="-10">
                <a:latin typeface="Calibri"/>
                <a:cs typeface="Calibri"/>
              </a:rPr>
              <a:t> </a:t>
            </a:r>
            <a:r>
              <a:rPr dirty="0" sz="2850" spc="-70">
                <a:latin typeface="Calibri"/>
                <a:cs typeface="Calibri"/>
              </a:rPr>
              <a:t>actuales</a:t>
            </a:r>
            <a:r>
              <a:rPr dirty="0" sz="2850" spc="-60">
                <a:latin typeface="Calibri"/>
                <a:cs typeface="Calibri"/>
              </a:rPr>
              <a:t> </a:t>
            </a:r>
            <a:r>
              <a:rPr dirty="0" sz="2850" spc="-100">
                <a:latin typeface="Calibri"/>
                <a:cs typeface="Calibri"/>
              </a:rPr>
              <a:t>contienen</a:t>
            </a:r>
            <a:r>
              <a:rPr dirty="0" sz="2850" spc="40">
                <a:latin typeface="Calibri"/>
                <a:cs typeface="Calibri"/>
              </a:rPr>
              <a:t> </a:t>
            </a:r>
            <a:r>
              <a:rPr dirty="0" sz="2850" spc="-80">
                <a:latin typeface="Calibri"/>
                <a:cs typeface="Calibri"/>
              </a:rPr>
              <a:t>millones</a:t>
            </a:r>
            <a:r>
              <a:rPr dirty="0" sz="2850" spc="-70">
                <a:latin typeface="Calibri"/>
                <a:cs typeface="Calibri"/>
              </a:rPr>
              <a:t> </a:t>
            </a:r>
            <a:r>
              <a:rPr dirty="0" sz="2850" spc="-65">
                <a:latin typeface="Calibri"/>
                <a:cs typeface="Calibri"/>
              </a:rPr>
              <a:t>de</a:t>
            </a:r>
            <a:r>
              <a:rPr dirty="0" sz="2850" spc="-155">
                <a:latin typeface="Calibri"/>
                <a:cs typeface="Calibri"/>
              </a:rPr>
              <a:t> </a:t>
            </a:r>
            <a:r>
              <a:rPr dirty="0" sz="2850" spc="-55">
                <a:latin typeface="Calibri"/>
                <a:cs typeface="Calibri"/>
              </a:rPr>
              <a:t>títulos, </a:t>
            </a:r>
            <a:r>
              <a:rPr dirty="0" sz="2850" spc="-114">
                <a:latin typeface="Calibri"/>
                <a:cs typeface="Calibri"/>
              </a:rPr>
              <a:t>creando</a:t>
            </a:r>
            <a:r>
              <a:rPr dirty="0" sz="2850" spc="-45">
                <a:latin typeface="Calibri"/>
                <a:cs typeface="Calibri"/>
              </a:rPr>
              <a:t> </a:t>
            </a:r>
            <a:r>
              <a:rPr dirty="0" sz="2850" spc="-100">
                <a:latin typeface="Calibri"/>
                <a:cs typeface="Calibri"/>
              </a:rPr>
              <a:t>una</a:t>
            </a:r>
            <a:r>
              <a:rPr dirty="0" sz="2850" spc="-65">
                <a:latin typeface="Calibri"/>
                <a:cs typeface="Calibri"/>
              </a:rPr>
              <a:t> </a:t>
            </a:r>
            <a:r>
              <a:rPr dirty="0" sz="2850" spc="-100">
                <a:latin typeface="Calibri"/>
                <a:cs typeface="Calibri"/>
              </a:rPr>
              <a:t>sobrecarga</a:t>
            </a:r>
            <a:r>
              <a:rPr dirty="0" sz="2850" spc="-40">
                <a:latin typeface="Calibri"/>
                <a:cs typeface="Calibri"/>
              </a:rPr>
              <a:t> </a:t>
            </a:r>
            <a:r>
              <a:rPr dirty="0" sz="2850" spc="-95">
                <a:latin typeface="Calibri"/>
                <a:cs typeface="Calibri"/>
              </a:rPr>
              <a:t>informativa</a:t>
            </a:r>
            <a:r>
              <a:rPr dirty="0" sz="2850" spc="50">
                <a:latin typeface="Calibri"/>
                <a:cs typeface="Calibri"/>
              </a:rPr>
              <a:t> </a:t>
            </a:r>
            <a:r>
              <a:rPr dirty="0" sz="2850" spc="-145">
                <a:latin typeface="Calibri"/>
                <a:cs typeface="Calibri"/>
              </a:rPr>
              <a:t>que</a:t>
            </a:r>
            <a:r>
              <a:rPr dirty="0" sz="2850" spc="-85">
                <a:latin typeface="Calibri"/>
                <a:cs typeface="Calibri"/>
              </a:rPr>
              <a:t> </a:t>
            </a:r>
            <a:r>
              <a:rPr dirty="0" sz="2850" spc="-20">
                <a:latin typeface="Calibri"/>
                <a:cs typeface="Calibri"/>
              </a:rPr>
              <a:t>puede </a:t>
            </a:r>
            <a:r>
              <a:rPr dirty="0" sz="2850" spc="-90">
                <a:latin typeface="Calibri"/>
                <a:cs typeface="Calibri"/>
              </a:rPr>
              <a:t>agobiar</a:t>
            </a:r>
            <a:r>
              <a:rPr dirty="0" sz="2850" spc="-40">
                <a:latin typeface="Calibri"/>
                <a:cs typeface="Calibri"/>
              </a:rPr>
              <a:t> </a:t>
            </a:r>
            <a:r>
              <a:rPr dirty="0" sz="2850" spc="65">
                <a:latin typeface="Calibri"/>
                <a:cs typeface="Calibri"/>
              </a:rPr>
              <a:t>a</a:t>
            </a:r>
            <a:r>
              <a:rPr dirty="0" sz="2850" spc="-260">
                <a:latin typeface="Calibri"/>
                <a:cs typeface="Calibri"/>
              </a:rPr>
              <a:t> </a:t>
            </a:r>
            <a:r>
              <a:rPr dirty="0" sz="2850" spc="-35">
                <a:latin typeface="Calibri"/>
                <a:cs typeface="Calibri"/>
              </a:rPr>
              <a:t>los</a:t>
            </a:r>
            <a:r>
              <a:rPr dirty="0" sz="2850" spc="-110">
                <a:latin typeface="Calibri"/>
                <a:cs typeface="Calibri"/>
              </a:rPr>
              <a:t> </a:t>
            </a:r>
            <a:r>
              <a:rPr dirty="0" sz="2850" spc="-105">
                <a:latin typeface="Calibri"/>
                <a:cs typeface="Calibri"/>
              </a:rPr>
              <a:t>usuarios.</a:t>
            </a:r>
            <a:r>
              <a:rPr dirty="0" sz="2850" spc="-85">
                <a:latin typeface="Calibri"/>
                <a:cs typeface="Calibri"/>
              </a:rPr>
              <a:t> </a:t>
            </a:r>
            <a:r>
              <a:rPr dirty="0" sz="2850">
                <a:latin typeface="Calibri"/>
                <a:cs typeface="Calibri"/>
              </a:rPr>
              <a:t>Las</a:t>
            </a:r>
            <a:r>
              <a:rPr dirty="0" sz="2850" spc="-95">
                <a:latin typeface="Calibri"/>
                <a:cs typeface="Calibri"/>
              </a:rPr>
              <a:t> </a:t>
            </a:r>
            <a:r>
              <a:rPr dirty="0" sz="2850" spc="-20">
                <a:latin typeface="Calibri"/>
                <a:cs typeface="Calibri"/>
              </a:rPr>
              <a:t>recomendaciones </a:t>
            </a:r>
            <a:r>
              <a:rPr dirty="0" sz="2850" spc="-70">
                <a:latin typeface="Calibri"/>
                <a:cs typeface="Calibri"/>
              </a:rPr>
              <a:t>tradicionales,</a:t>
            </a:r>
            <a:r>
              <a:rPr dirty="0" sz="2850" spc="-295">
                <a:latin typeface="Calibri"/>
                <a:cs typeface="Calibri"/>
              </a:rPr>
              <a:t> </a:t>
            </a:r>
            <a:r>
              <a:rPr dirty="0" sz="2850" spc="-70">
                <a:latin typeface="Calibri"/>
                <a:cs typeface="Calibri"/>
              </a:rPr>
              <a:t>a</a:t>
            </a:r>
            <a:r>
              <a:rPr dirty="0" sz="2850" spc="-95">
                <a:latin typeface="Calibri"/>
                <a:cs typeface="Calibri"/>
              </a:rPr>
              <a:t> </a:t>
            </a:r>
            <a:r>
              <a:rPr dirty="0" sz="2850" spc="-155">
                <a:latin typeface="Calibri"/>
                <a:cs typeface="Calibri"/>
              </a:rPr>
              <a:t>menudo</a:t>
            </a:r>
            <a:r>
              <a:rPr dirty="0" sz="2850" spc="-10">
                <a:latin typeface="Calibri"/>
                <a:cs typeface="Calibri"/>
              </a:rPr>
              <a:t> </a:t>
            </a:r>
            <a:r>
              <a:rPr dirty="0" sz="2850" spc="-90">
                <a:latin typeface="Calibri"/>
                <a:cs typeface="Calibri"/>
              </a:rPr>
              <a:t>basadas</a:t>
            </a:r>
            <a:r>
              <a:rPr dirty="0" sz="2850" spc="-50">
                <a:latin typeface="Calibri"/>
                <a:cs typeface="Calibri"/>
              </a:rPr>
              <a:t> </a:t>
            </a:r>
            <a:r>
              <a:rPr dirty="0" sz="2850" spc="-110">
                <a:latin typeface="Calibri"/>
                <a:cs typeface="Calibri"/>
              </a:rPr>
              <a:t>únicamente</a:t>
            </a:r>
            <a:r>
              <a:rPr dirty="0" sz="2850" spc="120">
                <a:latin typeface="Calibri"/>
                <a:cs typeface="Calibri"/>
              </a:rPr>
              <a:t> </a:t>
            </a:r>
            <a:r>
              <a:rPr dirty="0" sz="2850" spc="-25">
                <a:latin typeface="Calibri"/>
                <a:cs typeface="Calibri"/>
              </a:rPr>
              <a:t>en </a:t>
            </a:r>
            <a:r>
              <a:rPr dirty="0" sz="2850" spc="-100">
                <a:latin typeface="Calibri"/>
                <a:cs typeface="Calibri"/>
              </a:rPr>
              <a:t>popularidad,</a:t>
            </a:r>
            <a:r>
              <a:rPr dirty="0" sz="2850" spc="-5">
                <a:latin typeface="Calibri"/>
                <a:cs typeface="Calibri"/>
              </a:rPr>
              <a:t> </a:t>
            </a:r>
            <a:r>
              <a:rPr dirty="0" sz="2850" spc="-145">
                <a:latin typeface="Calibri"/>
                <a:cs typeface="Calibri"/>
              </a:rPr>
              <a:t>no</a:t>
            </a:r>
            <a:r>
              <a:rPr dirty="0" sz="2850" spc="-120">
                <a:latin typeface="Calibri"/>
                <a:cs typeface="Calibri"/>
              </a:rPr>
              <a:t> </a:t>
            </a:r>
            <a:r>
              <a:rPr dirty="0" sz="2850" spc="-100">
                <a:latin typeface="Calibri"/>
                <a:cs typeface="Calibri"/>
              </a:rPr>
              <a:t>capturan</a:t>
            </a:r>
            <a:r>
              <a:rPr dirty="0" sz="2850" spc="-65">
                <a:latin typeface="Calibri"/>
                <a:cs typeface="Calibri"/>
              </a:rPr>
              <a:t> </a:t>
            </a:r>
            <a:r>
              <a:rPr dirty="0" sz="2850" spc="-20">
                <a:latin typeface="Calibri"/>
                <a:cs typeface="Calibri"/>
              </a:rPr>
              <a:t>las</a:t>
            </a:r>
            <a:r>
              <a:rPr dirty="0" sz="2850" spc="-140">
                <a:latin typeface="Calibri"/>
                <a:cs typeface="Calibri"/>
              </a:rPr>
              <a:t> </a:t>
            </a:r>
            <a:r>
              <a:rPr dirty="0" sz="2850" spc="-85">
                <a:latin typeface="Calibri"/>
                <a:cs typeface="Calibri"/>
              </a:rPr>
              <a:t>relaciones</a:t>
            </a:r>
            <a:r>
              <a:rPr dirty="0" sz="2850" spc="45">
                <a:latin typeface="Calibri"/>
                <a:cs typeface="Calibri"/>
              </a:rPr>
              <a:t> </a:t>
            </a:r>
            <a:r>
              <a:rPr dirty="0" sz="2850" spc="-90">
                <a:latin typeface="Calibri"/>
                <a:cs typeface="Calibri"/>
              </a:rPr>
              <a:t>complejas</a:t>
            </a:r>
            <a:r>
              <a:rPr dirty="0" sz="2850" spc="15">
                <a:latin typeface="Calibri"/>
                <a:cs typeface="Calibri"/>
              </a:rPr>
              <a:t> </a:t>
            </a:r>
            <a:r>
              <a:rPr dirty="0" sz="2850" spc="-50">
                <a:latin typeface="Calibri"/>
                <a:cs typeface="Calibri"/>
              </a:rPr>
              <a:t>y </a:t>
            </a:r>
            <a:r>
              <a:rPr dirty="0" sz="2850" spc="-90">
                <a:latin typeface="Calibri"/>
                <a:cs typeface="Calibri"/>
              </a:rPr>
              <a:t>matizadas</a:t>
            </a:r>
            <a:r>
              <a:rPr dirty="0" sz="2850" spc="-15">
                <a:latin typeface="Calibri"/>
                <a:cs typeface="Calibri"/>
              </a:rPr>
              <a:t> </a:t>
            </a:r>
            <a:r>
              <a:rPr dirty="0" sz="2850" spc="-105">
                <a:latin typeface="Calibri"/>
                <a:cs typeface="Calibri"/>
              </a:rPr>
              <a:t>entre</a:t>
            </a:r>
            <a:r>
              <a:rPr dirty="0" sz="2850" spc="-25">
                <a:latin typeface="Calibri"/>
                <a:cs typeface="Calibri"/>
              </a:rPr>
              <a:t> </a:t>
            </a:r>
            <a:r>
              <a:rPr dirty="0" sz="2850" spc="-125">
                <a:latin typeface="Calibri"/>
                <a:cs typeface="Calibri"/>
              </a:rPr>
              <a:t>géneros</a:t>
            </a:r>
            <a:r>
              <a:rPr dirty="0" sz="2850" spc="-130">
                <a:latin typeface="Calibri"/>
                <a:cs typeface="Calibri"/>
              </a:rPr>
              <a:t> </a:t>
            </a:r>
            <a:r>
              <a:rPr dirty="0" sz="2850" spc="-10">
                <a:latin typeface="Calibri"/>
                <a:cs typeface="Calibri"/>
              </a:rPr>
              <a:t>literarios.</a:t>
            </a:r>
            <a:endParaRPr sz="2850">
              <a:latin typeface="Calibri"/>
              <a:cs typeface="Calibri"/>
            </a:endParaRPr>
          </a:p>
          <a:p>
            <a:pPr marL="659130" marR="241935" indent="38735">
              <a:lnSpc>
                <a:spcPts val="3100"/>
              </a:lnSpc>
              <a:spcBef>
                <a:spcPts val="2700"/>
              </a:spcBef>
            </a:pPr>
            <a:r>
              <a:rPr dirty="0" sz="2850" spc="-55">
                <a:latin typeface="Calibri"/>
                <a:cs typeface="Calibri"/>
              </a:rPr>
              <a:t>Los</a:t>
            </a:r>
            <a:r>
              <a:rPr dirty="0" sz="2850" spc="-110">
                <a:latin typeface="Calibri"/>
                <a:cs typeface="Calibri"/>
              </a:rPr>
              <a:t> </a:t>
            </a:r>
            <a:r>
              <a:rPr dirty="0" sz="2850" spc="-85">
                <a:latin typeface="Calibri"/>
                <a:cs typeface="Calibri"/>
              </a:rPr>
              <a:t>usuarios</a:t>
            </a:r>
            <a:r>
              <a:rPr dirty="0" sz="2850" spc="-15">
                <a:latin typeface="Calibri"/>
                <a:cs typeface="Calibri"/>
              </a:rPr>
              <a:t> </a:t>
            </a:r>
            <a:r>
              <a:rPr dirty="0" sz="2850" spc="-95">
                <a:latin typeface="Calibri"/>
                <a:cs typeface="Calibri"/>
              </a:rPr>
              <a:t>buscan</a:t>
            </a:r>
            <a:r>
              <a:rPr dirty="0" sz="2850" spc="-35">
                <a:latin typeface="Calibri"/>
                <a:cs typeface="Calibri"/>
              </a:rPr>
              <a:t> </a:t>
            </a:r>
            <a:r>
              <a:rPr dirty="0" sz="2850" spc="-85">
                <a:latin typeface="Calibri"/>
                <a:cs typeface="Calibri"/>
              </a:rPr>
              <a:t>libros</a:t>
            </a:r>
            <a:r>
              <a:rPr dirty="0" sz="2850" spc="-110">
                <a:latin typeface="Calibri"/>
                <a:cs typeface="Calibri"/>
              </a:rPr>
              <a:t> basándose</a:t>
            </a:r>
            <a:r>
              <a:rPr dirty="0" sz="2850" spc="40">
                <a:latin typeface="Calibri"/>
                <a:cs typeface="Calibri"/>
              </a:rPr>
              <a:t> </a:t>
            </a:r>
            <a:r>
              <a:rPr dirty="0" sz="2850" spc="-140">
                <a:latin typeface="Calibri"/>
                <a:cs typeface="Calibri"/>
              </a:rPr>
              <a:t>en</a:t>
            </a:r>
            <a:r>
              <a:rPr dirty="0" sz="2850" spc="-40">
                <a:latin typeface="Calibri"/>
                <a:cs typeface="Calibri"/>
              </a:rPr>
              <a:t> </a:t>
            </a:r>
            <a:r>
              <a:rPr dirty="0" sz="2850" spc="-80">
                <a:latin typeface="Calibri"/>
                <a:cs typeface="Calibri"/>
              </a:rPr>
              <a:t>géneros </a:t>
            </a:r>
            <a:r>
              <a:rPr dirty="0" sz="2850" spc="-20">
                <a:latin typeface="Calibri"/>
                <a:cs typeface="Calibri"/>
              </a:rPr>
              <a:t>y</a:t>
            </a:r>
            <a:r>
              <a:rPr dirty="0" sz="2850" spc="-204">
                <a:latin typeface="Calibri"/>
                <a:cs typeface="Calibri"/>
              </a:rPr>
              <a:t> </a:t>
            </a:r>
            <a:r>
              <a:rPr dirty="0" sz="2850" spc="-114">
                <a:latin typeface="Calibri"/>
                <a:cs typeface="Calibri"/>
              </a:rPr>
              <a:t>autores</a:t>
            </a:r>
            <a:r>
              <a:rPr dirty="0" sz="2850">
                <a:latin typeface="Calibri"/>
                <a:cs typeface="Calibri"/>
              </a:rPr>
              <a:t> </a:t>
            </a:r>
            <a:r>
              <a:rPr dirty="0" sz="2850" spc="-130">
                <a:latin typeface="Calibri"/>
                <a:cs typeface="Calibri"/>
              </a:rPr>
              <a:t>que</a:t>
            </a:r>
            <a:r>
              <a:rPr dirty="0" sz="2850" spc="-15">
                <a:latin typeface="Calibri"/>
                <a:cs typeface="Calibri"/>
              </a:rPr>
              <a:t> </a:t>
            </a:r>
            <a:r>
              <a:rPr dirty="0" sz="2850" spc="-85">
                <a:latin typeface="Calibri"/>
                <a:cs typeface="Calibri"/>
              </a:rPr>
              <a:t>ya</a:t>
            </a:r>
            <a:r>
              <a:rPr dirty="0" sz="2850" spc="-210">
                <a:latin typeface="Calibri"/>
                <a:cs typeface="Calibri"/>
              </a:rPr>
              <a:t> </a:t>
            </a:r>
            <a:r>
              <a:rPr dirty="0" sz="2850" spc="-55">
                <a:latin typeface="Calibri"/>
                <a:cs typeface="Calibri"/>
              </a:rPr>
              <a:t>les</a:t>
            </a:r>
            <a:r>
              <a:rPr dirty="0" sz="2850" spc="-200">
                <a:latin typeface="Calibri"/>
                <a:cs typeface="Calibri"/>
              </a:rPr>
              <a:t> </a:t>
            </a:r>
            <a:r>
              <a:rPr dirty="0" sz="2850" spc="-85">
                <a:latin typeface="Calibri"/>
                <a:cs typeface="Calibri"/>
              </a:rPr>
              <a:t>han</a:t>
            </a:r>
            <a:r>
              <a:rPr dirty="0" sz="2850" spc="-45">
                <a:latin typeface="Calibri"/>
                <a:cs typeface="Calibri"/>
              </a:rPr>
              <a:t> </a:t>
            </a:r>
            <a:r>
              <a:rPr dirty="0" sz="2850" spc="-10">
                <a:latin typeface="Calibri"/>
                <a:cs typeface="Calibri"/>
              </a:rPr>
              <a:t>gustado.</a:t>
            </a:r>
            <a:endParaRPr sz="2850">
              <a:latin typeface="Calibri"/>
              <a:cs typeface="Calibri"/>
            </a:endParaRPr>
          </a:p>
          <a:p>
            <a:pPr marL="660400">
              <a:lnSpc>
                <a:spcPct val="100000"/>
              </a:lnSpc>
              <a:spcBef>
                <a:spcPts val="1530"/>
              </a:spcBef>
            </a:pPr>
            <a:r>
              <a:rPr dirty="0" sz="2850">
                <a:latin typeface="Calibri"/>
                <a:cs typeface="Calibri"/>
              </a:rPr>
              <a:t>La</a:t>
            </a:r>
            <a:r>
              <a:rPr dirty="0" sz="2850" spc="-204">
                <a:latin typeface="Calibri"/>
                <a:cs typeface="Calibri"/>
              </a:rPr>
              <a:t> </a:t>
            </a:r>
            <a:r>
              <a:rPr dirty="0" sz="2850" spc="-90">
                <a:latin typeface="Calibri"/>
                <a:cs typeface="Calibri"/>
              </a:rPr>
              <a:t>información</a:t>
            </a:r>
            <a:r>
              <a:rPr dirty="0" sz="2850" spc="-5">
                <a:latin typeface="Calibri"/>
                <a:cs typeface="Calibri"/>
              </a:rPr>
              <a:t> </a:t>
            </a:r>
            <a:r>
              <a:rPr dirty="0" sz="2850" spc="-85">
                <a:latin typeface="Calibri"/>
                <a:cs typeface="Calibri"/>
              </a:rPr>
              <a:t>disponible</a:t>
            </a:r>
            <a:r>
              <a:rPr dirty="0" sz="2850" spc="-5">
                <a:latin typeface="Calibri"/>
                <a:cs typeface="Calibri"/>
              </a:rPr>
              <a:t> </a:t>
            </a:r>
            <a:r>
              <a:rPr dirty="0" sz="2850" spc="-85">
                <a:latin typeface="Calibri"/>
                <a:cs typeface="Calibri"/>
              </a:rPr>
              <a:t>es</a:t>
            </a:r>
            <a:r>
              <a:rPr dirty="0" sz="2850" spc="-130">
                <a:latin typeface="Calibri"/>
                <a:cs typeface="Calibri"/>
              </a:rPr>
              <a:t> </a:t>
            </a:r>
            <a:r>
              <a:rPr dirty="0" sz="2850" spc="-70">
                <a:latin typeface="Calibri"/>
                <a:cs typeface="Calibri"/>
              </a:rPr>
              <a:t>amplia</a:t>
            </a:r>
            <a:r>
              <a:rPr dirty="0" sz="2850" spc="-40">
                <a:latin typeface="Calibri"/>
                <a:cs typeface="Calibri"/>
              </a:rPr>
              <a:t> </a:t>
            </a:r>
            <a:r>
              <a:rPr dirty="0" sz="2850" spc="-135">
                <a:latin typeface="Calibri"/>
                <a:cs typeface="Calibri"/>
              </a:rPr>
              <a:t>y</a:t>
            </a:r>
            <a:r>
              <a:rPr dirty="0" sz="2850" spc="-200">
                <a:latin typeface="Calibri"/>
                <a:cs typeface="Calibri"/>
              </a:rPr>
              <a:t> </a:t>
            </a:r>
            <a:r>
              <a:rPr dirty="0" sz="2850" spc="-10">
                <a:latin typeface="Calibri"/>
                <a:cs typeface="Calibri"/>
              </a:rPr>
              <a:t>dispersa.</a:t>
            </a:r>
            <a:endParaRPr sz="2850">
              <a:latin typeface="Calibri"/>
              <a:cs typeface="Calibri"/>
            </a:endParaRPr>
          </a:p>
          <a:p>
            <a:pPr marL="663575" marR="5080" indent="-3810">
              <a:lnSpc>
                <a:spcPts val="3050"/>
              </a:lnSpc>
              <a:spcBef>
                <a:spcPts val="2490"/>
              </a:spcBef>
            </a:pPr>
            <a:r>
              <a:rPr dirty="0" sz="2850" spc="-60">
                <a:latin typeface="Calibri"/>
                <a:cs typeface="Calibri"/>
              </a:rPr>
              <a:t>Los</a:t>
            </a:r>
            <a:r>
              <a:rPr dirty="0" sz="2850" spc="-105">
                <a:latin typeface="Calibri"/>
                <a:cs typeface="Calibri"/>
              </a:rPr>
              <a:t> </a:t>
            </a:r>
            <a:r>
              <a:rPr dirty="0" sz="2850" spc="-95">
                <a:latin typeface="Calibri"/>
                <a:cs typeface="Calibri"/>
              </a:rPr>
              <a:t>sistemas</a:t>
            </a:r>
            <a:r>
              <a:rPr dirty="0" sz="2850" spc="-45">
                <a:latin typeface="Calibri"/>
                <a:cs typeface="Calibri"/>
              </a:rPr>
              <a:t> </a:t>
            </a:r>
            <a:r>
              <a:rPr dirty="0" sz="2850" spc="-90">
                <a:latin typeface="Calibri"/>
                <a:cs typeface="Calibri"/>
              </a:rPr>
              <a:t>actuales</a:t>
            </a:r>
            <a:r>
              <a:rPr dirty="0" sz="2850" spc="25">
                <a:latin typeface="Calibri"/>
                <a:cs typeface="Calibri"/>
              </a:rPr>
              <a:t> </a:t>
            </a:r>
            <a:r>
              <a:rPr dirty="0" sz="2850" spc="-105">
                <a:latin typeface="Calibri"/>
                <a:cs typeface="Calibri"/>
              </a:rPr>
              <a:t>carecen</a:t>
            </a:r>
            <a:r>
              <a:rPr dirty="0" sz="2850" spc="-45">
                <a:latin typeface="Calibri"/>
                <a:cs typeface="Calibri"/>
              </a:rPr>
              <a:t> </a:t>
            </a:r>
            <a:r>
              <a:rPr dirty="0" sz="2850" spc="-110">
                <a:latin typeface="Calibri"/>
                <a:cs typeface="Calibri"/>
              </a:rPr>
              <a:t>de</a:t>
            </a:r>
            <a:r>
              <a:rPr dirty="0" sz="2850" spc="-125">
                <a:latin typeface="Calibri"/>
                <a:cs typeface="Calibri"/>
              </a:rPr>
              <a:t> </a:t>
            </a:r>
            <a:r>
              <a:rPr dirty="0" sz="2850" spc="-160">
                <a:latin typeface="Calibri"/>
                <a:cs typeface="Calibri"/>
              </a:rPr>
              <a:t>un</a:t>
            </a:r>
            <a:r>
              <a:rPr dirty="0" sz="2850" spc="-90">
                <a:latin typeface="Calibri"/>
                <a:cs typeface="Calibri"/>
              </a:rPr>
              <a:t> </a:t>
            </a:r>
            <a:r>
              <a:rPr dirty="0" sz="2850" spc="-114">
                <a:latin typeface="Calibri"/>
                <a:cs typeface="Calibri"/>
              </a:rPr>
              <a:t>entendimiento </a:t>
            </a:r>
            <a:r>
              <a:rPr dirty="0" sz="2850" spc="-105">
                <a:latin typeface="Calibri"/>
                <a:cs typeface="Calibri"/>
              </a:rPr>
              <a:t>semántico</a:t>
            </a:r>
            <a:r>
              <a:rPr dirty="0" sz="2850" spc="-5">
                <a:latin typeface="Calibri"/>
                <a:cs typeface="Calibri"/>
              </a:rPr>
              <a:t> </a:t>
            </a:r>
            <a:r>
              <a:rPr dirty="0" sz="2850" spc="-135">
                <a:latin typeface="Calibri"/>
                <a:cs typeface="Calibri"/>
              </a:rPr>
              <a:t>profundo</a:t>
            </a:r>
            <a:r>
              <a:rPr dirty="0" sz="2850" spc="45">
                <a:latin typeface="Calibri"/>
                <a:cs typeface="Calibri"/>
              </a:rPr>
              <a:t> </a:t>
            </a:r>
            <a:r>
              <a:rPr dirty="0" sz="2850" spc="-70">
                <a:latin typeface="Calibri"/>
                <a:cs typeface="Calibri"/>
              </a:rPr>
              <a:t>de</a:t>
            </a:r>
            <a:r>
              <a:rPr dirty="0" sz="2850" spc="-220">
                <a:latin typeface="Calibri"/>
                <a:cs typeface="Calibri"/>
              </a:rPr>
              <a:t> </a:t>
            </a:r>
            <a:r>
              <a:rPr dirty="0" sz="2850" spc="-20">
                <a:latin typeface="Calibri"/>
                <a:cs typeface="Calibri"/>
              </a:rPr>
              <a:t>las</a:t>
            </a:r>
            <a:r>
              <a:rPr dirty="0" sz="2850" spc="-140">
                <a:latin typeface="Calibri"/>
                <a:cs typeface="Calibri"/>
              </a:rPr>
              <a:t> </a:t>
            </a:r>
            <a:r>
              <a:rPr dirty="0" sz="2850" spc="-105">
                <a:latin typeface="Calibri"/>
                <a:cs typeface="Calibri"/>
              </a:rPr>
              <a:t>conexiones</a:t>
            </a:r>
            <a:r>
              <a:rPr dirty="0" sz="2850" spc="45">
                <a:latin typeface="Calibri"/>
                <a:cs typeface="Calibri"/>
              </a:rPr>
              <a:t> </a:t>
            </a:r>
            <a:r>
              <a:rPr dirty="0" sz="2850" spc="-135">
                <a:latin typeface="Calibri"/>
                <a:cs typeface="Calibri"/>
              </a:rPr>
              <a:t>entre</a:t>
            </a:r>
            <a:r>
              <a:rPr dirty="0" sz="2850" spc="-90">
                <a:latin typeface="Calibri"/>
                <a:cs typeface="Calibri"/>
              </a:rPr>
              <a:t> </a:t>
            </a:r>
            <a:r>
              <a:rPr dirty="0" sz="2850" spc="-45">
                <a:latin typeface="Calibri"/>
                <a:cs typeface="Calibri"/>
              </a:rPr>
              <a:t>obras.</a:t>
            </a:r>
            <a:endParaRPr sz="285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6107677" y="9413522"/>
            <a:ext cx="1232535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>
                <a:latin typeface="Calibri"/>
                <a:cs typeface="Calibri"/>
              </a:rPr>
              <a:t>G</a:t>
            </a:r>
            <a:r>
              <a:rPr dirty="0" sz="1500" spc="110">
                <a:latin typeface="Calibri"/>
                <a:cs typeface="Calibri"/>
              </a:rPr>
              <a:t>  </a:t>
            </a:r>
            <a:r>
              <a:rPr dirty="0" sz="1500" spc="-55" b="1">
                <a:latin typeface="Calibri"/>
                <a:cs typeface="Calibri"/>
              </a:rPr>
              <a:t>NotebookLM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7500" y="7315200"/>
            <a:ext cx="177800" cy="17399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63700" y="5765800"/>
            <a:ext cx="1066800" cy="11938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219700" y="6057900"/>
            <a:ext cx="800100" cy="46990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264400" y="6705600"/>
            <a:ext cx="2070100" cy="80010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264400" y="5308600"/>
            <a:ext cx="2070100" cy="749300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442700" y="6057900"/>
            <a:ext cx="800100" cy="469900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585700" y="5905500"/>
            <a:ext cx="1181100" cy="927100"/>
          </a:xfrm>
          <a:prstGeom prst="rect">
            <a:avLst/>
          </a:prstGeom>
        </p:spPr>
      </p:pic>
      <p:sp>
        <p:nvSpPr>
          <p:cNvPr id="9" name="object 9" descr=""/>
          <p:cNvSpPr/>
          <p:nvPr/>
        </p:nvSpPr>
        <p:spPr>
          <a:xfrm>
            <a:off x="488950" y="486832"/>
            <a:ext cx="0" cy="8839200"/>
          </a:xfrm>
          <a:custGeom>
            <a:avLst/>
            <a:gdLst/>
            <a:ahLst/>
            <a:cxnLst/>
            <a:rect l="l" t="t" r="r" b="b"/>
            <a:pathLst>
              <a:path w="0" h="8839200">
                <a:moveTo>
                  <a:pt x="0" y="8839200"/>
                </a:moveTo>
                <a:lnTo>
                  <a:pt x="0" y="0"/>
                </a:lnTo>
              </a:path>
            </a:pathLst>
          </a:custGeom>
          <a:ln w="12700">
            <a:solidFill>
              <a:srgbClr val="606767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0" name="object 10" descr=""/>
          <p:cNvGrpSpPr/>
          <p:nvPr/>
        </p:nvGrpSpPr>
        <p:grpSpPr>
          <a:xfrm>
            <a:off x="482600" y="486832"/>
            <a:ext cx="16442690" cy="8839200"/>
            <a:chOff x="482600" y="486832"/>
            <a:chExt cx="16442690" cy="8839200"/>
          </a:xfrm>
        </p:grpSpPr>
        <p:sp>
          <p:nvSpPr>
            <p:cNvPr id="11" name="object 11" descr=""/>
            <p:cNvSpPr/>
            <p:nvPr/>
          </p:nvSpPr>
          <p:spPr>
            <a:xfrm>
              <a:off x="16918520" y="486832"/>
              <a:ext cx="0" cy="8839200"/>
            </a:xfrm>
            <a:custGeom>
              <a:avLst/>
              <a:gdLst/>
              <a:ahLst/>
              <a:cxnLst/>
              <a:rect l="l" t="t" r="r" b="b"/>
              <a:pathLst>
                <a:path w="0" h="8839200">
                  <a:moveTo>
                    <a:pt x="0" y="88392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60676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82600" y="493182"/>
              <a:ext cx="16442690" cy="0"/>
            </a:xfrm>
            <a:custGeom>
              <a:avLst/>
              <a:gdLst/>
              <a:ahLst/>
              <a:cxnLst/>
              <a:rect l="l" t="t" r="r" b="b"/>
              <a:pathLst>
                <a:path w="16442690" h="0">
                  <a:moveTo>
                    <a:pt x="0" y="0"/>
                  </a:moveTo>
                  <a:lnTo>
                    <a:pt x="16442267" y="0"/>
                  </a:lnTo>
                </a:path>
              </a:pathLst>
            </a:custGeom>
            <a:ln w="12700">
              <a:solidFill>
                <a:srgbClr val="60676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482600" y="9319682"/>
              <a:ext cx="16442690" cy="0"/>
            </a:xfrm>
            <a:custGeom>
              <a:avLst/>
              <a:gdLst/>
              <a:ahLst/>
              <a:cxnLst/>
              <a:rect l="l" t="t" r="r" b="b"/>
              <a:pathLst>
                <a:path w="16442690" h="0">
                  <a:moveTo>
                    <a:pt x="0" y="0"/>
                  </a:moveTo>
                  <a:lnTo>
                    <a:pt x="16442267" y="0"/>
                  </a:lnTo>
                </a:path>
              </a:pathLst>
            </a:custGeom>
            <a:ln w="12700">
              <a:solidFill>
                <a:srgbClr val="60676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641350" y="622300"/>
              <a:ext cx="0" cy="8467090"/>
            </a:xfrm>
            <a:custGeom>
              <a:avLst/>
              <a:gdLst/>
              <a:ahLst/>
              <a:cxnLst/>
              <a:rect l="l" t="t" r="r" b="b"/>
              <a:pathLst>
                <a:path w="0" h="8467090">
                  <a:moveTo>
                    <a:pt x="0" y="8466667"/>
                  </a:moveTo>
                  <a:lnTo>
                    <a:pt x="0" y="0"/>
                  </a:lnTo>
                </a:path>
              </a:pathLst>
            </a:custGeom>
            <a:ln w="21166">
              <a:solidFill>
                <a:srgbClr val="343F4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6778813" y="622300"/>
              <a:ext cx="0" cy="8467090"/>
            </a:xfrm>
            <a:custGeom>
              <a:avLst/>
              <a:gdLst/>
              <a:ahLst/>
              <a:cxnLst/>
              <a:rect l="l" t="t" r="r" b="b"/>
              <a:pathLst>
                <a:path w="0" h="8467090">
                  <a:moveTo>
                    <a:pt x="0" y="8466667"/>
                  </a:moveTo>
                  <a:lnTo>
                    <a:pt x="0" y="0"/>
                  </a:lnTo>
                </a:path>
              </a:pathLst>
            </a:custGeom>
            <a:ln w="21166">
              <a:solidFill>
                <a:srgbClr val="343F4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630766" y="632883"/>
              <a:ext cx="16158844" cy="0"/>
            </a:xfrm>
            <a:custGeom>
              <a:avLst/>
              <a:gdLst/>
              <a:ahLst/>
              <a:cxnLst/>
              <a:rect l="l" t="t" r="r" b="b"/>
              <a:pathLst>
                <a:path w="16158844" h="0">
                  <a:moveTo>
                    <a:pt x="0" y="0"/>
                  </a:moveTo>
                  <a:lnTo>
                    <a:pt x="16158634" y="0"/>
                  </a:lnTo>
                </a:path>
              </a:pathLst>
            </a:custGeom>
            <a:ln w="21166">
              <a:solidFill>
                <a:srgbClr val="343F4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630766" y="9078383"/>
              <a:ext cx="16158844" cy="0"/>
            </a:xfrm>
            <a:custGeom>
              <a:avLst/>
              <a:gdLst/>
              <a:ahLst/>
              <a:cxnLst/>
              <a:rect l="l" t="t" r="r" b="b"/>
              <a:pathLst>
                <a:path w="16158844" h="0">
                  <a:moveTo>
                    <a:pt x="0" y="0"/>
                  </a:moveTo>
                  <a:lnTo>
                    <a:pt x="16158634" y="0"/>
                  </a:lnTo>
                </a:path>
              </a:pathLst>
            </a:custGeom>
            <a:ln w="21166">
              <a:solidFill>
                <a:srgbClr val="343F4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2179300" y="9154583"/>
              <a:ext cx="1134745" cy="0"/>
            </a:xfrm>
            <a:custGeom>
              <a:avLst/>
              <a:gdLst/>
              <a:ahLst/>
              <a:cxnLst/>
              <a:rect l="l" t="t" r="r" b="b"/>
              <a:pathLst>
                <a:path w="1134744" h="0">
                  <a:moveTo>
                    <a:pt x="0" y="0"/>
                  </a:moveTo>
                  <a:lnTo>
                    <a:pt x="1134533" y="0"/>
                  </a:lnTo>
                </a:path>
              </a:pathLst>
            </a:custGeom>
            <a:ln w="4233">
              <a:solidFill>
                <a:srgbClr val="6B747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6021916" y="4470399"/>
              <a:ext cx="0" cy="3374390"/>
            </a:xfrm>
            <a:custGeom>
              <a:avLst/>
              <a:gdLst/>
              <a:ahLst/>
              <a:cxnLst/>
              <a:rect l="l" t="t" r="r" b="b"/>
              <a:pathLst>
                <a:path w="0" h="3374390">
                  <a:moveTo>
                    <a:pt x="0" y="3373966"/>
                  </a:moveTo>
                  <a:lnTo>
                    <a:pt x="0" y="0"/>
                  </a:lnTo>
                </a:path>
              </a:pathLst>
            </a:custGeom>
            <a:ln w="21166">
              <a:solidFill>
                <a:srgbClr val="2B384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11406716" y="4470399"/>
              <a:ext cx="0" cy="3374390"/>
            </a:xfrm>
            <a:custGeom>
              <a:avLst/>
              <a:gdLst/>
              <a:ahLst/>
              <a:cxnLst/>
              <a:rect l="l" t="t" r="r" b="b"/>
              <a:pathLst>
                <a:path w="0" h="3374390">
                  <a:moveTo>
                    <a:pt x="0" y="3373966"/>
                  </a:moveTo>
                  <a:lnTo>
                    <a:pt x="0" y="0"/>
                  </a:lnTo>
                </a:path>
              </a:pathLst>
            </a:custGeom>
            <a:ln w="21166">
              <a:solidFill>
                <a:srgbClr val="2B384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6011333" y="7833783"/>
              <a:ext cx="5406390" cy="0"/>
            </a:xfrm>
            <a:custGeom>
              <a:avLst/>
              <a:gdLst/>
              <a:ahLst/>
              <a:cxnLst/>
              <a:rect l="l" t="t" r="r" b="b"/>
              <a:pathLst>
                <a:path w="5406390" h="0">
                  <a:moveTo>
                    <a:pt x="0" y="0"/>
                  </a:moveTo>
                  <a:lnTo>
                    <a:pt x="5405966" y="0"/>
                  </a:lnTo>
                </a:path>
              </a:pathLst>
            </a:custGeom>
            <a:ln w="21166">
              <a:solidFill>
                <a:srgbClr val="2B384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9196916" y="6913032"/>
              <a:ext cx="0" cy="292100"/>
            </a:xfrm>
            <a:custGeom>
              <a:avLst/>
              <a:gdLst/>
              <a:ahLst/>
              <a:cxnLst/>
              <a:rect l="l" t="t" r="r" b="b"/>
              <a:pathLst>
                <a:path w="0" h="292100">
                  <a:moveTo>
                    <a:pt x="0" y="2921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23383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11127316" y="6824132"/>
              <a:ext cx="0" cy="715645"/>
            </a:xfrm>
            <a:custGeom>
              <a:avLst/>
              <a:gdLst/>
              <a:ahLst/>
              <a:cxnLst/>
              <a:rect l="l" t="t" r="r" b="b"/>
              <a:pathLst>
                <a:path w="0" h="715645">
                  <a:moveTo>
                    <a:pt x="0" y="715433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23383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9190566" y="6830482"/>
              <a:ext cx="1943100" cy="0"/>
            </a:xfrm>
            <a:custGeom>
              <a:avLst/>
              <a:gdLst/>
              <a:ahLst/>
              <a:cxnLst/>
              <a:rect l="l" t="t" r="r" b="b"/>
              <a:pathLst>
                <a:path w="1943100" h="0">
                  <a:moveTo>
                    <a:pt x="0" y="0"/>
                  </a:moveTo>
                  <a:lnTo>
                    <a:pt x="1943100" y="0"/>
                  </a:lnTo>
                </a:path>
              </a:pathLst>
            </a:custGeom>
            <a:ln w="12700">
              <a:solidFill>
                <a:srgbClr val="23383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9279466" y="7533216"/>
              <a:ext cx="1854200" cy="0"/>
            </a:xfrm>
            <a:custGeom>
              <a:avLst/>
              <a:gdLst/>
              <a:ahLst/>
              <a:cxnLst/>
              <a:rect l="l" t="t" r="r" b="b"/>
              <a:pathLst>
                <a:path w="1854200" h="0">
                  <a:moveTo>
                    <a:pt x="0" y="0"/>
                  </a:moveTo>
                  <a:lnTo>
                    <a:pt x="1854200" y="0"/>
                  </a:lnTo>
                </a:path>
              </a:pathLst>
            </a:custGeom>
            <a:ln w="12700">
              <a:solidFill>
                <a:srgbClr val="23383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8534400" y="2741083"/>
              <a:ext cx="7751445" cy="0"/>
            </a:xfrm>
            <a:custGeom>
              <a:avLst/>
              <a:gdLst/>
              <a:ahLst/>
              <a:cxnLst/>
              <a:rect l="l" t="t" r="r" b="b"/>
              <a:pathLst>
                <a:path w="7751444" h="0">
                  <a:moveTo>
                    <a:pt x="0" y="0"/>
                  </a:moveTo>
                  <a:lnTo>
                    <a:pt x="7751233" y="0"/>
                  </a:lnTo>
                </a:path>
              </a:pathLst>
            </a:custGeom>
            <a:ln w="29633">
              <a:solidFill>
                <a:srgbClr val="38444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724900" y="9169399"/>
              <a:ext cx="25400" cy="101600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98500" y="9080499"/>
              <a:ext cx="4102100" cy="190500"/>
            </a:xfrm>
            <a:prstGeom prst="rect">
              <a:avLst/>
            </a:prstGeom>
          </p:spPr>
        </p:pic>
        <p:pic>
          <p:nvPicPr>
            <p:cNvPr id="29" name="object 29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1569700" y="9080499"/>
              <a:ext cx="558800" cy="190500"/>
            </a:xfrm>
            <a:prstGeom prst="rect">
              <a:avLst/>
            </a:prstGeom>
          </p:spPr>
        </p:pic>
      </p:grpSp>
      <p:sp>
        <p:nvSpPr>
          <p:cNvPr id="30" name="object 30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01650" rIns="0" bIns="0" rtlCol="0" vert="horz">
            <a:spAutoFit/>
          </a:bodyPr>
          <a:lstStyle/>
          <a:p>
            <a:pPr marL="7750175" marR="5080" indent="1270">
              <a:lnSpc>
                <a:spcPct val="90300"/>
              </a:lnSpc>
              <a:spcBef>
                <a:spcPts val="600"/>
              </a:spcBef>
            </a:pPr>
            <a:r>
              <a:rPr dirty="0" sz="4150">
                <a:solidFill>
                  <a:srgbClr val="313131"/>
                </a:solidFill>
              </a:rPr>
              <a:t>Nuestra</a:t>
            </a:r>
            <a:r>
              <a:rPr dirty="0" sz="4150" spc="35">
                <a:solidFill>
                  <a:srgbClr val="313131"/>
                </a:solidFill>
              </a:rPr>
              <a:t> </a:t>
            </a:r>
            <a:r>
              <a:rPr dirty="0" sz="4150">
                <a:solidFill>
                  <a:srgbClr val="333333"/>
                </a:solidFill>
              </a:rPr>
              <a:t>Solución:</a:t>
            </a:r>
            <a:r>
              <a:rPr dirty="0" sz="4150" spc="-95">
                <a:solidFill>
                  <a:srgbClr val="333333"/>
                </a:solidFill>
              </a:rPr>
              <a:t> </a:t>
            </a:r>
            <a:r>
              <a:rPr dirty="0" sz="4150">
                <a:solidFill>
                  <a:srgbClr val="313131"/>
                </a:solidFill>
              </a:rPr>
              <a:t>Un</a:t>
            </a:r>
            <a:r>
              <a:rPr dirty="0" sz="4150" spc="-175">
                <a:solidFill>
                  <a:srgbClr val="313131"/>
                </a:solidFill>
              </a:rPr>
              <a:t> </a:t>
            </a:r>
            <a:r>
              <a:rPr dirty="0" sz="4150">
                <a:solidFill>
                  <a:srgbClr val="2B2B2B"/>
                </a:solidFill>
              </a:rPr>
              <a:t>Sistema</a:t>
            </a:r>
            <a:r>
              <a:rPr dirty="0" sz="4150" spc="-25">
                <a:solidFill>
                  <a:srgbClr val="2B2B2B"/>
                </a:solidFill>
              </a:rPr>
              <a:t> </a:t>
            </a:r>
            <a:r>
              <a:rPr dirty="0" sz="4150" spc="-25">
                <a:solidFill>
                  <a:srgbClr val="333333"/>
                </a:solidFill>
              </a:rPr>
              <a:t>que </a:t>
            </a:r>
            <a:r>
              <a:rPr dirty="0" sz="4200" spc="-35">
                <a:solidFill>
                  <a:srgbClr val="313131"/>
                </a:solidFill>
              </a:rPr>
              <a:t>Entiende</a:t>
            </a:r>
            <a:r>
              <a:rPr dirty="0" sz="4200" spc="-60">
                <a:solidFill>
                  <a:srgbClr val="313131"/>
                </a:solidFill>
              </a:rPr>
              <a:t> </a:t>
            </a:r>
            <a:r>
              <a:rPr dirty="0" sz="4200" spc="-10">
                <a:solidFill>
                  <a:srgbClr val="363636"/>
                </a:solidFill>
              </a:rPr>
              <a:t>el</a:t>
            </a:r>
            <a:r>
              <a:rPr dirty="0" sz="4200" spc="-260">
                <a:solidFill>
                  <a:srgbClr val="363636"/>
                </a:solidFill>
              </a:rPr>
              <a:t> </a:t>
            </a:r>
            <a:r>
              <a:rPr dirty="0" sz="4200">
                <a:solidFill>
                  <a:srgbClr val="282828"/>
                </a:solidFill>
              </a:rPr>
              <a:t>Significado,</a:t>
            </a:r>
            <a:r>
              <a:rPr dirty="0" sz="4200" spc="85">
                <a:solidFill>
                  <a:srgbClr val="282828"/>
                </a:solidFill>
              </a:rPr>
              <a:t> </a:t>
            </a:r>
            <a:r>
              <a:rPr dirty="0" sz="4200">
                <a:solidFill>
                  <a:srgbClr val="3D3D3D"/>
                </a:solidFill>
              </a:rPr>
              <a:t>no</a:t>
            </a:r>
            <a:r>
              <a:rPr dirty="0" sz="4200" spc="-210">
                <a:solidFill>
                  <a:srgbClr val="3D3D3D"/>
                </a:solidFill>
              </a:rPr>
              <a:t> </a:t>
            </a:r>
            <a:r>
              <a:rPr dirty="0" sz="4200">
                <a:solidFill>
                  <a:srgbClr val="2D2D2D"/>
                </a:solidFill>
              </a:rPr>
              <a:t>solo</a:t>
            </a:r>
            <a:r>
              <a:rPr dirty="0" sz="4200" spc="-200">
                <a:solidFill>
                  <a:srgbClr val="2D2D2D"/>
                </a:solidFill>
              </a:rPr>
              <a:t> </a:t>
            </a:r>
            <a:r>
              <a:rPr dirty="0" sz="4200" spc="-25"/>
              <a:t>los </a:t>
            </a:r>
            <a:r>
              <a:rPr dirty="0" sz="4150" spc="-10">
                <a:solidFill>
                  <a:srgbClr val="2F2F2F"/>
                </a:solidFill>
              </a:rPr>
              <a:t>Datos</a:t>
            </a:r>
            <a:endParaRPr sz="4150"/>
          </a:p>
        </p:txBody>
      </p:sp>
      <p:sp>
        <p:nvSpPr>
          <p:cNvPr id="31" name="object 31" descr=""/>
          <p:cNvSpPr txBox="1"/>
          <p:nvPr/>
        </p:nvSpPr>
        <p:spPr>
          <a:xfrm>
            <a:off x="1403991" y="3115733"/>
            <a:ext cx="13591540" cy="1257300"/>
          </a:xfrm>
          <a:prstGeom prst="rect">
            <a:avLst/>
          </a:prstGeom>
        </p:spPr>
        <p:txBody>
          <a:bodyPr wrap="square" lIns="0" tIns="67945" rIns="0" bIns="0" rtlCol="0" vert="horz">
            <a:spAutoFit/>
          </a:bodyPr>
          <a:lstStyle/>
          <a:p>
            <a:pPr marL="15875" marR="5080" indent="-3810">
              <a:lnSpc>
                <a:spcPts val="3100"/>
              </a:lnSpc>
              <a:spcBef>
                <a:spcPts val="535"/>
              </a:spcBef>
            </a:pPr>
            <a:r>
              <a:rPr dirty="0" sz="2900" spc="-135">
                <a:latin typeface="Calibri"/>
                <a:cs typeface="Calibri"/>
              </a:rPr>
              <a:t>Desarrollamos</a:t>
            </a:r>
            <a:r>
              <a:rPr dirty="0" sz="2900" spc="50">
                <a:latin typeface="Calibri"/>
                <a:cs typeface="Calibri"/>
              </a:rPr>
              <a:t> </a:t>
            </a:r>
            <a:r>
              <a:rPr dirty="0" sz="2900" spc="-114">
                <a:latin typeface="Calibri"/>
                <a:cs typeface="Calibri"/>
              </a:rPr>
              <a:t>un</a:t>
            </a:r>
            <a:r>
              <a:rPr dirty="0" sz="2900" spc="-210">
                <a:latin typeface="Calibri"/>
                <a:cs typeface="Calibri"/>
              </a:rPr>
              <a:t> </a:t>
            </a:r>
            <a:r>
              <a:rPr dirty="0" sz="2900" spc="-135">
                <a:latin typeface="Calibri"/>
                <a:cs typeface="Calibri"/>
              </a:rPr>
              <a:t>sistema</a:t>
            </a:r>
            <a:r>
              <a:rPr dirty="0" sz="2900" spc="-55">
                <a:latin typeface="Calibri"/>
                <a:cs typeface="Calibri"/>
              </a:rPr>
              <a:t> </a:t>
            </a:r>
            <a:r>
              <a:rPr dirty="0" sz="2900" spc="-165">
                <a:latin typeface="Calibri"/>
                <a:cs typeface="Calibri"/>
              </a:rPr>
              <a:t>recomendados</a:t>
            </a:r>
            <a:r>
              <a:rPr dirty="0" sz="2900" spc="80">
                <a:latin typeface="Calibri"/>
                <a:cs typeface="Calibri"/>
              </a:rPr>
              <a:t> </a:t>
            </a:r>
            <a:r>
              <a:rPr dirty="0" sz="2900" spc="-135">
                <a:latin typeface="Calibri"/>
                <a:cs typeface="Calibri"/>
              </a:rPr>
              <a:t>enriquecido</a:t>
            </a:r>
            <a:r>
              <a:rPr dirty="0" sz="2900" spc="145">
                <a:latin typeface="Calibri"/>
                <a:cs typeface="Calibri"/>
              </a:rPr>
              <a:t> </a:t>
            </a:r>
            <a:r>
              <a:rPr dirty="0" sz="2900" spc="-140">
                <a:latin typeface="Calibri"/>
                <a:cs typeface="Calibri"/>
              </a:rPr>
              <a:t>con</a:t>
            </a:r>
            <a:r>
              <a:rPr dirty="0" sz="2900" spc="-170">
                <a:latin typeface="Calibri"/>
                <a:cs typeface="Calibri"/>
              </a:rPr>
              <a:t> </a:t>
            </a:r>
            <a:r>
              <a:rPr dirty="0" sz="2900" spc="-120">
                <a:latin typeface="Calibri"/>
                <a:cs typeface="Calibri"/>
              </a:rPr>
              <a:t>ontologías</a:t>
            </a:r>
            <a:r>
              <a:rPr dirty="0" sz="2900" spc="90">
                <a:latin typeface="Calibri"/>
                <a:cs typeface="Calibri"/>
              </a:rPr>
              <a:t> </a:t>
            </a:r>
            <a:r>
              <a:rPr dirty="0" sz="2900" spc="-160">
                <a:latin typeface="Calibri"/>
                <a:cs typeface="Calibri"/>
              </a:rPr>
              <a:t>que</a:t>
            </a:r>
            <a:r>
              <a:rPr dirty="0" sz="2900" spc="-110">
                <a:latin typeface="Calibri"/>
                <a:cs typeface="Calibri"/>
              </a:rPr>
              <a:t> </a:t>
            </a:r>
            <a:r>
              <a:rPr dirty="0" sz="2900" spc="-170">
                <a:latin typeface="Calibri"/>
                <a:cs typeface="Calibri"/>
              </a:rPr>
              <a:t>comprende</a:t>
            </a:r>
            <a:r>
              <a:rPr dirty="0" sz="2900" spc="40">
                <a:latin typeface="Calibri"/>
                <a:cs typeface="Calibri"/>
              </a:rPr>
              <a:t> </a:t>
            </a:r>
            <a:r>
              <a:rPr dirty="0" sz="2900" spc="-55">
                <a:latin typeface="Calibri"/>
                <a:cs typeface="Calibri"/>
              </a:rPr>
              <a:t>las</a:t>
            </a:r>
            <a:r>
              <a:rPr dirty="0" sz="2900" spc="-235">
                <a:latin typeface="Calibri"/>
                <a:cs typeface="Calibri"/>
              </a:rPr>
              <a:t> </a:t>
            </a:r>
            <a:r>
              <a:rPr dirty="0" sz="2900" spc="-10">
                <a:latin typeface="Calibri"/>
                <a:cs typeface="Calibri"/>
              </a:rPr>
              <a:t>relaciones </a:t>
            </a:r>
            <a:r>
              <a:rPr dirty="0" sz="2900" spc="-60">
                <a:latin typeface="Calibri"/>
                <a:cs typeface="Calibri"/>
              </a:rPr>
              <a:t>semánticas.</a:t>
            </a:r>
            <a:r>
              <a:rPr dirty="0" sz="2900" spc="35">
                <a:latin typeface="Calibri"/>
                <a:cs typeface="Calibri"/>
              </a:rPr>
              <a:t> </a:t>
            </a:r>
            <a:r>
              <a:rPr dirty="0" sz="2900" spc="-110">
                <a:latin typeface="Calibri"/>
                <a:cs typeface="Calibri"/>
              </a:rPr>
              <a:t>Esto</a:t>
            </a:r>
            <a:r>
              <a:rPr dirty="0" sz="2900" spc="-185">
                <a:latin typeface="Calibri"/>
                <a:cs typeface="Calibri"/>
              </a:rPr>
              <a:t> </a:t>
            </a:r>
            <a:r>
              <a:rPr dirty="0" sz="2900" spc="-160">
                <a:latin typeface="Calibri"/>
                <a:cs typeface="Calibri"/>
              </a:rPr>
              <a:t>permite</a:t>
            </a:r>
            <a:r>
              <a:rPr dirty="0" sz="2900" spc="-25">
                <a:latin typeface="Calibri"/>
                <a:cs typeface="Calibri"/>
              </a:rPr>
              <a:t> </a:t>
            </a:r>
            <a:r>
              <a:rPr dirty="0" sz="2900" spc="-75">
                <a:latin typeface="Calibri"/>
                <a:cs typeface="Calibri"/>
              </a:rPr>
              <a:t>razonar</a:t>
            </a:r>
            <a:r>
              <a:rPr dirty="0" sz="2900" spc="-130">
                <a:latin typeface="Calibri"/>
                <a:cs typeface="Calibri"/>
              </a:rPr>
              <a:t> </a:t>
            </a:r>
            <a:r>
              <a:rPr dirty="0" sz="2900" spc="-80">
                <a:latin typeface="Calibri"/>
                <a:cs typeface="Calibri"/>
              </a:rPr>
              <a:t>por</a:t>
            </a:r>
            <a:r>
              <a:rPr dirty="0" sz="2900" spc="-120">
                <a:latin typeface="Calibri"/>
                <a:cs typeface="Calibri"/>
              </a:rPr>
              <a:t> </a:t>
            </a:r>
            <a:r>
              <a:rPr dirty="0" sz="2900" spc="-45">
                <a:latin typeface="Calibri"/>
                <a:cs typeface="Calibri"/>
              </a:rPr>
              <a:t>similitud</a:t>
            </a:r>
            <a:r>
              <a:rPr dirty="0" sz="2900" spc="-120">
                <a:latin typeface="Calibri"/>
                <a:cs typeface="Calibri"/>
              </a:rPr>
              <a:t> </a:t>
            </a:r>
            <a:r>
              <a:rPr dirty="0" sz="2900" spc="-140">
                <a:latin typeface="Calibri"/>
                <a:cs typeface="Calibri"/>
              </a:rPr>
              <a:t>sobre</a:t>
            </a:r>
            <a:r>
              <a:rPr dirty="0" sz="2900" spc="-5">
                <a:latin typeface="Calibri"/>
                <a:cs typeface="Calibri"/>
              </a:rPr>
              <a:t> </a:t>
            </a:r>
            <a:r>
              <a:rPr dirty="0" sz="2900" spc="-95">
                <a:latin typeface="Calibri"/>
                <a:cs typeface="Calibri"/>
              </a:rPr>
              <a:t>géneros,</a:t>
            </a:r>
            <a:r>
              <a:rPr dirty="0" sz="2900" spc="-105">
                <a:latin typeface="Calibri"/>
                <a:cs typeface="Calibri"/>
              </a:rPr>
              <a:t> </a:t>
            </a:r>
            <a:r>
              <a:rPr dirty="0" sz="2900" spc="-90">
                <a:latin typeface="Calibri"/>
                <a:cs typeface="Calibri"/>
              </a:rPr>
              <a:t>autores</a:t>
            </a:r>
            <a:r>
              <a:rPr dirty="0" sz="2900" spc="-70">
                <a:latin typeface="Calibri"/>
                <a:cs typeface="Calibri"/>
              </a:rPr>
              <a:t> </a:t>
            </a:r>
            <a:r>
              <a:rPr dirty="0" sz="2900" spc="-165">
                <a:latin typeface="Calibri"/>
                <a:cs typeface="Calibri"/>
              </a:rPr>
              <a:t>y</a:t>
            </a:r>
            <a:r>
              <a:rPr dirty="0" sz="2900" spc="-195">
                <a:latin typeface="Calibri"/>
                <a:cs typeface="Calibri"/>
              </a:rPr>
              <a:t> </a:t>
            </a:r>
            <a:r>
              <a:rPr dirty="0" sz="2900" spc="-55">
                <a:latin typeface="Calibri"/>
                <a:cs typeface="Calibri"/>
              </a:rPr>
              <a:t>editoriales</a:t>
            </a:r>
            <a:r>
              <a:rPr dirty="0" sz="2900" spc="-5">
                <a:latin typeface="Calibri"/>
                <a:cs typeface="Calibri"/>
              </a:rPr>
              <a:t> </a:t>
            </a:r>
            <a:r>
              <a:rPr dirty="0" sz="2900" spc="-140">
                <a:latin typeface="Calibri"/>
                <a:cs typeface="Calibri"/>
              </a:rPr>
              <a:t>para</a:t>
            </a:r>
            <a:r>
              <a:rPr dirty="0" sz="2900" spc="-60">
                <a:latin typeface="Calibri"/>
                <a:cs typeface="Calibri"/>
              </a:rPr>
              <a:t> </a:t>
            </a:r>
            <a:r>
              <a:rPr dirty="0" sz="2900" spc="-10">
                <a:latin typeface="Calibri"/>
                <a:cs typeface="Calibri"/>
              </a:rPr>
              <a:t>ofrecer </a:t>
            </a:r>
            <a:r>
              <a:rPr dirty="0" sz="2900" spc="-70">
                <a:latin typeface="Calibri"/>
                <a:cs typeface="Calibri"/>
              </a:rPr>
              <a:t>recomendaciones</a:t>
            </a:r>
            <a:r>
              <a:rPr dirty="0" sz="2900" spc="-254">
                <a:latin typeface="Calibri"/>
                <a:cs typeface="Calibri"/>
              </a:rPr>
              <a:t> </a:t>
            </a:r>
            <a:r>
              <a:rPr dirty="0" sz="2900" spc="-90">
                <a:latin typeface="Calibri"/>
                <a:cs typeface="Calibri"/>
              </a:rPr>
              <a:t>más</a:t>
            </a:r>
            <a:r>
              <a:rPr dirty="0" sz="2900" spc="-70">
                <a:latin typeface="Calibri"/>
                <a:cs typeface="Calibri"/>
              </a:rPr>
              <a:t> </a:t>
            </a:r>
            <a:r>
              <a:rPr dirty="0" sz="2900" spc="-65">
                <a:latin typeface="Calibri"/>
                <a:cs typeface="Calibri"/>
              </a:rPr>
              <a:t>relevantes</a:t>
            </a:r>
            <a:r>
              <a:rPr dirty="0" sz="2900" spc="65">
                <a:latin typeface="Calibri"/>
                <a:cs typeface="Calibri"/>
              </a:rPr>
              <a:t> </a:t>
            </a:r>
            <a:r>
              <a:rPr dirty="0" sz="2900" spc="-60">
                <a:latin typeface="Calibri"/>
                <a:cs typeface="Calibri"/>
              </a:rPr>
              <a:t>y</a:t>
            </a:r>
            <a:r>
              <a:rPr dirty="0" sz="2900" spc="-200">
                <a:latin typeface="Calibri"/>
                <a:cs typeface="Calibri"/>
              </a:rPr>
              <a:t> </a:t>
            </a:r>
            <a:r>
              <a:rPr dirty="0" sz="2900" spc="-10">
                <a:latin typeface="Calibri"/>
                <a:cs typeface="Calibri"/>
              </a:rPr>
              <a:t>explicables.</a:t>
            </a:r>
            <a:endParaRPr sz="2900">
              <a:latin typeface="Calibri"/>
              <a:cs typeface="Calibri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1335616" y="4976283"/>
            <a:ext cx="3848100" cy="550545"/>
          </a:xfrm>
          <a:prstGeom prst="rect">
            <a:avLst/>
          </a:prstGeom>
          <a:ln w="21166">
            <a:solidFill>
              <a:srgbClr val="2B3844"/>
            </a:solidFill>
          </a:ln>
        </p:spPr>
        <p:txBody>
          <a:bodyPr wrap="square" lIns="0" tIns="40005" rIns="0" bIns="0" rtlCol="0" vert="horz">
            <a:spAutoFit/>
          </a:bodyPr>
          <a:lstStyle/>
          <a:p>
            <a:pPr algn="ctr" marR="19050">
              <a:lnSpc>
                <a:spcPct val="100000"/>
              </a:lnSpc>
              <a:spcBef>
                <a:spcPts val="315"/>
              </a:spcBef>
            </a:pPr>
            <a:r>
              <a:rPr dirty="0" sz="2750" spc="-50">
                <a:latin typeface="Calibri"/>
                <a:cs typeface="Calibri"/>
              </a:rPr>
              <a:t>Entrada</a:t>
            </a:r>
            <a:r>
              <a:rPr dirty="0" sz="2750" spc="-95">
                <a:latin typeface="Calibri"/>
                <a:cs typeface="Calibri"/>
              </a:rPr>
              <a:t> </a:t>
            </a:r>
            <a:r>
              <a:rPr dirty="0" sz="2750">
                <a:latin typeface="Calibri"/>
                <a:cs typeface="Calibri"/>
              </a:rPr>
              <a:t>del</a:t>
            </a:r>
            <a:r>
              <a:rPr dirty="0" sz="2750" spc="-190">
                <a:latin typeface="Calibri"/>
                <a:cs typeface="Calibri"/>
              </a:rPr>
              <a:t> </a:t>
            </a:r>
            <a:r>
              <a:rPr dirty="0" sz="2750" spc="-10">
                <a:latin typeface="Calibri"/>
                <a:cs typeface="Calibri"/>
              </a:rPr>
              <a:t>Usuario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1335616" y="5526616"/>
            <a:ext cx="3848100" cy="1736089"/>
          </a:xfrm>
          <a:prstGeom prst="rect">
            <a:avLst/>
          </a:prstGeom>
          <a:ln w="21166">
            <a:solidFill>
              <a:srgbClr val="2B3844"/>
            </a:solidFill>
          </a:ln>
        </p:spPr>
        <p:txBody>
          <a:bodyPr wrap="square" lIns="0" tIns="11938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40"/>
              </a:spcBef>
            </a:pPr>
            <a:endParaRPr sz="2550">
              <a:latin typeface="Times New Roman"/>
              <a:cs typeface="Times New Roman"/>
            </a:endParaRPr>
          </a:p>
          <a:p>
            <a:pPr marL="1675130" marR="315595" indent="-3175">
              <a:lnSpc>
                <a:spcPts val="2700"/>
              </a:lnSpc>
              <a:tabLst>
                <a:tab pos="2047875" algn="l"/>
              </a:tabLst>
            </a:pPr>
            <a:r>
              <a:rPr dirty="0" sz="2550" spc="-25">
                <a:latin typeface="Calibri"/>
                <a:cs typeface="Calibri"/>
              </a:rPr>
              <a:t>E:</a:t>
            </a:r>
            <a:r>
              <a:rPr dirty="0" sz="2550">
                <a:latin typeface="Calibri"/>
                <a:cs typeface="Calibri"/>
              </a:rPr>
              <a:t>	</a:t>
            </a:r>
            <a:r>
              <a:rPr dirty="0" sz="2550" spc="-160">
                <a:latin typeface="Calibri"/>
                <a:cs typeface="Calibri"/>
              </a:rPr>
              <a:t>’Me</a:t>
            </a:r>
            <a:r>
              <a:rPr dirty="0" sz="2550" spc="-35">
                <a:latin typeface="Calibri"/>
                <a:cs typeface="Calibri"/>
              </a:rPr>
              <a:t> </a:t>
            </a:r>
            <a:r>
              <a:rPr dirty="0" sz="2550" spc="80">
                <a:latin typeface="Calibri"/>
                <a:cs typeface="Calibri"/>
              </a:rPr>
              <a:t>gustaa </a:t>
            </a:r>
            <a:r>
              <a:rPr dirty="0" sz="2550" spc="-100">
                <a:latin typeface="Calibri"/>
                <a:cs typeface="Calibri"/>
              </a:rPr>
              <a:t>novela</a:t>
            </a:r>
            <a:r>
              <a:rPr dirty="0" sz="2550" spc="-40">
                <a:latin typeface="Calibri"/>
                <a:cs typeface="Calibri"/>
              </a:rPr>
              <a:t> </a:t>
            </a:r>
            <a:r>
              <a:rPr dirty="0" sz="2550" spc="-10">
                <a:latin typeface="Calibri"/>
                <a:cs typeface="Calibri"/>
              </a:rPr>
              <a:t>negra"</a:t>
            </a:r>
            <a:endParaRPr sz="2550">
              <a:latin typeface="Calibri"/>
              <a:cs typeface="Calibri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6021916" y="4480983"/>
            <a:ext cx="5384800" cy="546100"/>
          </a:xfrm>
          <a:prstGeom prst="rect">
            <a:avLst/>
          </a:prstGeom>
          <a:ln w="21166">
            <a:solidFill>
              <a:srgbClr val="2B3844"/>
            </a:solidFill>
          </a:ln>
        </p:spPr>
        <p:txBody>
          <a:bodyPr wrap="square" lIns="0" tIns="14604" rIns="0" bIns="0" rtlCol="0" vert="horz">
            <a:spAutoFit/>
          </a:bodyPr>
          <a:lstStyle/>
          <a:p>
            <a:pPr algn="ctr" marL="21590">
              <a:lnSpc>
                <a:spcPct val="100000"/>
              </a:lnSpc>
              <a:spcBef>
                <a:spcPts val="114"/>
              </a:spcBef>
            </a:pPr>
            <a:r>
              <a:rPr dirty="0" sz="2850" spc="-195">
                <a:latin typeface="Calibri"/>
                <a:cs typeface="Calibri"/>
              </a:rPr>
              <a:t>Grafo</a:t>
            </a:r>
            <a:r>
              <a:rPr dirty="0" sz="2850">
                <a:latin typeface="Calibri"/>
                <a:cs typeface="Calibri"/>
              </a:rPr>
              <a:t> </a:t>
            </a:r>
            <a:r>
              <a:rPr dirty="0" sz="2850" spc="-70">
                <a:latin typeface="Calibri"/>
                <a:cs typeface="Calibri"/>
              </a:rPr>
              <a:t>de</a:t>
            </a:r>
            <a:r>
              <a:rPr dirty="0" sz="2850" spc="-120">
                <a:latin typeface="Calibri"/>
                <a:cs typeface="Calibri"/>
              </a:rPr>
              <a:t> </a:t>
            </a:r>
            <a:r>
              <a:rPr dirty="0" sz="2850" spc="-35">
                <a:latin typeface="Calibri"/>
                <a:cs typeface="Calibri"/>
              </a:rPr>
              <a:t>Conocimiento</a:t>
            </a:r>
            <a:endParaRPr sz="2850">
              <a:latin typeface="Calibri"/>
              <a:cs typeface="Calibri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7608839" y="5248627"/>
            <a:ext cx="1223010" cy="3644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200" spc="-95">
                <a:latin typeface="Calibri"/>
                <a:cs typeface="Calibri"/>
              </a:rPr>
              <a:t>subclase</a:t>
            </a:r>
            <a:r>
              <a:rPr dirty="0" sz="2200" spc="10">
                <a:latin typeface="Calibri"/>
                <a:cs typeface="Calibri"/>
              </a:rPr>
              <a:t> </a:t>
            </a:r>
            <a:r>
              <a:rPr dirty="0" sz="2200" spc="-70">
                <a:latin typeface="Calibri"/>
                <a:cs typeface="Calibri"/>
              </a:rPr>
              <a:t>de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6314016" y="6098116"/>
            <a:ext cx="1888489" cy="601345"/>
          </a:xfrm>
          <a:prstGeom prst="rect">
            <a:avLst/>
          </a:prstGeom>
          <a:ln w="21166">
            <a:solidFill>
              <a:srgbClr val="23383F"/>
            </a:solidFill>
          </a:ln>
        </p:spPr>
        <p:txBody>
          <a:bodyPr wrap="square" lIns="0" tIns="41910" rIns="0" bIns="0" rtlCol="0" vert="horz">
            <a:spAutoFit/>
          </a:bodyPr>
          <a:lstStyle/>
          <a:p>
            <a:pPr marL="161290">
              <a:lnSpc>
                <a:spcPct val="100000"/>
              </a:lnSpc>
              <a:spcBef>
                <a:spcPts val="330"/>
              </a:spcBef>
            </a:pPr>
            <a:r>
              <a:rPr dirty="0" sz="2500" spc="-80">
                <a:latin typeface="Calibri"/>
                <a:cs typeface="Calibri"/>
              </a:rPr>
              <a:t>Novela</a:t>
            </a:r>
            <a:r>
              <a:rPr dirty="0" sz="2500" spc="-45">
                <a:latin typeface="Calibri"/>
                <a:cs typeface="Calibri"/>
              </a:rPr>
              <a:t> </a:t>
            </a:r>
            <a:r>
              <a:rPr dirty="0" sz="2500" spc="-10">
                <a:latin typeface="Calibri"/>
                <a:cs typeface="Calibri"/>
              </a:rPr>
              <a:t>negra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7787809" y="7141985"/>
            <a:ext cx="877569" cy="3327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00" spc="-90">
                <a:latin typeface="Cambria"/>
                <a:cs typeface="Cambria"/>
              </a:rPr>
              <a:t>autor</a:t>
            </a:r>
            <a:r>
              <a:rPr dirty="0" sz="2000" spc="-10">
                <a:latin typeface="Cambria"/>
                <a:cs typeface="Cambria"/>
              </a:rPr>
              <a:t> </a:t>
            </a:r>
            <a:r>
              <a:rPr dirty="0" sz="2000" spc="-25">
                <a:latin typeface="Cambria"/>
                <a:cs typeface="Cambria"/>
              </a:rPr>
              <a:t>de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9209616" y="5306483"/>
            <a:ext cx="1905000" cy="715645"/>
          </a:xfrm>
          <a:prstGeom prst="rect">
            <a:avLst/>
          </a:prstGeom>
          <a:ln w="21166">
            <a:solidFill>
              <a:srgbClr val="23383F"/>
            </a:solidFill>
          </a:ln>
        </p:spPr>
        <p:txBody>
          <a:bodyPr wrap="square" lIns="0" tIns="31115" rIns="0" bIns="0" rtlCol="0" vert="horz">
            <a:spAutoFit/>
          </a:bodyPr>
          <a:lstStyle/>
          <a:p>
            <a:pPr marL="224154" marR="154940" indent="343535">
              <a:lnSpc>
                <a:spcPts val="2400"/>
              </a:lnSpc>
              <a:spcBef>
                <a:spcPts val="245"/>
              </a:spcBef>
            </a:pPr>
            <a:r>
              <a:rPr dirty="0" sz="2500" spc="-10">
                <a:latin typeface="Calibri"/>
                <a:cs typeface="Calibri"/>
              </a:rPr>
              <a:t>Ficción </a:t>
            </a:r>
            <a:r>
              <a:rPr dirty="0" sz="2500" spc="-75">
                <a:latin typeface="Calibri"/>
                <a:cs typeface="Calibri"/>
              </a:rPr>
              <a:t>detectivesca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9190566" y="6784269"/>
            <a:ext cx="1930400" cy="7042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422909">
              <a:lnSpc>
                <a:spcPts val="2565"/>
              </a:lnSpc>
              <a:spcBef>
                <a:spcPts val="130"/>
              </a:spcBef>
            </a:pPr>
            <a:r>
              <a:rPr dirty="0" sz="2400" spc="-10">
                <a:latin typeface="Consolas"/>
                <a:cs typeface="Consolas"/>
              </a:rPr>
              <a:t>Raymond</a:t>
            </a:r>
            <a:endParaRPr sz="2400">
              <a:latin typeface="Consolas"/>
              <a:cs typeface="Consolas"/>
            </a:endParaRPr>
          </a:p>
          <a:p>
            <a:pPr marL="459105">
              <a:lnSpc>
                <a:spcPts val="2745"/>
              </a:lnSpc>
            </a:pPr>
            <a:r>
              <a:rPr dirty="0" sz="2550" spc="-340">
                <a:latin typeface="Consolas"/>
                <a:cs typeface="Consolas"/>
              </a:rPr>
              <a:t>Chandler</a:t>
            </a:r>
            <a:endParaRPr sz="2550">
              <a:latin typeface="Consolas"/>
              <a:cs typeface="Consolas"/>
            </a:endParaRPr>
          </a:p>
        </p:txBody>
      </p:sp>
      <p:sp>
        <p:nvSpPr>
          <p:cNvPr id="40" name="object 40" descr=""/>
          <p:cNvSpPr txBox="1"/>
          <p:nvPr/>
        </p:nvSpPr>
        <p:spPr>
          <a:xfrm>
            <a:off x="12244916" y="4976283"/>
            <a:ext cx="3898900" cy="550545"/>
          </a:xfrm>
          <a:prstGeom prst="rect">
            <a:avLst/>
          </a:prstGeom>
          <a:ln w="21166">
            <a:solidFill>
              <a:srgbClr val="2B3844"/>
            </a:solidFill>
          </a:ln>
        </p:spPr>
        <p:txBody>
          <a:bodyPr wrap="square" lIns="0" tIns="20955" rIns="0" bIns="0" rtlCol="0" vert="horz">
            <a:spAutoFit/>
          </a:bodyPr>
          <a:lstStyle/>
          <a:p>
            <a:pPr marL="734060">
              <a:lnSpc>
                <a:spcPct val="100000"/>
              </a:lnSpc>
              <a:spcBef>
                <a:spcPts val="165"/>
              </a:spcBef>
            </a:pPr>
            <a:r>
              <a:rPr dirty="0" sz="2900" spc="-75">
                <a:latin typeface="Calibri"/>
                <a:cs typeface="Calibri"/>
              </a:rPr>
              <a:t>Salida</a:t>
            </a:r>
            <a:r>
              <a:rPr dirty="0" sz="2900" spc="-155">
                <a:latin typeface="Calibri"/>
                <a:cs typeface="Calibri"/>
              </a:rPr>
              <a:t> </a:t>
            </a:r>
            <a:r>
              <a:rPr dirty="0" sz="2900" spc="-35">
                <a:latin typeface="Calibri"/>
                <a:cs typeface="Calibri"/>
              </a:rPr>
              <a:t>del</a:t>
            </a:r>
            <a:r>
              <a:rPr dirty="0" sz="2900" spc="-175">
                <a:latin typeface="Calibri"/>
                <a:cs typeface="Calibri"/>
              </a:rPr>
              <a:t> </a:t>
            </a:r>
            <a:r>
              <a:rPr dirty="0" sz="2900" spc="-10">
                <a:latin typeface="Calibri"/>
                <a:cs typeface="Calibri"/>
              </a:rPr>
              <a:t>Sistema</a:t>
            </a:r>
            <a:endParaRPr sz="2900">
              <a:latin typeface="Calibri"/>
              <a:cs typeface="Calibri"/>
            </a:endParaRPr>
          </a:p>
        </p:txBody>
      </p:sp>
      <p:sp>
        <p:nvSpPr>
          <p:cNvPr id="41" name="object 41" descr=""/>
          <p:cNvSpPr txBox="1"/>
          <p:nvPr/>
        </p:nvSpPr>
        <p:spPr>
          <a:xfrm>
            <a:off x="12244916" y="5526616"/>
            <a:ext cx="3898900" cy="1736089"/>
          </a:xfrm>
          <a:prstGeom prst="rect">
            <a:avLst/>
          </a:prstGeom>
          <a:ln w="21166">
            <a:solidFill>
              <a:srgbClr val="2B3844"/>
            </a:solidFill>
          </a:ln>
        </p:spPr>
        <p:txBody>
          <a:bodyPr wrap="square" lIns="0" tIns="351790" rIns="0" bIns="0" rtlCol="0" vert="horz">
            <a:spAutoFit/>
          </a:bodyPr>
          <a:lstStyle/>
          <a:p>
            <a:pPr marL="1754505" marR="30480" indent="-6350">
              <a:lnSpc>
                <a:spcPts val="2700"/>
              </a:lnSpc>
              <a:spcBef>
                <a:spcPts val="2770"/>
              </a:spcBef>
            </a:pPr>
            <a:r>
              <a:rPr dirty="0" sz="2500">
                <a:latin typeface="Calibri"/>
                <a:cs typeface="Calibri"/>
              </a:rPr>
              <a:t>Ej:"Te</a:t>
            </a:r>
            <a:r>
              <a:rPr dirty="0" sz="2500" spc="-80">
                <a:latin typeface="Calibri"/>
                <a:cs typeface="Calibri"/>
              </a:rPr>
              <a:t> </a:t>
            </a:r>
            <a:r>
              <a:rPr dirty="0" sz="2500" spc="-10">
                <a:latin typeface="Calibri"/>
                <a:cs typeface="Calibri"/>
              </a:rPr>
              <a:t>podria </a:t>
            </a:r>
            <a:r>
              <a:rPr dirty="0" sz="2500" spc="-80">
                <a:latin typeface="Calibri"/>
                <a:cs typeface="Calibri"/>
              </a:rPr>
              <a:t>gustar</a:t>
            </a:r>
            <a:r>
              <a:rPr dirty="0" sz="2500" spc="-95">
                <a:latin typeface="Calibri"/>
                <a:cs typeface="Calibri"/>
              </a:rPr>
              <a:t> </a:t>
            </a:r>
            <a:r>
              <a:rPr dirty="0" sz="2500" spc="-20">
                <a:latin typeface="Calibri"/>
                <a:cs typeface="Calibri"/>
              </a:rPr>
              <a:t>este </a:t>
            </a:r>
            <a:r>
              <a:rPr dirty="0" sz="2350">
                <a:latin typeface="Calibri"/>
                <a:cs typeface="Calibri"/>
              </a:rPr>
              <a:t>thriller</a:t>
            </a:r>
            <a:r>
              <a:rPr dirty="0" sz="2350" spc="-75">
                <a:latin typeface="Calibri"/>
                <a:cs typeface="Calibri"/>
              </a:rPr>
              <a:t> </a:t>
            </a:r>
            <a:r>
              <a:rPr dirty="0" sz="2350" spc="-10">
                <a:latin typeface="Calibri"/>
                <a:cs typeface="Calibri"/>
              </a:rPr>
              <a:t>policíaco"</a:t>
            </a:r>
            <a:endParaRPr sz="2350">
              <a:latin typeface="Calibri"/>
              <a:cs typeface="Calibri"/>
            </a:endParaRPr>
          </a:p>
        </p:txBody>
      </p:sp>
      <p:sp>
        <p:nvSpPr>
          <p:cNvPr id="42" name="object 42" descr=""/>
          <p:cNvSpPr txBox="1"/>
          <p:nvPr/>
        </p:nvSpPr>
        <p:spPr>
          <a:xfrm>
            <a:off x="3408905" y="8060972"/>
            <a:ext cx="10711815" cy="639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4000" spc="-105" i="1">
                <a:solidFill>
                  <a:srgbClr val="242424"/>
                </a:solidFill>
                <a:latin typeface="Calibri"/>
                <a:cs typeface="Calibri"/>
              </a:rPr>
              <a:t>“Permite</a:t>
            </a:r>
            <a:r>
              <a:rPr dirty="0" sz="4000" spc="-120" i="1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dirty="0" sz="4000" spc="-105" i="1">
                <a:solidFill>
                  <a:srgbClr val="0C212F"/>
                </a:solidFill>
                <a:latin typeface="Calibri"/>
                <a:cs typeface="Calibri"/>
              </a:rPr>
              <a:t>razonar</a:t>
            </a:r>
            <a:r>
              <a:rPr dirty="0" sz="4000" spc="-120" i="1">
                <a:solidFill>
                  <a:srgbClr val="0C212F"/>
                </a:solidFill>
                <a:latin typeface="Calibri"/>
                <a:cs typeface="Calibri"/>
              </a:rPr>
              <a:t> </a:t>
            </a:r>
            <a:r>
              <a:rPr dirty="0" sz="4000" spc="-80" i="1">
                <a:solidFill>
                  <a:srgbClr val="052134"/>
                </a:solidFill>
                <a:latin typeface="Calibri"/>
                <a:cs typeface="Calibri"/>
              </a:rPr>
              <a:t>sobre</a:t>
            </a:r>
            <a:r>
              <a:rPr dirty="0" sz="4000" spc="-105" i="1">
                <a:solidFill>
                  <a:srgbClr val="052134"/>
                </a:solidFill>
                <a:latin typeface="Calibri"/>
                <a:cs typeface="Calibri"/>
              </a:rPr>
              <a:t> </a:t>
            </a:r>
            <a:r>
              <a:rPr dirty="0" sz="4000" spc="-80" i="1">
                <a:solidFill>
                  <a:srgbClr val="0C2336"/>
                </a:solidFill>
                <a:latin typeface="Calibri"/>
                <a:cs typeface="Calibri"/>
              </a:rPr>
              <a:t>las</a:t>
            </a:r>
            <a:r>
              <a:rPr dirty="0" sz="4000" spc="-200" i="1">
                <a:solidFill>
                  <a:srgbClr val="0C2336"/>
                </a:solidFill>
                <a:latin typeface="Calibri"/>
                <a:cs typeface="Calibri"/>
              </a:rPr>
              <a:t> </a:t>
            </a:r>
            <a:r>
              <a:rPr dirty="0" sz="4000" spc="-95" i="1">
                <a:solidFill>
                  <a:srgbClr val="0A2434"/>
                </a:solidFill>
                <a:latin typeface="Calibri"/>
                <a:cs typeface="Calibri"/>
              </a:rPr>
              <a:t>preferencias</a:t>
            </a:r>
            <a:r>
              <a:rPr dirty="0" sz="4000" spc="-85" i="1">
                <a:solidFill>
                  <a:srgbClr val="0A2434"/>
                </a:solidFill>
                <a:latin typeface="Calibri"/>
                <a:cs typeface="Calibri"/>
              </a:rPr>
              <a:t> </a:t>
            </a:r>
            <a:r>
              <a:rPr dirty="0" sz="4000" spc="-70" i="1">
                <a:solidFill>
                  <a:srgbClr val="153449"/>
                </a:solidFill>
                <a:latin typeface="Calibri"/>
                <a:cs typeface="Calibri"/>
              </a:rPr>
              <a:t>de</a:t>
            </a:r>
            <a:r>
              <a:rPr dirty="0" sz="4000" spc="-240" i="1">
                <a:solidFill>
                  <a:srgbClr val="153449"/>
                </a:solidFill>
                <a:latin typeface="Calibri"/>
                <a:cs typeface="Calibri"/>
              </a:rPr>
              <a:t> </a:t>
            </a:r>
            <a:r>
              <a:rPr dirty="0" sz="4000" spc="-50" i="1">
                <a:solidFill>
                  <a:srgbClr val="0A283B"/>
                </a:solidFill>
                <a:latin typeface="Calibri"/>
                <a:cs typeface="Calibri"/>
              </a:rPr>
              <a:t>un</a:t>
            </a:r>
            <a:r>
              <a:rPr dirty="0" sz="4000" spc="-265" i="1">
                <a:solidFill>
                  <a:srgbClr val="0A283B"/>
                </a:solidFill>
                <a:latin typeface="Calibri"/>
                <a:cs typeface="Calibri"/>
              </a:rPr>
              <a:t> </a:t>
            </a:r>
            <a:r>
              <a:rPr dirty="0" sz="4000" spc="-85" i="1">
                <a:solidFill>
                  <a:srgbClr val="0C2D3D"/>
                </a:solidFill>
                <a:latin typeface="Calibri"/>
                <a:cs typeface="Calibri"/>
              </a:rPr>
              <a:t>usuario.”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43" name="object 43" descr=""/>
          <p:cNvSpPr txBox="1"/>
          <p:nvPr/>
        </p:nvSpPr>
        <p:spPr>
          <a:xfrm>
            <a:off x="13376275" y="8987366"/>
            <a:ext cx="86360" cy="3429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050" spc="-50">
                <a:solidFill>
                  <a:srgbClr val="7C7C7C"/>
                </a:solidFill>
                <a:latin typeface="Calibri"/>
                <a:cs typeface="Calibri"/>
              </a:rPr>
              <a:t>I</a:t>
            </a:r>
            <a:endParaRPr sz="2050">
              <a:latin typeface="Calibri"/>
              <a:cs typeface="Calibri"/>
            </a:endParaRPr>
          </a:p>
        </p:txBody>
      </p:sp>
      <p:sp>
        <p:nvSpPr>
          <p:cNvPr id="44" name="object 44" descr=""/>
          <p:cNvSpPr txBox="1"/>
          <p:nvPr/>
        </p:nvSpPr>
        <p:spPr>
          <a:xfrm>
            <a:off x="14683675" y="9128477"/>
            <a:ext cx="35560" cy="1739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dirty="0" sz="950" spc="-50">
                <a:solidFill>
                  <a:srgbClr val="626262"/>
                </a:solidFill>
                <a:latin typeface="Calibri"/>
                <a:cs typeface="Calibri"/>
              </a:rPr>
              <a:t>I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45" name="object 45" descr=""/>
          <p:cNvSpPr txBox="1"/>
          <p:nvPr/>
        </p:nvSpPr>
        <p:spPr>
          <a:xfrm>
            <a:off x="14823223" y="9071327"/>
            <a:ext cx="2512695" cy="59880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950">
                <a:solidFill>
                  <a:srgbClr val="2D2D2D"/>
                </a:solidFill>
                <a:latin typeface="Calibri"/>
                <a:cs typeface="Calibri"/>
              </a:rPr>
              <a:t>PRQJ.</a:t>
            </a:r>
            <a:r>
              <a:rPr dirty="0" sz="950" spc="135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2A2A2A"/>
                </a:solidFill>
                <a:latin typeface="Calibri"/>
                <a:cs typeface="Calibri"/>
              </a:rPr>
              <a:t>IO.262d-kC-</a:t>
            </a:r>
            <a:r>
              <a:rPr dirty="0" sz="950">
                <a:solidFill>
                  <a:srgbClr val="2A2A2A"/>
                </a:solidFill>
                <a:latin typeface="Calibri"/>
                <a:cs typeface="Calibri"/>
              </a:rPr>
              <a:t>6G4</a:t>
            </a:r>
            <a:r>
              <a:rPr dirty="0" sz="950" spc="20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5D5D5D"/>
                </a:solidFill>
                <a:latin typeface="Calibri"/>
                <a:cs typeface="Calibri"/>
              </a:rPr>
              <a:t>-</a:t>
            </a:r>
            <a:r>
              <a:rPr dirty="0" sz="950" spc="95">
                <a:solidFill>
                  <a:srgbClr val="5D5D5D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494949"/>
                </a:solidFill>
                <a:latin typeface="Calibri"/>
                <a:cs typeface="Calibri"/>
              </a:rPr>
              <a:t>SHEET</a:t>
            </a:r>
            <a:r>
              <a:rPr dirty="0" sz="950" spc="95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dirty="0" sz="950" spc="-95">
                <a:solidFill>
                  <a:srgbClr val="1C1C1C"/>
                </a:solidFill>
                <a:latin typeface="Calibri"/>
                <a:cs typeface="Calibri"/>
              </a:rPr>
              <a:t>1</a:t>
            </a:r>
            <a:r>
              <a:rPr dirty="0" sz="950" spc="75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dirty="0" sz="950" spc="50">
                <a:solidFill>
                  <a:srgbClr val="282828"/>
                </a:solidFill>
                <a:latin typeface="Calibri"/>
                <a:cs typeface="Calibri"/>
              </a:rPr>
              <a:t>OF</a:t>
            </a:r>
            <a:r>
              <a:rPr dirty="0" sz="950" spc="15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950" spc="-50">
                <a:solidFill>
                  <a:srgbClr val="262626"/>
                </a:solidFill>
                <a:latin typeface="Calibri"/>
                <a:cs typeface="Calibri"/>
              </a:rPr>
              <a:t>1</a:t>
            </a:r>
            <a:endParaRPr sz="9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0"/>
              </a:spcBef>
            </a:pPr>
            <a:endParaRPr sz="950">
              <a:latin typeface="Calibri"/>
              <a:cs typeface="Calibri"/>
            </a:endParaRPr>
          </a:p>
          <a:p>
            <a:pPr marL="852805">
              <a:lnSpc>
                <a:spcPct val="100000"/>
              </a:lnSpc>
              <a:tabLst>
                <a:tab pos="1539240" algn="l"/>
              </a:tabLst>
            </a:pPr>
            <a:r>
              <a:rPr dirty="0" sz="1450" spc="-50">
                <a:latin typeface="Cambria"/>
                <a:cs typeface="Cambria"/>
              </a:rPr>
              <a:t>G</a:t>
            </a:r>
            <a:r>
              <a:rPr dirty="0" sz="1450">
                <a:latin typeface="Cambria"/>
                <a:cs typeface="Cambria"/>
              </a:rPr>
              <a:t>	</a:t>
            </a:r>
            <a:r>
              <a:rPr dirty="0" sz="1450" spc="-95">
                <a:latin typeface="Cambria"/>
                <a:cs typeface="Cambria"/>
              </a:rPr>
              <a:t>f4otebookLlVi</a:t>
            </a:r>
            <a:endParaRPr sz="14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7500" y="7315200"/>
            <a:ext cx="177800" cy="17399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800" y="9080500"/>
            <a:ext cx="4127500" cy="1905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065000" y="9080500"/>
            <a:ext cx="1244600" cy="19050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413000" y="4279900"/>
            <a:ext cx="2171700" cy="193040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747000" y="4279900"/>
            <a:ext cx="1981200" cy="1930400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030200" y="4279900"/>
            <a:ext cx="1930400" cy="1917700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6929100" y="584200"/>
            <a:ext cx="215900" cy="63500"/>
          </a:xfrm>
          <a:prstGeom prst="rect">
            <a:avLst/>
          </a:prstGeom>
        </p:spPr>
      </p:pic>
      <p:sp>
        <p:nvSpPr>
          <p:cNvPr id="9" name="object 9" descr=""/>
          <p:cNvSpPr/>
          <p:nvPr/>
        </p:nvSpPr>
        <p:spPr>
          <a:xfrm>
            <a:off x="488950" y="486832"/>
            <a:ext cx="0" cy="8839200"/>
          </a:xfrm>
          <a:custGeom>
            <a:avLst/>
            <a:gdLst/>
            <a:ahLst/>
            <a:cxnLst/>
            <a:rect l="l" t="t" r="r" b="b"/>
            <a:pathLst>
              <a:path w="0" h="8839200">
                <a:moveTo>
                  <a:pt x="0" y="8839200"/>
                </a:moveTo>
                <a:lnTo>
                  <a:pt x="0" y="0"/>
                </a:lnTo>
              </a:path>
            </a:pathLst>
          </a:custGeom>
          <a:ln w="12700">
            <a:solidFill>
              <a:srgbClr val="606464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0" name="object 10" descr=""/>
          <p:cNvGrpSpPr/>
          <p:nvPr/>
        </p:nvGrpSpPr>
        <p:grpSpPr>
          <a:xfrm>
            <a:off x="482600" y="486832"/>
            <a:ext cx="16442690" cy="8839200"/>
            <a:chOff x="482600" y="486832"/>
            <a:chExt cx="16442690" cy="8839200"/>
          </a:xfrm>
        </p:grpSpPr>
        <p:sp>
          <p:nvSpPr>
            <p:cNvPr id="11" name="object 11" descr=""/>
            <p:cNvSpPr/>
            <p:nvPr/>
          </p:nvSpPr>
          <p:spPr>
            <a:xfrm>
              <a:off x="16918520" y="486832"/>
              <a:ext cx="0" cy="8839200"/>
            </a:xfrm>
            <a:custGeom>
              <a:avLst/>
              <a:gdLst/>
              <a:ahLst/>
              <a:cxnLst/>
              <a:rect l="l" t="t" r="r" b="b"/>
              <a:pathLst>
                <a:path w="0" h="8839200">
                  <a:moveTo>
                    <a:pt x="0" y="88392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60646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82600" y="493182"/>
              <a:ext cx="16442690" cy="0"/>
            </a:xfrm>
            <a:custGeom>
              <a:avLst/>
              <a:gdLst/>
              <a:ahLst/>
              <a:cxnLst/>
              <a:rect l="l" t="t" r="r" b="b"/>
              <a:pathLst>
                <a:path w="16442690" h="0">
                  <a:moveTo>
                    <a:pt x="0" y="0"/>
                  </a:moveTo>
                  <a:lnTo>
                    <a:pt x="16442267" y="0"/>
                  </a:lnTo>
                </a:path>
              </a:pathLst>
            </a:custGeom>
            <a:ln w="12700">
              <a:solidFill>
                <a:srgbClr val="60646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482600" y="9319682"/>
              <a:ext cx="16442690" cy="0"/>
            </a:xfrm>
            <a:custGeom>
              <a:avLst/>
              <a:gdLst/>
              <a:ahLst/>
              <a:cxnLst/>
              <a:rect l="l" t="t" r="r" b="b"/>
              <a:pathLst>
                <a:path w="16442690" h="0">
                  <a:moveTo>
                    <a:pt x="0" y="0"/>
                  </a:moveTo>
                  <a:lnTo>
                    <a:pt x="16442267" y="0"/>
                  </a:lnTo>
                </a:path>
              </a:pathLst>
            </a:custGeom>
            <a:ln w="12700">
              <a:solidFill>
                <a:srgbClr val="60646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637116" y="622300"/>
              <a:ext cx="0" cy="8467090"/>
            </a:xfrm>
            <a:custGeom>
              <a:avLst/>
              <a:gdLst/>
              <a:ahLst/>
              <a:cxnLst/>
              <a:rect l="l" t="t" r="r" b="b"/>
              <a:pathLst>
                <a:path w="0" h="8467090">
                  <a:moveTo>
                    <a:pt x="0" y="8466667"/>
                  </a:moveTo>
                  <a:lnTo>
                    <a:pt x="0" y="0"/>
                  </a:lnTo>
                </a:path>
              </a:pathLst>
            </a:custGeom>
            <a:ln w="21166">
              <a:solidFill>
                <a:srgbClr val="383F4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6778813" y="622300"/>
              <a:ext cx="0" cy="8467090"/>
            </a:xfrm>
            <a:custGeom>
              <a:avLst/>
              <a:gdLst/>
              <a:ahLst/>
              <a:cxnLst/>
              <a:rect l="l" t="t" r="r" b="b"/>
              <a:pathLst>
                <a:path w="0" h="8467090">
                  <a:moveTo>
                    <a:pt x="0" y="8466667"/>
                  </a:moveTo>
                  <a:lnTo>
                    <a:pt x="0" y="0"/>
                  </a:lnTo>
                </a:path>
              </a:pathLst>
            </a:custGeom>
            <a:ln w="21166">
              <a:solidFill>
                <a:srgbClr val="383F4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626533" y="632883"/>
              <a:ext cx="16163290" cy="0"/>
            </a:xfrm>
            <a:custGeom>
              <a:avLst/>
              <a:gdLst/>
              <a:ahLst/>
              <a:cxnLst/>
              <a:rect l="l" t="t" r="r" b="b"/>
              <a:pathLst>
                <a:path w="16163290" h="0">
                  <a:moveTo>
                    <a:pt x="0" y="0"/>
                  </a:moveTo>
                  <a:lnTo>
                    <a:pt x="16162867" y="0"/>
                  </a:lnTo>
                </a:path>
              </a:pathLst>
            </a:custGeom>
            <a:ln w="21166">
              <a:solidFill>
                <a:srgbClr val="383F4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626533" y="9078383"/>
              <a:ext cx="16163290" cy="0"/>
            </a:xfrm>
            <a:custGeom>
              <a:avLst/>
              <a:gdLst/>
              <a:ahLst/>
              <a:cxnLst/>
              <a:rect l="l" t="t" r="r" b="b"/>
              <a:pathLst>
                <a:path w="16163290" h="0">
                  <a:moveTo>
                    <a:pt x="0" y="0"/>
                  </a:moveTo>
                  <a:lnTo>
                    <a:pt x="16162867" y="0"/>
                  </a:lnTo>
                </a:path>
              </a:pathLst>
            </a:custGeom>
            <a:ln w="21166">
              <a:solidFill>
                <a:srgbClr val="383F4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4312900" y="2906183"/>
              <a:ext cx="893444" cy="0"/>
            </a:xfrm>
            <a:custGeom>
              <a:avLst/>
              <a:gdLst/>
              <a:ahLst/>
              <a:cxnLst/>
              <a:rect l="l" t="t" r="r" b="b"/>
              <a:pathLst>
                <a:path w="893444" h="0">
                  <a:moveTo>
                    <a:pt x="0" y="0"/>
                  </a:moveTo>
                  <a:lnTo>
                    <a:pt x="893233" y="0"/>
                  </a:lnTo>
                </a:path>
              </a:pathLst>
            </a:custGeom>
            <a:ln w="29633">
              <a:solidFill>
                <a:srgbClr val="2B3B3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5392400" y="2906183"/>
              <a:ext cx="321945" cy="0"/>
            </a:xfrm>
            <a:custGeom>
              <a:avLst/>
              <a:gdLst/>
              <a:ahLst/>
              <a:cxnLst/>
              <a:rect l="l" t="t" r="r" b="b"/>
              <a:pathLst>
                <a:path w="321944" h="0">
                  <a:moveTo>
                    <a:pt x="0" y="0"/>
                  </a:moveTo>
                  <a:lnTo>
                    <a:pt x="321733" y="0"/>
                  </a:lnTo>
                </a:path>
              </a:pathLst>
            </a:custGeom>
            <a:ln w="29633">
              <a:solidFill>
                <a:srgbClr val="2B3B3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8534400" y="2753783"/>
              <a:ext cx="7751445" cy="0"/>
            </a:xfrm>
            <a:custGeom>
              <a:avLst/>
              <a:gdLst/>
              <a:ahLst/>
              <a:cxnLst/>
              <a:rect l="l" t="t" r="r" b="b"/>
              <a:pathLst>
                <a:path w="7751444" h="0">
                  <a:moveTo>
                    <a:pt x="0" y="0"/>
                  </a:moveTo>
                  <a:lnTo>
                    <a:pt x="7751233" y="0"/>
                  </a:lnTo>
                </a:path>
              </a:pathLst>
            </a:custGeom>
            <a:ln w="29633">
              <a:solidFill>
                <a:srgbClr val="2B3B3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083300" y="8381999"/>
              <a:ext cx="25400" cy="101600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724900" y="9169399"/>
              <a:ext cx="25400" cy="101600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1366500" y="8381999"/>
              <a:ext cx="25400" cy="101600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3411200" y="9080499"/>
              <a:ext cx="25400" cy="190500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1366500" y="7454899"/>
              <a:ext cx="25400" cy="254000"/>
            </a:xfrm>
            <a:prstGeom prst="rect">
              <a:avLst/>
            </a:prstGeom>
          </p:spPr>
        </p:pic>
        <p:pic>
          <p:nvPicPr>
            <p:cNvPr id="26" name="object 26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1366500" y="7759699"/>
              <a:ext cx="25400" cy="266700"/>
            </a:xfrm>
            <a:prstGeom prst="rect">
              <a:avLst/>
            </a:prstGeom>
          </p:spPr>
        </p:pic>
      </p:grpSp>
      <p:sp>
        <p:nvSpPr>
          <p:cNvPr id="27" name="object 2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33775" rIns="0" bIns="0" rtlCol="0" vert="horz">
            <a:spAutoFit/>
          </a:bodyPr>
          <a:lstStyle/>
          <a:p>
            <a:pPr marL="7758430">
              <a:lnSpc>
                <a:spcPts val="4720"/>
              </a:lnSpc>
              <a:spcBef>
                <a:spcPts val="135"/>
              </a:spcBef>
            </a:pPr>
            <a:r>
              <a:rPr dirty="0" sz="4200">
                <a:solidFill>
                  <a:srgbClr val="2F2F2F"/>
                </a:solidFill>
                <a:latin typeface="Times New Roman"/>
                <a:cs typeface="Times New Roman"/>
              </a:rPr>
              <a:t>¿Qué</a:t>
            </a:r>
            <a:r>
              <a:rPr dirty="0" sz="4200" spc="-95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dirty="0" sz="4200" spc="155">
                <a:solidFill>
                  <a:srgbClr val="2F2F2F"/>
                </a:solidFill>
                <a:latin typeface="Times New Roman"/>
                <a:cs typeface="Times New Roman"/>
              </a:rPr>
              <a:t>Aportan</a:t>
            </a:r>
            <a:r>
              <a:rPr dirty="0" sz="4200" spc="95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dirty="0" sz="4200" spc="120">
                <a:solidFill>
                  <a:srgbClr val="2A2A2A"/>
                </a:solidFill>
                <a:latin typeface="Times New Roman"/>
                <a:cs typeface="Times New Roman"/>
              </a:rPr>
              <a:t>las</a:t>
            </a:r>
            <a:r>
              <a:rPr dirty="0" sz="4200" spc="18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dirty="0" sz="4200" spc="140">
                <a:solidFill>
                  <a:srgbClr val="2D2D2D"/>
                </a:solidFill>
                <a:latin typeface="Times New Roman"/>
                <a:cs typeface="Times New Roman"/>
              </a:rPr>
              <a:t>Ontologías</a:t>
            </a:r>
            <a:r>
              <a:rPr dirty="0" sz="4200" spc="105">
                <a:solidFill>
                  <a:srgbClr val="2D2D2D"/>
                </a:solidFill>
                <a:latin typeface="Times New Roman"/>
                <a:cs typeface="Times New Roman"/>
              </a:rPr>
              <a:t> </a:t>
            </a:r>
            <a:r>
              <a:rPr dirty="0" sz="4200" spc="114">
                <a:solidFill>
                  <a:srgbClr val="383838"/>
                </a:solidFill>
                <a:latin typeface="Times New Roman"/>
                <a:cs typeface="Times New Roman"/>
              </a:rPr>
              <a:t>a</a:t>
            </a:r>
            <a:endParaRPr sz="4200">
              <a:latin typeface="Times New Roman"/>
              <a:cs typeface="Times New Roman"/>
            </a:endParaRPr>
          </a:p>
          <a:p>
            <a:pPr marL="7764780">
              <a:lnSpc>
                <a:spcPts val="4900"/>
              </a:lnSpc>
            </a:pPr>
            <a:r>
              <a:rPr dirty="0" sz="4350" spc="60">
                <a:solidFill>
                  <a:srgbClr val="313131"/>
                </a:solidFill>
                <a:latin typeface="Times New Roman"/>
                <a:cs typeface="Times New Roman"/>
              </a:rPr>
              <a:t>la</a:t>
            </a:r>
            <a:r>
              <a:rPr dirty="0" sz="4350" spc="-15">
                <a:solidFill>
                  <a:srgbClr val="313131"/>
                </a:solidFill>
                <a:latin typeface="Times New Roman"/>
                <a:cs typeface="Times New Roman"/>
              </a:rPr>
              <a:t> </a:t>
            </a:r>
            <a:r>
              <a:rPr dirty="0" sz="4350" spc="110">
                <a:solidFill>
                  <a:srgbClr val="2F2F2F"/>
                </a:solidFill>
                <a:latin typeface="Times New Roman"/>
                <a:cs typeface="Times New Roman"/>
              </a:rPr>
              <a:t>Recomendación?</a:t>
            </a:r>
            <a:endParaRPr sz="4350">
              <a:latin typeface="Times New Roman"/>
              <a:cs typeface="Times New Roman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1403339" y="3115733"/>
            <a:ext cx="14591665" cy="863600"/>
          </a:xfrm>
          <a:prstGeom prst="rect">
            <a:avLst/>
          </a:prstGeom>
        </p:spPr>
        <p:txBody>
          <a:bodyPr wrap="square" lIns="0" tIns="67945" rIns="0" bIns="0" rtlCol="0" vert="horz">
            <a:spAutoFit/>
          </a:bodyPr>
          <a:lstStyle/>
          <a:p>
            <a:pPr marL="14604" marR="5080" indent="-2540">
              <a:lnSpc>
                <a:spcPts val="3100"/>
              </a:lnSpc>
              <a:spcBef>
                <a:spcPts val="535"/>
              </a:spcBef>
            </a:pPr>
            <a:r>
              <a:rPr dirty="0" sz="2900" spc="-140">
                <a:latin typeface="Calibri"/>
                <a:cs typeface="Calibri"/>
              </a:rPr>
              <a:t>A</a:t>
            </a:r>
            <a:r>
              <a:rPr dirty="0" sz="2900" spc="-95">
                <a:latin typeface="Calibri"/>
                <a:cs typeface="Calibri"/>
              </a:rPr>
              <a:t> </a:t>
            </a:r>
            <a:r>
              <a:rPr dirty="0" sz="2900" spc="-60">
                <a:latin typeface="Calibri"/>
                <a:cs typeface="Calibri"/>
              </a:rPr>
              <a:t>diferencia</a:t>
            </a:r>
            <a:r>
              <a:rPr dirty="0" sz="2900" spc="-105">
                <a:latin typeface="Calibri"/>
                <a:cs typeface="Calibri"/>
              </a:rPr>
              <a:t> </a:t>
            </a:r>
            <a:r>
              <a:rPr dirty="0" sz="2900" spc="-40">
                <a:latin typeface="Calibri"/>
                <a:cs typeface="Calibri"/>
              </a:rPr>
              <a:t>de</a:t>
            </a:r>
            <a:r>
              <a:rPr dirty="0" sz="2900" spc="-160">
                <a:latin typeface="Calibri"/>
                <a:cs typeface="Calibri"/>
              </a:rPr>
              <a:t> </a:t>
            </a:r>
            <a:r>
              <a:rPr dirty="0" sz="2900" spc="-35">
                <a:latin typeface="Calibri"/>
                <a:cs typeface="Calibri"/>
              </a:rPr>
              <a:t>los</a:t>
            </a:r>
            <a:r>
              <a:rPr dirty="0" sz="2900" spc="-140">
                <a:latin typeface="Calibri"/>
                <a:cs typeface="Calibri"/>
              </a:rPr>
              <a:t> </a:t>
            </a:r>
            <a:r>
              <a:rPr dirty="0" sz="2900" spc="-65">
                <a:latin typeface="Calibri"/>
                <a:cs typeface="Calibri"/>
              </a:rPr>
              <a:t>modelos</a:t>
            </a:r>
            <a:r>
              <a:rPr dirty="0" sz="2900" spc="-95">
                <a:latin typeface="Calibri"/>
                <a:cs typeface="Calibri"/>
              </a:rPr>
              <a:t> </a:t>
            </a:r>
            <a:r>
              <a:rPr dirty="0" sz="2900" spc="-85">
                <a:latin typeface="Calibri"/>
                <a:cs typeface="Calibri"/>
              </a:rPr>
              <a:t>que</a:t>
            </a:r>
            <a:r>
              <a:rPr dirty="0" sz="2900" spc="-125">
                <a:latin typeface="Calibri"/>
                <a:cs typeface="Calibri"/>
              </a:rPr>
              <a:t> </a:t>
            </a:r>
            <a:r>
              <a:rPr dirty="0" sz="2900" spc="-45">
                <a:latin typeface="Calibri"/>
                <a:cs typeface="Calibri"/>
              </a:rPr>
              <a:t>solo</a:t>
            </a:r>
            <a:r>
              <a:rPr dirty="0" sz="2900" spc="-120">
                <a:latin typeface="Calibri"/>
                <a:cs typeface="Calibri"/>
              </a:rPr>
              <a:t> </a:t>
            </a:r>
            <a:r>
              <a:rPr dirty="0" sz="2900" spc="-65">
                <a:latin typeface="Calibri"/>
                <a:cs typeface="Calibri"/>
              </a:rPr>
              <a:t>detectan</a:t>
            </a:r>
            <a:r>
              <a:rPr dirty="0" sz="2900" spc="-15">
                <a:latin typeface="Calibri"/>
                <a:cs typeface="Calibri"/>
              </a:rPr>
              <a:t> </a:t>
            </a:r>
            <a:r>
              <a:rPr dirty="0" sz="2900" spc="-80">
                <a:latin typeface="Calibri"/>
                <a:cs typeface="Calibri"/>
              </a:rPr>
              <a:t>patrones</a:t>
            </a:r>
            <a:r>
              <a:rPr dirty="0" sz="2900" spc="-40">
                <a:latin typeface="Calibri"/>
                <a:cs typeface="Calibri"/>
              </a:rPr>
              <a:t> </a:t>
            </a:r>
            <a:r>
              <a:rPr dirty="0" sz="2900" spc="-65">
                <a:latin typeface="Calibri"/>
                <a:cs typeface="Calibri"/>
              </a:rPr>
              <a:t>numéricos,</a:t>
            </a:r>
            <a:r>
              <a:rPr dirty="0" sz="2900" spc="5">
                <a:latin typeface="Calibri"/>
                <a:cs typeface="Calibri"/>
              </a:rPr>
              <a:t> </a:t>
            </a:r>
            <a:r>
              <a:rPr dirty="0" sz="2900" spc="-20">
                <a:latin typeface="Calibri"/>
                <a:cs typeface="Calibri"/>
              </a:rPr>
              <a:t>las</a:t>
            </a:r>
            <a:r>
              <a:rPr dirty="0" sz="2900" spc="-145">
                <a:latin typeface="Calibri"/>
                <a:cs typeface="Calibri"/>
              </a:rPr>
              <a:t> </a:t>
            </a:r>
            <a:r>
              <a:rPr dirty="0" sz="2900" spc="-40">
                <a:latin typeface="Calibri"/>
                <a:cs typeface="Calibri"/>
              </a:rPr>
              <a:t>ontologías</a:t>
            </a:r>
            <a:r>
              <a:rPr dirty="0" sz="2900" spc="30">
                <a:latin typeface="Calibri"/>
                <a:cs typeface="Calibri"/>
              </a:rPr>
              <a:t> </a:t>
            </a:r>
            <a:r>
              <a:rPr dirty="0" sz="2900" spc="-65">
                <a:latin typeface="Calibri"/>
                <a:cs typeface="Calibri"/>
              </a:rPr>
              <a:t>añaden</a:t>
            </a:r>
            <a:r>
              <a:rPr dirty="0" sz="2900" spc="-120">
                <a:latin typeface="Calibri"/>
                <a:cs typeface="Calibri"/>
              </a:rPr>
              <a:t> </a:t>
            </a:r>
            <a:r>
              <a:rPr dirty="0" sz="2900" spc="-65">
                <a:latin typeface="Calibri"/>
                <a:cs typeface="Calibri"/>
              </a:rPr>
              <a:t>un</a:t>
            </a:r>
            <a:r>
              <a:rPr dirty="0" sz="2900" spc="-114">
                <a:latin typeface="Calibri"/>
                <a:cs typeface="Calibri"/>
              </a:rPr>
              <a:t> </a:t>
            </a:r>
            <a:r>
              <a:rPr dirty="0" sz="2900" spc="-10">
                <a:latin typeface="Calibri"/>
                <a:cs typeface="Calibri"/>
              </a:rPr>
              <a:t>contexto </a:t>
            </a:r>
            <a:r>
              <a:rPr dirty="0" sz="2900" spc="-35">
                <a:latin typeface="Calibri"/>
                <a:cs typeface="Calibri"/>
              </a:rPr>
              <a:t>explícito</a:t>
            </a:r>
            <a:r>
              <a:rPr dirty="0" sz="2900" spc="-130">
                <a:latin typeface="Calibri"/>
                <a:cs typeface="Calibri"/>
              </a:rPr>
              <a:t> </a:t>
            </a:r>
            <a:r>
              <a:rPr dirty="0" sz="2900" spc="50">
                <a:latin typeface="Calibri"/>
                <a:cs typeface="Calibri"/>
              </a:rPr>
              <a:t>y</a:t>
            </a:r>
            <a:r>
              <a:rPr dirty="0" sz="2900" spc="-200">
                <a:latin typeface="Calibri"/>
                <a:cs typeface="Calibri"/>
              </a:rPr>
              <a:t> </a:t>
            </a:r>
            <a:r>
              <a:rPr dirty="0" sz="2900" spc="-40">
                <a:latin typeface="Calibri"/>
                <a:cs typeface="Calibri"/>
              </a:rPr>
              <a:t>reglas</a:t>
            </a:r>
            <a:r>
              <a:rPr dirty="0" sz="2900" spc="-120">
                <a:latin typeface="Calibri"/>
                <a:cs typeface="Calibri"/>
              </a:rPr>
              <a:t> </a:t>
            </a:r>
            <a:r>
              <a:rPr dirty="0" sz="2900" spc="-40">
                <a:latin typeface="Calibri"/>
                <a:cs typeface="Calibri"/>
              </a:rPr>
              <a:t>de</a:t>
            </a:r>
            <a:r>
              <a:rPr dirty="0" sz="2900" spc="-180">
                <a:latin typeface="Calibri"/>
                <a:cs typeface="Calibri"/>
              </a:rPr>
              <a:t> </a:t>
            </a:r>
            <a:r>
              <a:rPr dirty="0" sz="2900" spc="-50">
                <a:latin typeface="Calibri"/>
                <a:cs typeface="Calibri"/>
              </a:rPr>
              <a:t>dominio,</a:t>
            </a:r>
            <a:r>
              <a:rPr dirty="0" sz="2900" spc="-95">
                <a:latin typeface="Calibri"/>
                <a:cs typeface="Calibri"/>
              </a:rPr>
              <a:t> </a:t>
            </a:r>
            <a:r>
              <a:rPr dirty="0" sz="2900" spc="-80">
                <a:latin typeface="Calibri"/>
                <a:cs typeface="Calibri"/>
              </a:rPr>
              <a:t>mejorando</a:t>
            </a:r>
            <a:r>
              <a:rPr dirty="0" sz="2900" spc="5">
                <a:latin typeface="Calibri"/>
                <a:cs typeface="Calibri"/>
              </a:rPr>
              <a:t> </a:t>
            </a:r>
            <a:r>
              <a:rPr dirty="0" sz="2900" spc="-60">
                <a:latin typeface="Calibri"/>
                <a:cs typeface="Calibri"/>
              </a:rPr>
              <a:t>tres </a:t>
            </a:r>
            <a:r>
              <a:rPr dirty="0" sz="2900" spc="-80">
                <a:latin typeface="Calibri"/>
                <a:cs typeface="Calibri"/>
              </a:rPr>
              <a:t>áreas</a:t>
            </a:r>
            <a:r>
              <a:rPr dirty="0" sz="2900" spc="-85">
                <a:latin typeface="Calibri"/>
                <a:cs typeface="Calibri"/>
              </a:rPr>
              <a:t> </a:t>
            </a:r>
            <a:r>
              <a:rPr dirty="0" sz="2900" spc="-10">
                <a:latin typeface="Calibri"/>
                <a:cs typeface="Calibri"/>
              </a:rPr>
              <a:t>clave:</a:t>
            </a:r>
            <a:endParaRPr sz="2900">
              <a:latin typeface="Calibri"/>
              <a:cs typeface="Calibri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1116646" y="6322320"/>
            <a:ext cx="5052060" cy="2435225"/>
          </a:xfrm>
          <a:prstGeom prst="rect">
            <a:avLst/>
          </a:prstGeom>
        </p:spPr>
        <p:txBody>
          <a:bodyPr wrap="square" lIns="0" tIns="90805" rIns="0" bIns="0" rtlCol="0" vert="horz">
            <a:spAutoFit/>
          </a:bodyPr>
          <a:lstStyle/>
          <a:p>
            <a:pPr marL="193675">
              <a:lnSpc>
                <a:spcPct val="100000"/>
              </a:lnSpc>
              <a:spcBef>
                <a:spcPts val="715"/>
              </a:spcBef>
              <a:tabLst>
                <a:tab pos="4951095" algn="l"/>
              </a:tabLst>
            </a:pPr>
            <a:r>
              <a:rPr dirty="0" sz="3300" spc="-145">
                <a:latin typeface="Calibri"/>
                <a:cs typeface="Calibri"/>
              </a:rPr>
              <a:t>Razonamiento</a:t>
            </a:r>
            <a:r>
              <a:rPr dirty="0" sz="3300" spc="20">
                <a:latin typeface="Calibri"/>
                <a:cs typeface="Calibri"/>
              </a:rPr>
              <a:t> </a:t>
            </a:r>
            <a:r>
              <a:rPr dirty="0" sz="3300" spc="-10">
                <a:latin typeface="Calibri"/>
                <a:cs typeface="Calibri"/>
              </a:rPr>
              <a:t>Estructurado</a:t>
            </a:r>
            <a:r>
              <a:rPr dirty="0" sz="3300">
                <a:latin typeface="Calibri"/>
                <a:cs typeface="Calibri"/>
              </a:rPr>
              <a:t>	</a:t>
            </a:r>
            <a:r>
              <a:rPr dirty="0" sz="3300" spc="-605">
                <a:solidFill>
                  <a:srgbClr val="0C0C0C"/>
                </a:solidFill>
                <a:latin typeface="Calibri"/>
                <a:cs typeface="Calibri"/>
              </a:rPr>
              <a:t>;</a:t>
            </a:r>
            <a:endParaRPr sz="3300">
              <a:latin typeface="Calibri"/>
              <a:cs typeface="Calibri"/>
            </a:endParaRPr>
          </a:p>
          <a:p>
            <a:pPr algn="ctr" marL="378460">
              <a:lnSpc>
                <a:spcPts val="2970"/>
              </a:lnSpc>
              <a:spcBef>
                <a:spcPts val="490"/>
              </a:spcBef>
              <a:tabLst>
                <a:tab pos="4903470" algn="l"/>
              </a:tabLst>
            </a:pPr>
            <a:r>
              <a:rPr dirty="0" sz="2700" spc="-220">
                <a:latin typeface="Calibri"/>
                <a:cs typeface="Calibri"/>
              </a:rPr>
              <a:t>Definen</a:t>
            </a:r>
            <a:r>
              <a:rPr dirty="0" sz="2700" spc="35">
                <a:latin typeface="Calibri"/>
                <a:cs typeface="Calibri"/>
              </a:rPr>
              <a:t> </a:t>
            </a:r>
            <a:r>
              <a:rPr dirty="0" sz="2700" spc="-185">
                <a:latin typeface="Calibri"/>
                <a:cs typeface="Calibri"/>
              </a:rPr>
              <a:t>jerarquías</a:t>
            </a:r>
            <a:r>
              <a:rPr dirty="0" sz="2700" spc="10">
                <a:latin typeface="Calibri"/>
                <a:cs typeface="Calibri"/>
              </a:rPr>
              <a:t> </a:t>
            </a:r>
            <a:r>
              <a:rPr dirty="0" sz="2700" spc="-160">
                <a:latin typeface="Calibri"/>
                <a:cs typeface="Calibri"/>
              </a:rPr>
              <a:t>claras</a:t>
            </a:r>
            <a:r>
              <a:rPr dirty="0" sz="2700">
                <a:latin typeface="Calibri"/>
                <a:cs typeface="Calibri"/>
              </a:rPr>
              <a:t> </a:t>
            </a:r>
            <a:r>
              <a:rPr dirty="0" sz="2700" spc="-180">
                <a:latin typeface="Calibri"/>
                <a:cs typeface="Calibri"/>
              </a:rPr>
              <a:t>(ej:</a:t>
            </a:r>
            <a:r>
              <a:rPr dirty="0" sz="2700" spc="-145">
                <a:latin typeface="Calibri"/>
                <a:cs typeface="Calibri"/>
              </a:rPr>
              <a:t> </a:t>
            </a:r>
            <a:r>
              <a:rPr dirty="0" sz="2700" spc="-20">
                <a:latin typeface="Calibri"/>
                <a:cs typeface="Calibri"/>
              </a:rPr>
              <a:t>site</a:t>
            </a:r>
            <a:r>
              <a:rPr dirty="0" sz="2700">
                <a:latin typeface="Calibri"/>
                <a:cs typeface="Calibri"/>
              </a:rPr>
              <a:t>	</a:t>
            </a:r>
            <a:r>
              <a:rPr dirty="0" baseline="22988" sz="2175" spc="-37">
                <a:solidFill>
                  <a:srgbClr val="161616"/>
                </a:solidFill>
                <a:latin typeface="Calibri"/>
                <a:cs typeface="Calibri"/>
              </a:rPr>
              <a:t>i</a:t>
            </a:r>
            <a:r>
              <a:rPr dirty="0" sz="1450" spc="-25">
                <a:solidFill>
                  <a:srgbClr val="242424"/>
                </a:solidFill>
                <a:latin typeface="Calibri"/>
                <a:cs typeface="Calibri"/>
              </a:rPr>
              <a:t>,</a:t>
            </a:r>
            <a:endParaRPr sz="1450">
              <a:latin typeface="Calibri"/>
              <a:cs typeface="Calibri"/>
            </a:endParaRPr>
          </a:p>
          <a:p>
            <a:pPr algn="ctr" marL="38100" marR="339725" indent="43815">
              <a:lnSpc>
                <a:spcPct val="82400"/>
              </a:lnSpc>
              <a:spcBef>
                <a:spcPts val="300"/>
              </a:spcBef>
            </a:pPr>
            <a:r>
              <a:rPr dirty="0" sz="2700" spc="-195">
                <a:latin typeface="Calibri"/>
                <a:cs typeface="Calibri"/>
              </a:rPr>
              <a:t>gusta</a:t>
            </a:r>
            <a:r>
              <a:rPr dirty="0" sz="2700" spc="-125">
                <a:latin typeface="Calibri"/>
                <a:cs typeface="Calibri"/>
              </a:rPr>
              <a:t> </a:t>
            </a:r>
            <a:r>
              <a:rPr dirty="0" sz="2700" spc="-114">
                <a:latin typeface="Calibri"/>
                <a:cs typeface="Calibri"/>
              </a:rPr>
              <a:t>la’novela</a:t>
            </a:r>
            <a:r>
              <a:rPr dirty="0" sz="2700" spc="-10">
                <a:latin typeface="Calibri"/>
                <a:cs typeface="Calibri"/>
              </a:rPr>
              <a:t> </a:t>
            </a:r>
            <a:r>
              <a:rPr dirty="0" sz="2700" spc="-185">
                <a:latin typeface="Calibri"/>
                <a:cs typeface="Calibri"/>
              </a:rPr>
              <a:t>negra’,</a:t>
            </a:r>
            <a:r>
              <a:rPr dirty="0" sz="2700" spc="-110">
                <a:latin typeface="Calibri"/>
                <a:cs typeface="Calibri"/>
              </a:rPr>
              <a:t> </a:t>
            </a:r>
            <a:r>
              <a:rPr dirty="0" sz="2700" spc="-235">
                <a:latin typeface="Calibri"/>
                <a:cs typeface="Calibri"/>
              </a:rPr>
              <a:t>que</a:t>
            </a:r>
            <a:r>
              <a:rPr dirty="0" sz="2700" spc="-90">
                <a:latin typeface="Calibri"/>
                <a:cs typeface="Calibri"/>
              </a:rPr>
              <a:t> </a:t>
            </a:r>
            <a:r>
              <a:rPr dirty="0" sz="2700" spc="-25">
                <a:latin typeface="Calibri"/>
                <a:cs typeface="Calibri"/>
              </a:rPr>
              <a:t>es</a:t>
            </a:r>
            <a:r>
              <a:rPr dirty="0" sz="2700" spc="675">
                <a:latin typeface="Calibri"/>
                <a:cs typeface="Calibri"/>
              </a:rPr>
              <a:t> </a:t>
            </a:r>
            <a:r>
              <a:rPr dirty="0" sz="2700" spc="-165">
                <a:latin typeface="Calibri"/>
                <a:cs typeface="Calibri"/>
              </a:rPr>
              <a:t>subclase</a:t>
            </a:r>
            <a:r>
              <a:rPr dirty="0" sz="2700" spc="-55">
                <a:latin typeface="Calibri"/>
                <a:cs typeface="Calibri"/>
              </a:rPr>
              <a:t> </a:t>
            </a:r>
            <a:r>
              <a:rPr dirty="0" sz="2700" spc="-120">
                <a:latin typeface="Calibri"/>
                <a:cs typeface="Calibri"/>
              </a:rPr>
              <a:t>de’ficción</a:t>
            </a:r>
            <a:r>
              <a:rPr dirty="0" sz="2700" spc="45">
                <a:latin typeface="Calibri"/>
                <a:cs typeface="Calibri"/>
              </a:rPr>
              <a:t> </a:t>
            </a:r>
            <a:r>
              <a:rPr dirty="0" sz="2700" spc="-95">
                <a:latin typeface="Calibri"/>
                <a:cs typeface="Calibri"/>
              </a:rPr>
              <a:t>detectivesca’, </a:t>
            </a:r>
            <a:r>
              <a:rPr dirty="0" sz="2600" spc="-165">
                <a:latin typeface="Calibri"/>
                <a:cs typeface="Calibri"/>
              </a:rPr>
              <a:t>podemos</a:t>
            </a:r>
            <a:r>
              <a:rPr dirty="0" sz="2600" spc="-90">
                <a:latin typeface="Calibri"/>
                <a:cs typeface="Calibri"/>
              </a:rPr>
              <a:t> </a:t>
            </a:r>
            <a:r>
              <a:rPr dirty="0" sz="2600" spc="-140">
                <a:latin typeface="Calibri"/>
                <a:cs typeface="Calibri"/>
              </a:rPr>
              <a:t>explorar</a:t>
            </a:r>
            <a:r>
              <a:rPr dirty="0" sz="2600" spc="25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géneros </a:t>
            </a:r>
            <a:r>
              <a:rPr dirty="0" sz="2750" spc="-180">
                <a:latin typeface="Calibri"/>
                <a:cs typeface="Calibri"/>
              </a:rPr>
              <a:t>relacionados).</a:t>
            </a:r>
            <a:r>
              <a:rPr dirty="0" sz="2750" spc="-260">
                <a:latin typeface="Calibri"/>
                <a:cs typeface="Calibri"/>
              </a:rPr>
              <a:t> </a:t>
            </a:r>
            <a:r>
              <a:rPr dirty="0" sz="2750" spc="-240">
                <a:latin typeface="Calibri"/>
                <a:cs typeface="Calibri"/>
              </a:rPr>
              <a:t>Permite</a:t>
            </a:r>
            <a:r>
              <a:rPr dirty="0" sz="2750" spc="-50">
                <a:latin typeface="Calibri"/>
                <a:cs typeface="Calibri"/>
              </a:rPr>
              <a:t> </a:t>
            </a:r>
            <a:r>
              <a:rPr dirty="0" sz="2750" spc="-190">
                <a:latin typeface="Calibri"/>
                <a:cs typeface="Calibri"/>
              </a:rPr>
              <a:t>inferir</a:t>
            </a:r>
            <a:r>
              <a:rPr dirty="0" sz="2750" spc="-50">
                <a:latin typeface="Calibri"/>
                <a:cs typeface="Calibri"/>
              </a:rPr>
              <a:t> </a:t>
            </a:r>
            <a:r>
              <a:rPr dirty="0" sz="2750" spc="-170">
                <a:latin typeface="Calibri"/>
                <a:cs typeface="Calibri"/>
              </a:rPr>
              <a:t>intereses.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5988062" y="6322320"/>
            <a:ext cx="4859020" cy="2426970"/>
          </a:xfrm>
          <a:prstGeom prst="rect">
            <a:avLst/>
          </a:prstGeom>
        </p:spPr>
        <p:txBody>
          <a:bodyPr wrap="square" lIns="0" tIns="90805" rIns="0" bIns="0" rtlCol="0" vert="horz">
            <a:spAutoFit/>
          </a:bodyPr>
          <a:lstStyle/>
          <a:p>
            <a:pPr algn="ctr" marL="609600">
              <a:lnSpc>
                <a:spcPct val="100000"/>
              </a:lnSpc>
              <a:spcBef>
                <a:spcPts val="715"/>
              </a:spcBef>
            </a:pPr>
            <a:r>
              <a:rPr dirty="0" sz="3300" spc="-150">
                <a:latin typeface="Calibri"/>
                <a:cs typeface="Calibri"/>
              </a:rPr>
              <a:t>Integración</a:t>
            </a:r>
            <a:r>
              <a:rPr dirty="0" sz="3300" spc="-5">
                <a:latin typeface="Calibri"/>
                <a:cs typeface="Calibri"/>
              </a:rPr>
              <a:t> </a:t>
            </a:r>
            <a:r>
              <a:rPr dirty="0" sz="3300" spc="-145">
                <a:latin typeface="Calibri"/>
                <a:cs typeface="Calibri"/>
              </a:rPr>
              <a:t>de</a:t>
            </a:r>
            <a:r>
              <a:rPr dirty="0" sz="3300" spc="-170">
                <a:latin typeface="Calibri"/>
                <a:cs typeface="Calibri"/>
              </a:rPr>
              <a:t> </a:t>
            </a:r>
            <a:r>
              <a:rPr dirty="0" sz="3300" spc="-10">
                <a:latin typeface="Calibri"/>
                <a:cs typeface="Calibri"/>
              </a:rPr>
              <a:t>Datos</a:t>
            </a:r>
            <a:endParaRPr sz="3300">
              <a:latin typeface="Calibri"/>
              <a:cs typeface="Calibri"/>
            </a:endParaRPr>
          </a:p>
          <a:p>
            <a:pPr marL="843915" marR="223520" indent="-3175">
              <a:lnSpc>
                <a:spcPts val="2700"/>
              </a:lnSpc>
              <a:spcBef>
                <a:spcPts val="1030"/>
              </a:spcBef>
            </a:pPr>
            <a:r>
              <a:rPr dirty="0" sz="2700" spc="-175">
                <a:latin typeface="Calibri"/>
                <a:cs typeface="Calibri"/>
              </a:rPr>
              <a:t>Unifican</a:t>
            </a:r>
            <a:r>
              <a:rPr dirty="0" sz="2700" spc="-85">
                <a:latin typeface="Calibri"/>
                <a:cs typeface="Calibri"/>
              </a:rPr>
              <a:t> </a:t>
            </a:r>
            <a:r>
              <a:rPr dirty="0" sz="2700" spc="-200">
                <a:latin typeface="Calibri"/>
                <a:cs typeface="Calibri"/>
              </a:rPr>
              <a:t>información</a:t>
            </a:r>
            <a:r>
              <a:rPr dirty="0" sz="2700" spc="70">
                <a:latin typeface="Calibri"/>
                <a:cs typeface="Calibri"/>
              </a:rPr>
              <a:t> </a:t>
            </a:r>
            <a:r>
              <a:rPr dirty="0" sz="2700" spc="-195">
                <a:latin typeface="Calibri"/>
                <a:cs typeface="Calibri"/>
              </a:rPr>
              <a:t>de</a:t>
            </a:r>
            <a:r>
              <a:rPr dirty="0" sz="2700" spc="-105">
                <a:latin typeface="Calibri"/>
                <a:cs typeface="Calibri"/>
              </a:rPr>
              <a:t> </a:t>
            </a:r>
            <a:r>
              <a:rPr dirty="0" sz="2700" spc="-195">
                <a:latin typeface="Calibri"/>
                <a:cs typeface="Calibri"/>
              </a:rPr>
              <a:t>fuentes </a:t>
            </a:r>
            <a:r>
              <a:rPr dirty="0" sz="2700" spc="-215">
                <a:latin typeface="Calibri"/>
                <a:cs typeface="Calibri"/>
              </a:rPr>
              <a:t>heterogéneas</a:t>
            </a:r>
            <a:r>
              <a:rPr dirty="0" sz="2700" spc="170">
                <a:latin typeface="Calibri"/>
                <a:cs typeface="Calibri"/>
              </a:rPr>
              <a:t> </a:t>
            </a:r>
            <a:r>
              <a:rPr dirty="0" sz="2700" spc="-215">
                <a:latin typeface="Calibri"/>
                <a:cs typeface="Calibri"/>
              </a:rPr>
              <a:t>(Wikidata,</a:t>
            </a:r>
            <a:r>
              <a:rPr dirty="0" sz="2700">
                <a:latin typeface="Calibri"/>
                <a:cs typeface="Calibri"/>
              </a:rPr>
              <a:t> </a:t>
            </a:r>
            <a:r>
              <a:rPr dirty="0" sz="2700" spc="-175">
                <a:latin typeface="Calibri"/>
                <a:cs typeface="Calibri"/>
              </a:rPr>
              <a:t>Google</a:t>
            </a:r>
            <a:endParaRPr sz="2700">
              <a:latin typeface="Calibri"/>
              <a:cs typeface="Calibri"/>
            </a:endParaRPr>
          </a:p>
          <a:p>
            <a:pPr marL="72390">
              <a:lnSpc>
                <a:spcPts val="2380"/>
              </a:lnSpc>
              <a:tabLst>
                <a:tab pos="650240" algn="l"/>
              </a:tabLst>
            </a:pPr>
            <a:r>
              <a:rPr dirty="0" sz="2700" spc="-50">
                <a:solidFill>
                  <a:srgbClr val="262626"/>
                </a:solidFill>
                <a:latin typeface="Calibri"/>
                <a:cs typeface="Calibri"/>
              </a:rPr>
              <a:t>i</a:t>
            </a:r>
            <a:r>
              <a:rPr dirty="0" sz="2700">
                <a:solidFill>
                  <a:srgbClr val="262626"/>
                </a:solidFill>
                <a:latin typeface="Calibri"/>
                <a:cs typeface="Calibri"/>
              </a:rPr>
              <a:t>	</a:t>
            </a:r>
            <a:r>
              <a:rPr dirty="0" sz="2700" spc="-170">
                <a:latin typeface="Calibri"/>
                <a:cs typeface="Calibri"/>
              </a:rPr>
              <a:t>Books,</a:t>
            </a:r>
            <a:r>
              <a:rPr dirty="0" sz="2700" spc="-114">
                <a:latin typeface="Calibri"/>
                <a:cs typeface="Calibri"/>
              </a:rPr>
              <a:t> </a:t>
            </a:r>
            <a:r>
              <a:rPr dirty="0" sz="2700" spc="-195">
                <a:latin typeface="Calibri"/>
                <a:cs typeface="Calibri"/>
              </a:rPr>
              <a:t>DBpedia)</a:t>
            </a:r>
            <a:r>
              <a:rPr dirty="0" sz="2700" spc="5">
                <a:latin typeface="Calibri"/>
                <a:cs typeface="Calibri"/>
              </a:rPr>
              <a:t> </a:t>
            </a:r>
            <a:r>
              <a:rPr dirty="0" sz="2700" spc="-220">
                <a:latin typeface="Calibri"/>
                <a:cs typeface="Calibri"/>
              </a:rPr>
              <a:t>mediante</a:t>
            </a:r>
            <a:r>
              <a:rPr dirty="0" sz="2700" spc="110">
                <a:latin typeface="Calibri"/>
                <a:cs typeface="Calibri"/>
              </a:rPr>
              <a:t> </a:t>
            </a:r>
            <a:r>
              <a:rPr dirty="0" sz="2700" spc="-145">
                <a:latin typeface="Calibri"/>
                <a:cs typeface="Calibri"/>
              </a:rPr>
              <a:t>mapeos</a:t>
            </a:r>
            <a:endParaRPr sz="2700">
              <a:latin typeface="Calibri"/>
              <a:cs typeface="Calibri"/>
            </a:endParaRPr>
          </a:p>
          <a:p>
            <a:pPr marL="73025">
              <a:lnSpc>
                <a:spcPts val="2590"/>
              </a:lnSpc>
              <a:tabLst>
                <a:tab pos="767715" algn="l"/>
              </a:tabLst>
            </a:pPr>
            <a:r>
              <a:rPr dirty="0" sz="2600" spc="-50">
                <a:solidFill>
                  <a:srgbClr val="151515"/>
                </a:solidFill>
                <a:latin typeface="Calibri"/>
                <a:cs typeface="Calibri"/>
              </a:rPr>
              <a:t>i</a:t>
            </a:r>
            <a:r>
              <a:rPr dirty="0" sz="2600">
                <a:solidFill>
                  <a:srgbClr val="151515"/>
                </a:solidFill>
                <a:latin typeface="Calibri"/>
                <a:cs typeface="Calibri"/>
              </a:rPr>
              <a:t>	</a:t>
            </a:r>
            <a:r>
              <a:rPr dirty="0" sz="2600" spc="-140">
                <a:latin typeface="Calibri"/>
                <a:cs typeface="Calibri"/>
              </a:rPr>
              <a:t>semánticos</a:t>
            </a:r>
            <a:r>
              <a:rPr dirty="0" sz="2600" spc="45">
                <a:latin typeface="Calibri"/>
                <a:cs typeface="Calibri"/>
              </a:rPr>
              <a:t> </a:t>
            </a:r>
            <a:r>
              <a:rPr dirty="0" sz="2600" spc="-160">
                <a:latin typeface="Calibri"/>
                <a:cs typeface="Calibri"/>
              </a:rPr>
              <a:t>estándar,</a:t>
            </a:r>
            <a:r>
              <a:rPr dirty="0" sz="2600" spc="60">
                <a:latin typeface="Calibri"/>
                <a:cs typeface="Calibri"/>
              </a:rPr>
              <a:t> </a:t>
            </a:r>
            <a:r>
              <a:rPr dirty="0" sz="2600" spc="-170">
                <a:latin typeface="Calibri"/>
                <a:cs typeface="Calibri"/>
              </a:rPr>
              <a:t>creando</a:t>
            </a:r>
            <a:r>
              <a:rPr dirty="0" sz="2600" spc="15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un</a:t>
            </a:r>
            <a:endParaRPr sz="2600">
              <a:latin typeface="Calibri"/>
              <a:cs typeface="Calibri"/>
            </a:endParaRPr>
          </a:p>
          <a:p>
            <a:pPr marL="38100">
              <a:lnSpc>
                <a:spcPts val="2930"/>
              </a:lnSpc>
              <a:tabLst>
                <a:tab pos="1402715" algn="l"/>
              </a:tabLst>
            </a:pPr>
            <a:r>
              <a:rPr dirty="0" baseline="-10335" sz="3225" spc="-630">
                <a:solidFill>
                  <a:srgbClr val="1A1A1A"/>
                </a:solidFill>
                <a:latin typeface="Consolas"/>
                <a:cs typeface="Consolas"/>
              </a:rPr>
              <a:t>!</a:t>
            </a:r>
            <a:r>
              <a:rPr dirty="0" baseline="-10335" sz="3225">
                <a:solidFill>
                  <a:srgbClr val="1A1A1A"/>
                </a:solidFill>
                <a:latin typeface="Consolas"/>
                <a:cs typeface="Consolas"/>
              </a:rPr>
              <a:t>	</a:t>
            </a:r>
            <a:r>
              <a:rPr dirty="0" sz="2700" spc="-220">
                <a:latin typeface="Calibri"/>
                <a:cs typeface="Calibri"/>
              </a:rPr>
              <a:t>modelo</a:t>
            </a:r>
            <a:r>
              <a:rPr dirty="0" sz="2700">
                <a:latin typeface="Calibri"/>
                <a:cs typeface="Calibri"/>
              </a:rPr>
              <a:t> </a:t>
            </a:r>
            <a:r>
              <a:rPr dirty="0" sz="2700" spc="-120">
                <a:latin typeface="Calibri"/>
                <a:cs typeface="Calibri"/>
              </a:rPr>
              <a:t>interoperab[e.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11319432" y="7927151"/>
            <a:ext cx="104775" cy="857250"/>
          </a:xfrm>
          <a:prstGeom prst="rect">
            <a:avLst/>
          </a:prstGeom>
        </p:spPr>
        <p:txBody>
          <a:bodyPr wrap="square" lIns="0" tIns="80010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630"/>
              </a:spcBef>
            </a:pPr>
            <a:r>
              <a:rPr dirty="0" sz="2600" spc="-50">
                <a:solidFill>
                  <a:srgbClr val="212121"/>
                </a:solidFill>
                <a:latin typeface="Calibri"/>
                <a:cs typeface="Calibri"/>
              </a:rPr>
              <a:t>i</a:t>
            </a:r>
            <a:endParaRPr sz="2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dirty="0" sz="2050" spc="-50">
                <a:solidFill>
                  <a:srgbClr val="1C1C1C"/>
                </a:solidFill>
                <a:latin typeface="Calibri"/>
                <a:cs typeface="Calibri"/>
              </a:rPr>
              <a:t>!</a:t>
            </a:r>
            <a:endParaRPr sz="2050">
              <a:latin typeface="Calibri"/>
              <a:cs typeface="Calibri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11531816" y="8952089"/>
            <a:ext cx="317500" cy="3854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266065" algn="l"/>
              </a:tabLst>
            </a:pPr>
            <a:r>
              <a:rPr dirty="0" sz="2350" spc="-50">
                <a:solidFill>
                  <a:srgbClr val="3F3F3F"/>
                </a:solidFill>
                <a:latin typeface="Calibri"/>
                <a:cs typeface="Calibri"/>
              </a:rPr>
              <a:t>I</a:t>
            </a:r>
            <a:r>
              <a:rPr dirty="0" sz="2350">
                <a:solidFill>
                  <a:srgbClr val="3F3F3F"/>
                </a:solidFill>
                <a:latin typeface="Calibri"/>
                <a:cs typeface="Calibri"/>
              </a:rPr>
              <a:t>	</a:t>
            </a:r>
            <a:r>
              <a:rPr dirty="0" sz="2350" spc="-345">
                <a:solidFill>
                  <a:srgbClr val="757575"/>
                </a:solidFill>
                <a:latin typeface="Calibri"/>
                <a:cs typeface="Calibri"/>
              </a:rPr>
              <a:t>I</a:t>
            </a:r>
            <a:endParaRPr sz="2350">
              <a:latin typeface="Calibri"/>
              <a:cs typeface="Calibri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11300783" y="6322320"/>
            <a:ext cx="4957445" cy="2433320"/>
          </a:xfrm>
          <a:prstGeom prst="rect">
            <a:avLst/>
          </a:prstGeom>
        </p:spPr>
        <p:txBody>
          <a:bodyPr wrap="square" lIns="0" tIns="90805" rIns="0" bIns="0" rtlCol="0" vert="horz">
            <a:spAutoFit/>
          </a:bodyPr>
          <a:lstStyle/>
          <a:p>
            <a:pPr algn="ctr" marR="368935">
              <a:lnSpc>
                <a:spcPct val="100000"/>
              </a:lnSpc>
              <a:spcBef>
                <a:spcPts val="715"/>
              </a:spcBef>
              <a:tabLst>
                <a:tab pos="766445" algn="l"/>
              </a:tabLst>
            </a:pPr>
            <a:r>
              <a:rPr dirty="0" sz="3300" spc="-605">
                <a:solidFill>
                  <a:srgbClr val="1A1A1A"/>
                </a:solidFill>
                <a:latin typeface="Calibri"/>
                <a:cs typeface="Calibri"/>
              </a:rPr>
              <a:t>;</a:t>
            </a:r>
            <a:r>
              <a:rPr dirty="0" sz="3300">
                <a:solidFill>
                  <a:srgbClr val="1A1A1A"/>
                </a:solidFill>
                <a:latin typeface="Calibri"/>
                <a:cs typeface="Calibri"/>
              </a:rPr>
              <a:t>	</a:t>
            </a:r>
            <a:r>
              <a:rPr dirty="0" sz="3300" spc="-90">
                <a:latin typeface="Calibri"/>
                <a:cs typeface="Calibri"/>
              </a:rPr>
              <a:t>Explicabilidad</a:t>
            </a:r>
            <a:r>
              <a:rPr dirty="0" sz="3300" spc="-135">
                <a:latin typeface="Calibri"/>
                <a:cs typeface="Calibri"/>
              </a:rPr>
              <a:t> </a:t>
            </a:r>
            <a:r>
              <a:rPr dirty="0" sz="3300" spc="-100">
                <a:latin typeface="Calibri"/>
                <a:cs typeface="Calibri"/>
              </a:rPr>
              <a:t>Mejorada</a:t>
            </a:r>
            <a:endParaRPr sz="3300">
              <a:latin typeface="Calibri"/>
              <a:cs typeface="Calibri"/>
            </a:endParaRPr>
          </a:p>
          <a:p>
            <a:pPr algn="ctr" marR="434340">
              <a:lnSpc>
                <a:spcPts val="3045"/>
              </a:lnSpc>
              <a:spcBef>
                <a:spcPts val="490"/>
              </a:spcBef>
              <a:tabLst>
                <a:tab pos="846455" algn="l"/>
              </a:tabLst>
            </a:pPr>
            <a:r>
              <a:rPr dirty="0" baseline="22988" sz="2175" spc="-37">
                <a:solidFill>
                  <a:srgbClr val="212121"/>
                </a:solidFill>
                <a:latin typeface="Calibri"/>
                <a:cs typeface="Calibri"/>
              </a:rPr>
              <a:t>i</a:t>
            </a:r>
            <a:r>
              <a:rPr dirty="0" sz="1450" spc="-25">
                <a:solidFill>
                  <a:srgbClr val="1C1C1C"/>
                </a:solidFill>
                <a:latin typeface="Calibri"/>
                <a:cs typeface="Calibri"/>
              </a:rPr>
              <a:t>,</a:t>
            </a:r>
            <a:r>
              <a:rPr dirty="0" sz="1450">
                <a:solidFill>
                  <a:srgbClr val="1C1C1C"/>
                </a:solidFill>
                <a:latin typeface="Calibri"/>
                <a:cs typeface="Calibri"/>
              </a:rPr>
              <a:t>	</a:t>
            </a:r>
            <a:r>
              <a:rPr dirty="0" sz="2700" spc="-40">
                <a:latin typeface="Calibri"/>
                <a:cs typeface="Calibri"/>
              </a:rPr>
              <a:t>El</a:t>
            </a:r>
            <a:r>
              <a:rPr dirty="0" sz="2700" spc="-245">
                <a:latin typeface="Calibri"/>
                <a:cs typeface="Calibri"/>
              </a:rPr>
              <a:t> </a:t>
            </a:r>
            <a:r>
              <a:rPr dirty="0" sz="2700" spc="-190">
                <a:latin typeface="Calibri"/>
                <a:cs typeface="Calibri"/>
              </a:rPr>
              <a:t>sistema</a:t>
            </a:r>
            <a:r>
              <a:rPr dirty="0" sz="2700" spc="-40">
                <a:latin typeface="Calibri"/>
                <a:cs typeface="Calibri"/>
              </a:rPr>
              <a:t> </a:t>
            </a:r>
            <a:r>
              <a:rPr dirty="0" sz="2700" spc="-200">
                <a:latin typeface="Calibri"/>
                <a:cs typeface="Calibri"/>
              </a:rPr>
              <a:t>puede</a:t>
            </a:r>
            <a:r>
              <a:rPr dirty="0" sz="2700" spc="-90">
                <a:latin typeface="Calibri"/>
                <a:cs typeface="Calibri"/>
              </a:rPr>
              <a:t> </a:t>
            </a:r>
            <a:r>
              <a:rPr dirty="0" sz="2700" spc="-165">
                <a:latin typeface="Calibri"/>
                <a:cs typeface="Calibri"/>
              </a:rPr>
              <a:t>justificar</a:t>
            </a:r>
            <a:r>
              <a:rPr dirty="0" sz="2700" spc="20">
                <a:latin typeface="Calibri"/>
                <a:cs typeface="Calibri"/>
              </a:rPr>
              <a:t> </a:t>
            </a:r>
            <a:r>
              <a:rPr dirty="0" sz="2700" spc="-25">
                <a:latin typeface="Calibri"/>
                <a:cs typeface="Calibri"/>
              </a:rPr>
              <a:t>sus</a:t>
            </a:r>
            <a:endParaRPr sz="2700">
              <a:latin typeface="Calibri"/>
              <a:cs typeface="Calibri"/>
            </a:endParaRPr>
          </a:p>
          <a:p>
            <a:pPr algn="ctr" marL="459105" marR="43180">
              <a:lnSpc>
                <a:spcPct val="83100"/>
              </a:lnSpc>
              <a:spcBef>
                <a:spcPts val="325"/>
              </a:spcBef>
            </a:pPr>
            <a:r>
              <a:rPr dirty="0" sz="2550" spc="-110">
                <a:latin typeface="Calibri"/>
                <a:cs typeface="Calibri"/>
              </a:rPr>
              <a:t>sugerencias</a:t>
            </a:r>
            <a:r>
              <a:rPr dirty="0" sz="2550" spc="114">
                <a:latin typeface="Calibri"/>
                <a:cs typeface="Calibri"/>
              </a:rPr>
              <a:t> </a:t>
            </a:r>
            <a:r>
              <a:rPr dirty="0" sz="2550" spc="-150">
                <a:latin typeface="Calibri"/>
                <a:cs typeface="Calibri"/>
              </a:rPr>
              <a:t>("Te</a:t>
            </a:r>
            <a:r>
              <a:rPr dirty="0" sz="2550" spc="-60">
                <a:latin typeface="Calibri"/>
                <a:cs typeface="Calibri"/>
              </a:rPr>
              <a:t> </a:t>
            </a:r>
            <a:r>
              <a:rPr dirty="0" sz="2550" spc="-160">
                <a:latin typeface="Calibri"/>
                <a:cs typeface="Calibri"/>
              </a:rPr>
              <a:t>recomendamos</a:t>
            </a:r>
            <a:r>
              <a:rPr dirty="0" sz="2550" spc="15">
                <a:latin typeface="Calibri"/>
                <a:cs typeface="Calibri"/>
              </a:rPr>
              <a:t> </a:t>
            </a:r>
            <a:r>
              <a:rPr dirty="0" sz="2550" spc="-55">
                <a:latin typeface="Calibri"/>
                <a:cs typeface="Calibri"/>
              </a:rPr>
              <a:t>este </a:t>
            </a:r>
            <a:r>
              <a:rPr dirty="0" sz="2700" spc="-160">
                <a:latin typeface="Calibri"/>
                <a:cs typeface="Calibri"/>
              </a:rPr>
              <a:t>libro</a:t>
            </a:r>
            <a:r>
              <a:rPr dirty="0" sz="2700" spc="-65">
                <a:latin typeface="Calibri"/>
                <a:cs typeface="Calibri"/>
              </a:rPr>
              <a:t> </a:t>
            </a:r>
            <a:r>
              <a:rPr dirty="0" sz="2700" spc="-220">
                <a:latin typeface="Calibri"/>
                <a:cs typeface="Calibri"/>
              </a:rPr>
              <a:t>porque</a:t>
            </a:r>
            <a:r>
              <a:rPr dirty="0" sz="2700" spc="-100">
                <a:latin typeface="Calibri"/>
                <a:cs typeface="Calibri"/>
              </a:rPr>
              <a:t> </a:t>
            </a:r>
            <a:r>
              <a:rPr dirty="0" sz="2700" spc="-135">
                <a:latin typeface="Calibri"/>
                <a:cs typeface="Calibri"/>
              </a:rPr>
              <a:t>su </a:t>
            </a:r>
            <a:r>
              <a:rPr dirty="0" sz="2700" spc="-200">
                <a:latin typeface="Calibri"/>
                <a:cs typeface="Calibri"/>
              </a:rPr>
              <a:t>autor</a:t>
            </a:r>
            <a:r>
              <a:rPr dirty="0" sz="2700" spc="-45">
                <a:latin typeface="Calibri"/>
                <a:cs typeface="Calibri"/>
              </a:rPr>
              <a:t> </a:t>
            </a:r>
            <a:r>
              <a:rPr dirty="0" sz="2700" spc="-65">
                <a:latin typeface="Calibri"/>
                <a:cs typeface="Calibri"/>
              </a:rPr>
              <a:t>también </a:t>
            </a:r>
            <a:r>
              <a:rPr dirty="0" sz="2600" spc="-120">
                <a:latin typeface="Calibri"/>
                <a:cs typeface="Calibri"/>
              </a:rPr>
              <a:t>escribió</a:t>
            </a:r>
            <a:r>
              <a:rPr dirty="0" sz="2600" spc="40">
                <a:latin typeface="Calibri"/>
                <a:cs typeface="Calibri"/>
              </a:rPr>
              <a:t> </a:t>
            </a:r>
            <a:r>
              <a:rPr dirty="0" sz="2600" spc="-114">
                <a:latin typeface="Calibri"/>
                <a:cs typeface="Calibri"/>
              </a:rPr>
              <a:t>X"</a:t>
            </a:r>
            <a:r>
              <a:rPr dirty="0" sz="2600" spc="-195">
                <a:latin typeface="Calibri"/>
                <a:cs typeface="Calibri"/>
              </a:rPr>
              <a:t> </a:t>
            </a:r>
            <a:r>
              <a:rPr dirty="0" sz="2600" spc="120">
                <a:latin typeface="Calibri"/>
                <a:cs typeface="Calibri"/>
              </a:rPr>
              <a:t>o</a:t>
            </a:r>
            <a:r>
              <a:rPr dirty="0" baseline="55555" sz="1650" spc="52">
                <a:latin typeface="Calibri"/>
                <a:cs typeface="Calibri"/>
              </a:rPr>
              <a:t>U</a:t>
            </a:r>
            <a:r>
              <a:rPr dirty="0" sz="2600" spc="30">
                <a:latin typeface="Calibri"/>
                <a:cs typeface="Calibri"/>
              </a:rPr>
              <a:t>Pertenec</a:t>
            </a:r>
            <a:r>
              <a:rPr dirty="0" sz="2600" spc="-885">
                <a:latin typeface="Calibri"/>
                <a:cs typeface="Calibri"/>
              </a:rPr>
              <a:t>e</a:t>
            </a:r>
            <a:r>
              <a:rPr dirty="0" sz="2600" spc="35">
                <a:latin typeface="Calibri"/>
                <a:cs typeface="Calibri"/>
              </a:rPr>
              <a:t>a</a:t>
            </a:r>
            <a:r>
              <a:rPr dirty="0" sz="2600" spc="-235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un </a:t>
            </a:r>
            <a:r>
              <a:rPr dirty="0" sz="2700" spc="-220">
                <a:latin typeface="Calibri"/>
                <a:cs typeface="Calibri"/>
              </a:rPr>
              <a:t>subgénero</a:t>
            </a:r>
            <a:r>
              <a:rPr dirty="0" sz="2700" spc="5">
                <a:latin typeface="Calibri"/>
                <a:cs typeface="Calibri"/>
              </a:rPr>
              <a:t> </a:t>
            </a:r>
            <a:r>
              <a:rPr dirty="0" sz="2700" spc="-140">
                <a:latin typeface="Calibri"/>
                <a:cs typeface="Calibri"/>
              </a:rPr>
              <a:t>de</a:t>
            </a:r>
            <a:r>
              <a:rPr dirty="0" sz="2700" spc="-195">
                <a:latin typeface="Calibri"/>
                <a:cs typeface="Calibri"/>
              </a:rPr>
              <a:t> </a:t>
            </a:r>
            <a:r>
              <a:rPr dirty="0" sz="2700" spc="-240">
                <a:latin typeface="Calibri"/>
                <a:cs typeface="Calibri"/>
              </a:rPr>
              <a:t>Y,</a:t>
            </a:r>
            <a:r>
              <a:rPr dirty="0" sz="2700" spc="-215">
                <a:latin typeface="Calibri"/>
                <a:cs typeface="Calibri"/>
              </a:rPr>
              <a:t> </a:t>
            </a:r>
            <a:r>
              <a:rPr dirty="0" sz="2700" spc="-235">
                <a:latin typeface="Calibri"/>
                <a:cs typeface="Calibri"/>
              </a:rPr>
              <a:t>que</a:t>
            </a:r>
            <a:r>
              <a:rPr dirty="0" sz="2700" spc="-15">
                <a:latin typeface="Calibri"/>
                <a:cs typeface="Calibri"/>
              </a:rPr>
              <a:t> </a:t>
            </a:r>
            <a:r>
              <a:rPr dirty="0" sz="2700" spc="-235">
                <a:latin typeface="Calibri"/>
                <a:cs typeface="Calibri"/>
              </a:rPr>
              <a:t>te</a:t>
            </a:r>
            <a:r>
              <a:rPr dirty="0" sz="2700" spc="-110">
                <a:latin typeface="Calibri"/>
                <a:cs typeface="Calibri"/>
              </a:rPr>
              <a:t> </a:t>
            </a:r>
            <a:r>
              <a:rPr dirty="0" sz="2700" spc="-35">
                <a:latin typeface="Calibri"/>
                <a:cs typeface="Calibri"/>
              </a:rPr>
              <a:t>gusta").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14676767" y="9110839"/>
            <a:ext cx="188595" cy="1949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159385" algn="l"/>
              </a:tabLst>
            </a:pPr>
            <a:r>
              <a:rPr dirty="0" sz="1100" spc="-50">
                <a:solidFill>
                  <a:srgbClr val="5B5B5B"/>
                </a:solidFill>
                <a:latin typeface="Calibri"/>
                <a:cs typeface="Calibri"/>
              </a:rPr>
              <a:t>I</a:t>
            </a:r>
            <a:r>
              <a:rPr dirty="0" sz="1100">
                <a:solidFill>
                  <a:srgbClr val="5B5B5B"/>
                </a:solidFill>
                <a:latin typeface="Calibri"/>
                <a:cs typeface="Calibri"/>
              </a:rPr>
              <a:t>	</a:t>
            </a:r>
            <a:r>
              <a:rPr dirty="0" sz="1100" spc="-365">
                <a:solidFill>
                  <a:srgbClr val="4B4B4B"/>
                </a:solidFill>
                <a:latin typeface="Calibri"/>
                <a:cs typeface="Calibri"/>
              </a:rPr>
              <a:t>"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15075751" y="9060039"/>
            <a:ext cx="1676400" cy="1949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00">
                <a:solidFill>
                  <a:srgbClr val="727272"/>
                </a:solidFill>
                <a:latin typeface="Calibri"/>
                <a:cs typeface="Calibri"/>
              </a:rPr>
              <a:t>I</a:t>
            </a:r>
            <a:r>
              <a:rPr dirty="0" sz="1100" spc="155">
                <a:solidFill>
                  <a:srgbClr val="727272"/>
                </a:solidFill>
                <a:latin typeface="Calibri"/>
                <a:cs typeface="Calibri"/>
              </a:rPr>
              <a:t> </a:t>
            </a:r>
            <a:r>
              <a:rPr dirty="0" sz="1100" spc="-45">
                <a:solidFill>
                  <a:srgbClr val="262626"/>
                </a:solidFill>
                <a:latin typeface="Calibri"/>
                <a:cs typeface="Calibri"/>
              </a:rPr>
              <a:t>IO.267d-</a:t>
            </a:r>
            <a:r>
              <a:rPr dirty="0" sz="1100" spc="-25">
                <a:solidFill>
                  <a:srgbClr val="262626"/>
                </a:solidFill>
                <a:latin typeface="Calibri"/>
                <a:cs typeface="Calibri"/>
              </a:rPr>
              <a:t>8C6d\</a:t>
            </a:r>
            <a:r>
              <a:rPr dirty="0" sz="1100" spc="14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1100" spc="-100">
                <a:solidFill>
                  <a:srgbClr val="5B5B5B"/>
                </a:solidFill>
                <a:latin typeface="Calibri"/>
                <a:cs typeface="Calibri"/>
              </a:rPr>
              <a:t>-</a:t>
            </a:r>
            <a:r>
              <a:rPr dirty="0" sz="1100">
                <a:solidFill>
                  <a:srgbClr val="5B5B5B"/>
                </a:solidFill>
                <a:latin typeface="Calibri"/>
                <a:cs typeface="Calibri"/>
              </a:rPr>
              <a:t> </a:t>
            </a:r>
            <a:r>
              <a:rPr dirty="0" sz="1100" spc="-55">
                <a:solidFill>
                  <a:srgbClr val="464646"/>
                </a:solidFill>
                <a:latin typeface="Calibri"/>
                <a:cs typeface="Calibri"/>
              </a:rPr>
              <a:t>SHEET</a:t>
            </a:r>
            <a:r>
              <a:rPr dirty="0" sz="1100" spc="2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dirty="0" sz="1100" spc="-170">
                <a:solidFill>
                  <a:srgbClr val="0E0E0E"/>
                </a:solidFill>
                <a:latin typeface="Calibri"/>
                <a:cs typeface="Calibri"/>
              </a:rPr>
              <a:t>1</a:t>
            </a:r>
            <a:r>
              <a:rPr dirty="0" sz="1100" spc="-5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dirty="0" sz="1100" spc="-40">
                <a:solidFill>
                  <a:srgbClr val="212121"/>
                </a:solidFill>
                <a:latin typeface="Calibri"/>
                <a:cs typeface="Calibri"/>
              </a:rPr>
              <a:t>OF</a:t>
            </a:r>
            <a:r>
              <a:rPr dirty="0" sz="1100" spc="-6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100" spc="-50">
                <a:solidFill>
                  <a:srgbClr val="212121"/>
                </a:solidFill>
                <a:latin typeface="Calibri"/>
                <a:cs typeface="Calibri"/>
              </a:rPr>
              <a:t>1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16107677" y="9413522"/>
            <a:ext cx="1237615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245745" algn="l"/>
              </a:tabLst>
            </a:pPr>
            <a:r>
              <a:rPr dirty="0" sz="1500" spc="-320">
                <a:latin typeface="Calibri"/>
                <a:cs typeface="Calibri"/>
              </a:rPr>
              <a:t>G</a:t>
            </a:r>
            <a:r>
              <a:rPr dirty="0" sz="1500">
                <a:latin typeface="Calibri"/>
                <a:cs typeface="Calibri"/>
              </a:rPr>
              <a:t>	</a:t>
            </a:r>
            <a:r>
              <a:rPr dirty="0" sz="1500" spc="-30">
                <a:latin typeface="Calibri"/>
                <a:cs typeface="Calibri"/>
              </a:rPr>
              <a:t>NotebookLM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3200" y="266700"/>
            <a:ext cx="17132300" cy="93599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45632" y="684036"/>
            <a:ext cx="14952344" cy="713740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4500" spc="155">
                <a:solidFill>
                  <a:srgbClr val="2A2A2A"/>
                </a:solidFill>
              </a:rPr>
              <a:t>La</a:t>
            </a:r>
            <a:r>
              <a:rPr dirty="0" sz="4500" spc="-250">
                <a:solidFill>
                  <a:srgbClr val="2A2A2A"/>
                </a:solidFill>
              </a:rPr>
              <a:t> </a:t>
            </a:r>
            <a:r>
              <a:rPr dirty="0" sz="4500" spc="-40">
                <a:solidFill>
                  <a:srgbClr val="232323"/>
                </a:solidFill>
              </a:rPr>
              <a:t>Arquitectura</a:t>
            </a:r>
            <a:r>
              <a:rPr dirty="0" sz="4500" spc="5">
                <a:solidFill>
                  <a:srgbClr val="232323"/>
                </a:solidFill>
              </a:rPr>
              <a:t> </a:t>
            </a:r>
            <a:r>
              <a:rPr dirty="0" sz="4500">
                <a:solidFill>
                  <a:srgbClr val="212121"/>
                </a:solidFill>
              </a:rPr>
              <a:t>del</a:t>
            </a:r>
            <a:r>
              <a:rPr dirty="0" sz="4500" spc="-250">
                <a:solidFill>
                  <a:srgbClr val="212121"/>
                </a:solidFill>
              </a:rPr>
              <a:t> </a:t>
            </a:r>
            <a:r>
              <a:rPr dirty="0" sz="4500">
                <a:solidFill>
                  <a:srgbClr val="262626"/>
                </a:solidFill>
              </a:rPr>
              <a:t>Conocimiento:</a:t>
            </a:r>
            <a:r>
              <a:rPr dirty="0" sz="4500" spc="140">
                <a:solidFill>
                  <a:srgbClr val="262626"/>
                </a:solidFill>
              </a:rPr>
              <a:t> </a:t>
            </a:r>
            <a:r>
              <a:rPr dirty="0" sz="4500">
                <a:solidFill>
                  <a:srgbClr val="262626"/>
                </a:solidFill>
              </a:rPr>
              <a:t>Pilares</a:t>
            </a:r>
            <a:r>
              <a:rPr dirty="0" sz="4500" spc="-65">
                <a:solidFill>
                  <a:srgbClr val="262626"/>
                </a:solidFill>
              </a:rPr>
              <a:t> </a:t>
            </a:r>
            <a:r>
              <a:rPr dirty="0" sz="4500">
                <a:solidFill>
                  <a:srgbClr val="242424"/>
                </a:solidFill>
              </a:rPr>
              <a:t>de</a:t>
            </a:r>
            <a:r>
              <a:rPr dirty="0" sz="4500" spc="-250">
                <a:solidFill>
                  <a:srgbClr val="242424"/>
                </a:solidFill>
              </a:rPr>
              <a:t> </a:t>
            </a:r>
            <a:r>
              <a:rPr dirty="0" sz="4500" spc="-10">
                <a:solidFill>
                  <a:srgbClr val="1D1D1D"/>
                </a:solidFill>
              </a:rPr>
              <a:t>Nuestro</a:t>
            </a:r>
            <a:r>
              <a:rPr dirty="0" sz="4500" spc="-80">
                <a:solidFill>
                  <a:srgbClr val="1D1D1D"/>
                </a:solidFill>
              </a:rPr>
              <a:t> </a:t>
            </a:r>
            <a:r>
              <a:rPr dirty="0" sz="4500" spc="-10">
                <a:solidFill>
                  <a:srgbClr val="262626"/>
                </a:solidFill>
              </a:rPr>
              <a:t>Sistema</a:t>
            </a:r>
            <a:endParaRPr sz="4500"/>
          </a:p>
        </p:txBody>
      </p:sp>
      <p:sp>
        <p:nvSpPr>
          <p:cNvPr id="4" name="object 4" descr=""/>
          <p:cNvSpPr txBox="1"/>
          <p:nvPr/>
        </p:nvSpPr>
        <p:spPr>
          <a:xfrm>
            <a:off x="1069274" y="2449620"/>
            <a:ext cx="2705100" cy="907415"/>
          </a:xfrm>
          <a:prstGeom prst="rect">
            <a:avLst/>
          </a:prstGeom>
        </p:spPr>
        <p:txBody>
          <a:bodyPr wrap="square" lIns="0" tIns="6476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dirty="0" sz="3050">
                <a:latin typeface="Cambria"/>
                <a:cs typeface="Cambria"/>
              </a:rPr>
              <a:t>El</a:t>
            </a:r>
            <a:r>
              <a:rPr dirty="0" sz="3050" spc="-165">
                <a:latin typeface="Cambria"/>
                <a:cs typeface="Cambria"/>
              </a:rPr>
              <a:t> </a:t>
            </a:r>
            <a:r>
              <a:rPr dirty="0" sz="3050" spc="-10">
                <a:latin typeface="Cambria"/>
                <a:cs typeface="Cambria"/>
              </a:rPr>
              <a:t>Contenido</a:t>
            </a:r>
            <a:endParaRPr sz="3050">
              <a:latin typeface="Cambria"/>
              <a:cs typeface="Cambria"/>
            </a:endParaRPr>
          </a:p>
          <a:p>
            <a:pPr marL="19685">
              <a:lnSpc>
                <a:spcPct val="100000"/>
              </a:lnSpc>
              <a:spcBef>
                <a:spcPts val="290"/>
              </a:spcBef>
            </a:pPr>
            <a:r>
              <a:rPr dirty="0" sz="2150" spc="-180">
                <a:latin typeface="Cambria"/>
                <a:cs typeface="Cambria"/>
              </a:rPr>
              <a:t>Capa</a:t>
            </a:r>
            <a:r>
              <a:rPr dirty="0" sz="2150" spc="-150">
                <a:latin typeface="Cambria"/>
                <a:cs typeface="Cambria"/>
              </a:rPr>
              <a:t> </a:t>
            </a:r>
            <a:r>
              <a:rPr dirty="0" sz="2150" spc="-105">
                <a:latin typeface="Cambria"/>
                <a:cs typeface="Cambria"/>
              </a:rPr>
              <a:t>3:</a:t>
            </a:r>
            <a:r>
              <a:rPr dirty="0" sz="2150" spc="-190">
                <a:latin typeface="Cambria"/>
                <a:cs typeface="Cambria"/>
              </a:rPr>
              <a:t> </a:t>
            </a:r>
            <a:r>
              <a:rPr dirty="0" sz="2150" spc="-180">
                <a:latin typeface="Cambria"/>
                <a:cs typeface="Cambria"/>
              </a:rPr>
              <a:t>Instancias</a:t>
            </a:r>
            <a:r>
              <a:rPr dirty="0" sz="2150" spc="-60">
                <a:latin typeface="Cambria"/>
                <a:cs typeface="Cambria"/>
              </a:rPr>
              <a:t> </a:t>
            </a:r>
            <a:r>
              <a:rPr dirty="0" sz="2150" spc="-110">
                <a:latin typeface="Cambria"/>
                <a:cs typeface="Cambria"/>
              </a:rPr>
              <a:t>de</a:t>
            </a:r>
            <a:r>
              <a:rPr dirty="0" sz="2150" spc="-100">
                <a:latin typeface="Cambria"/>
                <a:cs typeface="Cambria"/>
              </a:rPr>
              <a:t> </a:t>
            </a:r>
            <a:r>
              <a:rPr dirty="0" sz="2150" spc="-185">
                <a:latin typeface="Cambria"/>
                <a:cs typeface="Cambria"/>
              </a:rPr>
              <a:t>Libros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068753" y="4545012"/>
            <a:ext cx="3461385" cy="2642870"/>
          </a:xfrm>
          <a:prstGeom prst="rect">
            <a:avLst/>
          </a:prstGeom>
        </p:spPr>
        <p:txBody>
          <a:bodyPr wrap="square" lIns="0" tIns="711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dirty="0" sz="3100" spc="-90">
                <a:latin typeface="Cambria"/>
                <a:cs typeface="Cambria"/>
              </a:rPr>
              <a:t>Los</a:t>
            </a:r>
            <a:r>
              <a:rPr dirty="0" sz="3100" spc="-100">
                <a:latin typeface="Cambria"/>
                <a:cs typeface="Cambria"/>
              </a:rPr>
              <a:t> </a:t>
            </a:r>
            <a:r>
              <a:rPr dirty="0" sz="3100" spc="-10">
                <a:latin typeface="Cambria"/>
                <a:cs typeface="Cambria"/>
              </a:rPr>
              <a:t>Puentes</a:t>
            </a:r>
            <a:endParaRPr sz="3100">
              <a:latin typeface="Cambria"/>
              <a:cs typeface="Cambria"/>
            </a:endParaRPr>
          </a:p>
          <a:p>
            <a:pPr marL="22860">
              <a:lnSpc>
                <a:spcPct val="100000"/>
              </a:lnSpc>
              <a:spcBef>
                <a:spcPts val="330"/>
              </a:spcBef>
            </a:pPr>
            <a:r>
              <a:rPr dirty="0" sz="2050" spc="-275">
                <a:latin typeface="Arial MT"/>
                <a:cs typeface="Arial MT"/>
              </a:rPr>
              <a:t>Capa</a:t>
            </a:r>
            <a:r>
              <a:rPr dirty="0" sz="2050" spc="-105">
                <a:latin typeface="Arial MT"/>
                <a:cs typeface="Arial MT"/>
              </a:rPr>
              <a:t> </a:t>
            </a:r>
            <a:r>
              <a:rPr dirty="0" sz="2050" spc="-130">
                <a:latin typeface="Arial MT"/>
                <a:cs typeface="Arial MT"/>
              </a:rPr>
              <a:t>2:</a:t>
            </a:r>
            <a:r>
              <a:rPr dirty="0" sz="2050" spc="-320">
                <a:latin typeface="Arial MT"/>
                <a:cs typeface="Arial MT"/>
              </a:rPr>
              <a:t> </a:t>
            </a:r>
            <a:r>
              <a:rPr dirty="0" sz="2050" spc="-150">
                <a:latin typeface="Arial MT"/>
                <a:cs typeface="Arial MT"/>
              </a:rPr>
              <a:t>Enriquecimiento</a:t>
            </a:r>
            <a:r>
              <a:rPr dirty="0" sz="2050" spc="-135">
                <a:latin typeface="Arial MT"/>
                <a:cs typeface="Arial MT"/>
              </a:rPr>
              <a:t> </a:t>
            </a:r>
            <a:r>
              <a:rPr dirty="0" sz="2050" spc="-165">
                <a:latin typeface="Arial MT"/>
                <a:cs typeface="Arial MT"/>
              </a:rPr>
              <a:t>Seméntiœ</a:t>
            </a:r>
            <a:endParaRPr sz="20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0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275"/>
              </a:spcBef>
            </a:pPr>
            <a:endParaRPr sz="2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3100" spc="-10">
                <a:latin typeface="Cambria"/>
                <a:cs typeface="Cambria"/>
              </a:rPr>
              <a:t>La</a:t>
            </a:r>
            <a:r>
              <a:rPr dirty="0" sz="3100" spc="-165">
                <a:latin typeface="Cambria"/>
                <a:cs typeface="Cambria"/>
              </a:rPr>
              <a:t> </a:t>
            </a:r>
            <a:r>
              <a:rPr dirty="0" sz="3100" spc="-110">
                <a:latin typeface="Cambria"/>
                <a:cs typeface="Cambria"/>
              </a:rPr>
              <a:t>Columna</a:t>
            </a:r>
            <a:r>
              <a:rPr dirty="0" sz="3100" spc="-55">
                <a:latin typeface="Cambria"/>
                <a:cs typeface="Cambria"/>
              </a:rPr>
              <a:t> </a:t>
            </a:r>
            <a:r>
              <a:rPr dirty="0" sz="3100" spc="-95">
                <a:latin typeface="Cambria"/>
                <a:cs typeface="Cambria"/>
              </a:rPr>
              <a:t>Vertebral</a:t>
            </a:r>
            <a:endParaRPr sz="3100">
              <a:latin typeface="Cambria"/>
              <a:cs typeface="Cambria"/>
            </a:endParaRPr>
          </a:p>
          <a:p>
            <a:pPr marL="22225">
              <a:lnSpc>
                <a:spcPct val="100000"/>
              </a:lnSpc>
              <a:spcBef>
                <a:spcPts val="280"/>
              </a:spcBef>
            </a:pPr>
            <a:r>
              <a:rPr dirty="0" sz="2200" spc="-130">
                <a:latin typeface="Calibri"/>
                <a:cs typeface="Calibri"/>
              </a:rPr>
              <a:t>Capa</a:t>
            </a:r>
            <a:r>
              <a:rPr dirty="0" sz="2200" spc="-210">
                <a:latin typeface="Calibri"/>
                <a:cs typeface="Calibri"/>
              </a:rPr>
              <a:t> </a:t>
            </a:r>
            <a:r>
              <a:rPr dirty="0" sz="2200" spc="-120">
                <a:latin typeface="Calibri"/>
                <a:cs typeface="Calibri"/>
              </a:rPr>
              <a:t>1:</a:t>
            </a:r>
            <a:r>
              <a:rPr dirty="0" sz="2200" spc="-260">
                <a:latin typeface="Calibri"/>
                <a:cs typeface="Calibri"/>
              </a:rPr>
              <a:t> </a:t>
            </a:r>
            <a:r>
              <a:rPr dirty="0" sz="2200" spc="-140">
                <a:latin typeface="Calibri"/>
                <a:cs typeface="Calibri"/>
              </a:rPr>
              <a:t>Estructura</a:t>
            </a:r>
            <a:r>
              <a:rPr dirty="0" sz="2200" spc="65">
                <a:latin typeface="Calibri"/>
                <a:cs typeface="Calibri"/>
              </a:rPr>
              <a:t> </a:t>
            </a:r>
            <a:r>
              <a:rPr dirty="0" sz="2200" spc="-90">
                <a:latin typeface="Calibri"/>
                <a:cs typeface="Calibri"/>
              </a:rPr>
              <a:t>Taxonôr•ica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077998" y="8323439"/>
            <a:ext cx="8568690" cy="70739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ts val="2710"/>
              </a:lnSpc>
              <a:spcBef>
                <a:spcPts val="110"/>
              </a:spcBef>
            </a:pPr>
            <a:r>
              <a:rPr dirty="0" sz="2350" spc="-80">
                <a:latin typeface="Calibri"/>
                <a:cs typeface="Calibri"/>
              </a:rPr>
              <a:t>Cada</a:t>
            </a:r>
            <a:r>
              <a:rPr dirty="0" sz="2350" spc="-120">
                <a:latin typeface="Calibri"/>
                <a:cs typeface="Calibri"/>
              </a:rPr>
              <a:t> </a:t>
            </a:r>
            <a:r>
              <a:rPr dirty="0" sz="2350" spc="-130">
                <a:latin typeface="Calibri"/>
                <a:cs typeface="Calibri"/>
              </a:rPr>
              <a:t>fuente</a:t>
            </a:r>
            <a:r>
              <a:rPr dirty="0" sz="2350" spc="-150">
                <a:latin typeface="Calibri"/>
                <a:cs typeface="Calibri"/>
              </a:rPr>
              <a:t> </a:t>
            </a:r>
            <a:r>
              <a:rPr dirty="0" sz="2350" spc="-95">
                <a:latin typeface="Calibri"/>
                <a:cs typeface="Calibri"/>
              </a:rPr>
              <a:t>fue</a:t>
            </a:r>
            <a:r>
              <a:rPr dirty="0" sz="2350" spc="-235">
                <a:latin typeface="Calibri"/>
                <a:cs typeface="Calibri"/>
              </a:rPr>
              <a:t> </a:t>
            </a:r>
            <a:r>
              <a:rPr dirty="0" sz="2350" spc="-100">
                <a:latin typeface="Calibri"/>
                <a:cs typeface="Calibri"/>
              </a:rPr>
              <a:t>procesada</a:t>
            </a:r>
            <a:r>
              <a:rPr dirty="0" sz="2350" spc="45">
                <a:latin typeface="Calibri"/>
                <a:cs typeface="Calibri"/>
              </a:rPr>
              <a:t> </a:t>
            </a:r>
            <a:r>
              <a:rPr dirty="0" sz="2350" spc="-80">
                <a:latin typeface="Calibri"/>
                <a:cs typeface="Calibri"/>
              </a:rPr>
              <a:t>de</a:t>
            </a:r>
            <a:r>
              <a:rPr dirty="0" sz="2350" spc="-220">
                <a:latin typeface="Calibri"/>
                <a:cs typeface="Calibri"/>
              </a:rPr>
              <a:t> </a:t>
            </a:r>
            <a:r>
              <a:rPr dirty="0" sz="2350" spc="-130">
                <a:latin typeface="Calibri"/>
                <a:cs typeface="Calibri"/>
              </a:rPr>
              <a:t>forma</a:t>
            </a:r>
            <a:r>
              <a:rPr dirty="0" sz="2350" spc="-85">
                <a:latin typeface="Calibri"/>
                <a:cs typeface="Calibri"/>
              </a:rPr>
              <a:t> </a:t>
            </a:r>
            <a:r>
              <a:rPr dirty="0" sz="2350" spc="-114">
                <a:latin typeface="Calibri"/>
                <a:cs typeface="Calibri"/>
              </a:rPr>
              <a:t>independiente</a:t>
            </a:r>
            <a:r>
              <a:rPr dirty="0" sz="2350" spc="-35">
                <a:latin typeface="Calibri"/>
                <a:cs typeface="Calibri"/>
              </a:rPr>
              <a:t> </a:t>
            </a:r>
            <a:r>
              <a:rPr dirty="0" sz="2350" spc="-105">
                <a:latin typeface="Calibri"/>
                <a:cs typeface="Calibri"/>
              </a:rPr>
              <a:t>para</a:t>
            </a:r>
            <a:r>
              <a:rPr dirty="0" sz="2350" spc="-70">
                <a:latin typeface="Calibri"/>
                <a:cs typeface="Calibri"/>
              </a:rPr>
              <a:t> </a:t>
            </a:r>
            <a:r>
              <a:rPr dirty="0" sz="2350" spc="-100">
                <a:latin typeface="Calibri"/>
                <a:cs typeface="Calibri"/>
              </a:rPr>
              <a:t>construir</a:t>
            </a:r>
            <a:r>
              <a:rPr dirty="0" sz="2350" spc="-30">
                <a:latin typeface="Calibri"/>
                <a:cs typeface="Calibri"/>
              </a:rPr>
              <a:t> </a:t>
            </a:r>
            <a:r>
              <a:rPr dirty="0" sz="2350" spc="-110">
                <a:latin typeface="Calibri"/>
                <a:cs typeface="Calibri"/>
              </a:rPr>
              <a:t>un</a:t>
            </a:r>
            <a:r>
              <a:rPr dirty="0" sz="2350" spc="-80">
                <a:latin typeface="Calibri"/>
                <a:cs typeface="Calibri"/>
              </a:rPr>
              <a:t> </a:t>
            </a:r>
            <a:r>
              <a:rPr dirty="0" sz="2350" spc="-125">
                <a:latin typeface="Calibri"/>
                <a:cs typeface="Calibri"/>
              </a:rPr>
              <a:t>grafo</a:t>
            </a:r>
            <a:r>
              <a:rPr dirty="0" sz="2350" spc="-90">
                <a:latin typeface="Calibri"/>
                <a:cs typeface="Calibri"/>
              </a:rPr>
              <a:t> </a:t>
            </a:r>
            <a:r>
              <a:rPr dirty="0" sz="2350" spc="-25">
                <a:latin typeface="Calibri"/>
                <a:cs typeface="Calibri"/>
              </a:rPr>
              <a:t>de</a:t>
            </a:r>
            <a:endParaRPr sz="2350">
              <a:latin typeface="Calibri"/>
              <a:cs typeface="Calibri"/>
            </a:endParaRPr>
          </a:p>
          <a:p>
            <a:pPr marL="13970">
              <a:lnSpc>
                <a:spcPts val="2650"/>
              </a:lnSpc>
            </a:pPr>
            <a:r>
              <a:rPr dirty="0" sz="2300" spc="-100">
                <a:latin typeface="Calibri"/>
                <a:cs typeface="Calibri"/>
              </a:rPr>
              <a:t>conocimiento</a:t>
            </a:r>
            <a:r>
              <a:rPr dirty="0" sz="2300" spc="-40">
                <a:latin typeface="Calibri"/>
                <a:cs typeface="Calibri"/>
              </a:rPr>
              <a:t> </a:t>
            </a:r>
            <a:r>
              <a:rPr dirty="0" sz="2300" spc="-100">
                <a:latin typeface="Calibri"/>
                <a:cs typeface="Calibri"/>
              </a:rPr>
              <a:t>robusto,</a:t>
            </a:r>
            <a:r>
              <a:rPr dirty="0" sz="2300" spc="-5">
                <a:latin typeface="Calibri"/>
                <a:cs typeface="Calibri"/>
              </a:rPr>
              <a:t> </a:t>
            </a:r>
            <a:r>
              <a:rPr dirty="0" sz="2300" spc="-95">
                <a:latin typeface="Calibri"/>
                <a:cs typeface="Calibri"/>
              </a:rPr>
              <a:t>interoperable</a:t>
            </a:r>
            <a:r>
              <a:rPr dirty="0" sz="2300" spc="120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y</a:t>
            </a:r>
            <a:r>
              <a:rPr dirty="0" sz="2300" spc="-229">
                <a:latin typeface="Calibri"/>
                <a:cs typeface="Calibri"/>
              </a:rPr>
              <a:t> </a:t>
            </a:r>
            <a:r>
              <a:rPr dirty="0" sz="2300" spc="-10">
                <a:latin typeface="Calibri"/>
                <a:cs typeface="Calibri"/>
              </a:rPr>
              <a:t>escalable.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4327872" y="9075560"/>
            <a:ext cx="2475865" cy="2374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50" spc="-65">
                <a:solidFill>
                  <a:srgbClr val="1A1A1A"/>
                </a:solidFill>
                <a:latin typeface="Cambria"/>
                <a:cs typeface="Cambria"/>
              </a:rPr>
              <a:t>PROF!0.2624-</a:t>
            </a:r>
            <a:r>
              <a:rPr dirty="0" sz="1350" spc="-70">
                <a:solidFill>
                  <a:srgbClr val="1A1A1A"/>
                </a:solidFill>
                <a:latin typeface="Cambria"/>
                <a:cs typeface="Cambria"/>
              </a:rPr>
              <a:t>X€-601</a:t>
            </a:r>
            <a:r>
              <a:rPr dirty="0" sz="1350" spc="-100">
                <a:solidFill>
                  <a:srgbClr val="1A1A1A"/>
                </a:solidFill>
                <a:latin typeface="Cambria"/>
                <a:cs typeface="Cambria"/>
              </a:rPr>
              <a:t> </a:t>
            </a:r>
            <a:r>
              <a:rPr dirty="0" sz="1350">
                <a:solidFill>
                  <a:srgbClr val="424242"/>
                </a:solidFill>
                <a:latin typeface="Cambria"/>
                <a:cs typeface="Cambria"/>
              </a:rPr>
              <a:t>-</a:t>
            </a:r>
            <a:r>
              <a:rPr dirty="0" sz="1350" spc="30">
                <a:solidFill>
                  <a:srgbClr val="424242"/>
                </a:solidFill>
                <a:latin typeface="Cambria"/>
                <a:cs typeface="Cambria"/>
              </a:rPr>
              <a:t> </a:t>
            </a:r>
            <a:r>
              <a:rPr dirty="0" sz="1350" spc="-75">
                <a:solidFill>
                  <a:srgbClr val="111111"/>
                </a:solidFill>
                <a:latin typeface="Cambria"/>
                <a:cs typeface="Cambria"/>
              </a:rPr>
              <a:t>SHEEF9</a:t>
            </a:r>
            <a:r>
              <a:rPr dirty="0" sz="1350" spc="-4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dirty="0" sz="1350" spc="-75">
                <a:solidFill>
                  <a:srgbClr val="212121"/>
                </a:solidFill>
                <a:latin typeface="Cambria"/>
                <a:cs typeface="Cambria"/>
              </a:rPr>
              <a:t>OF</a:t>
            </a:r>
            <a:r>
              <a:rPr dirty="0" sz="1350" spc="-7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1350">
                <a:solidFill>
                  <a:srgbClr val="343434"/>
                </a:solidFill>
                <a:latin typeface="Cambria"/>
                <a:cs typeface="Cambria"/>
              </a:rPr>
              <a:t>3</a:t>
            </a:r>
            <a:endParaRPr sz="13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243416" y="397932"/>
            <a:ext cx="0" cy="9017000"/>
          </a:xfrm>
          <a:custGeom>
            <a:avLst/>
            <a:gdLst/>
            <a:ahLst/>
            <a:cxnLst/>
            <a:rect l="l" t="t" r="r" b="b"/>
            <a:pathLst>
              <a:path w="0" h="9017000">
                <a:moveTo>
                  <a:pt x="0" y="9017000"/>
                </a:moveTo>
                <a:lnTo>
                  <a:pt x="0" y="0"/>
                </a:lnTo>
              </a:path>
            </a:pathLst>
          </a:custGeom>
          <a:ln w="12700">
            <a:solidFill>
              <a:srgbClr val="3B4B5B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237066" y="397932"/>
            <a:ext cx="16941800" cy="9017000"/>
            <a:chOff x="237066" y="397932"/>
            <a:chExt cx="16941800" cy="9017000"/>
          </a:xfrm>
        </p:grpSpPr>
        <p:sp>
          <p:nvSpPr>
            <p:cNvPr id="4" name="object 4" descr=""/>
            <p:cNvSpPr/>
            <p:nvPr/>
          </p:nvSpPr>
          <p:spPr>
            <a:xfrm>
              <a:off x="17172521" y="397932"/>
              <a:ext cx="0" cy="9017000"/>
            </a:xfrm>
            <a:custGeom>
              <a:avLst/>
              <a:gdLst/>
              <a:ahLst/>
              <a:cxnLst/>
              <a:rect l="l" t="t" r="r" b="b"/>
              <a:pathLst>
                <a:path w="0" h="9017000">
                  <a:moveTo>
                    <a:pt x="0" y="90170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3B4B5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237066" y="404282"/>
              <a:ext cx="16941800" cy="0"/>
            </a:xfrm>
            <a:custGeom>
              <a:avLst/>
              <a:gdLst/>
              <a:ahLst/>
              <a:cxnLst/>
              <a:rect l="l" t="t" r="r" b="b"/>
              <a:pathLst>
                <a:path w="16941800" h="0">
                  <a:moveTo>
                    <a:pt x="0" y="0"/>
                  </a:moveTo>
                  <a:lnTo>
                    <a:pt x="16941800" y="0"/>
                  </a:lnTo>
                </a:path>
              </a:pathLst>
            </a:custGeom>
            <a:ln w="12700">
              <a:solidFill>
                <a:srgbClr val="3B4B5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237066" y="9408582"/>
              <a:ext cx="16941800" cy="0"/>
            </a:xfrm>
            <a:custGeom>
              <a:avLst/>
              <a:gdLst/>
              <a:ahLst/>
              <a:cxnLst/>
              <a:rect l="l" t="t" r="r" b="b"/>
              <a:pathLst>
                <a:path w="16941800" h="0">
                  <a:moveTo>
                    <a:pt x="0" y="0"/>
                  </a:moveTo>
                  <a:lnTo>
                    <a:pt x="16941800" y="0"/>
                  </a:lnTo>
                </a:path>
              </a:pathLst>
            </a:custGeom>
            <a:ln w="12700">
              <a:solidFill>
                <a:srgbClr val="3B4B5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335616" y="5587999"/>
              <a:ext cx="0" cy="3552190"/>
            </a:xfrm>
            <a:custGeom>
              <a:avLst/>
              <a:gdLst/>
              <a:ahLst/>
              <a:cxnLst/>
              <a:rect l="l" t="t" r="r" b="b"/>
              <a:pathLst>
                <a:path w="0" h="3552190">
                  <a:moveTo>
                    <a:pt x="0" y="3551766"/>
                  </a:moveTo>
                  <a:lnTo>
                    <a:pt x="0" y="0"/>
                  </a:lnTo>
                </a:path>
              </a:pathLst>
            </a:custGeom>
            <a:ln w="21166">
              <a:solidFill>
                <a:srgbClr val="2F486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8587315" y="5587999"/>
              <a:ext cx="0" cy="1494790"/>
            </a:xfrm>
            <a:custGeom>
              <a:avLst/>
              <a:gdLst/>
              <a:ahLst/>
              <a:cxnLst/>
              <a:rect l="l" t="t" r="r" b="b"/>
              <a:pathLst>
                <a:path w="0" h="1494790">
                  <a:moveTo>
                    <a:pt x="0" y="1494366"/>
                  </a:moveTo>
                  <a:lnTo>
                    <a:pt x="0" y="0"/>
                  </a:lnTo>
                </a:path>
              </a:pathLst>
            </a:custGeom>
            <a:ln w="21166">
              <a:solidFill>
                <a:srgbClr val="2F486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325032" y="5598583"/>
              <a:ext cx="7273290" cy="0"/>
            </a:xfrm>
            <a:custGeom>
              <a:avLst/>
              <a:gdLst/>
              <a:ahLst/>
              <a:cxnLst/>
              <a:rect l="l" t="t" r="r" b="b"/>
              <a:pathLst>
                <a:path w="7273290" h="0">
                  <a:moveTo>
                    <a:pt x="0" y="0"/>
                  </a:moveTo>
                  <a:lnTo>
                    <a:pt x="7272867" y="0"/>
                  </a:lnTo>
                </a:path>
              </a:pathLst>
            </a:custGeom>
            <a:ln w="21166">
              <a:solidFill>
                <a:srgbClr val="2F486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325032" y="9129183"/>
              <a:ext cx="7273290" cy="0"/>
            </a:xfrm>
            <a:custGeom>
              <a:avLst/>
              <a:gdLst/>
              <a:ahLst/>
              <a:cxnLst/>
              <a:rect l="l" t="t" r="r" b="b"/>
              <a:pathLst>
                <a:path w="7273290" h="0">
                  <a:moveTo>
                    <a:pt x="0" y="0"/>
                  </a:moveTo>
                  <a:lnTo>
                    <a:pt x="7272867" y="0"/>
                  </a:lnTo>
                </a:path>
              </a:pathLst>
            </a:custGeom>
            <a:ln w="21166">
              <a:solidFill>
                <a:srgbClr val="2F486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446616" y="516467"/>
              <a:ext cx="0" cy="8843645"/>
            </a:xfrm>
            <a:custGeom>
              <a:avLst/>
              <a:gdLst/>
              <a:ahLst/>
              <a:cxnLst/>
              <a:rect l="l" t="t" r="r" b="b"/>
              <a:pathLst>
                <a:path w="0" h="8843645">
                  <a:moveTo>
                    <a:pt x="0" y="88434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57647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8612716" y="5609167"/>
              <a:ext cx="0" cy="3458845"/>
            </a:xfrm>
            <a:custGeom>
              <a:avLst/>
              <a:gdLst/>
              <a:ahLst/>
              <a:cxnLst/>
              <a:rect l="l" t="t" r="r" b="b"/>
              <a:pathLst>
                <a:path w="0" h="3458845">
                  <a:moveTo>
                    <a:pt x="0" y="34586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57647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7045516" y="516467"/>
              <a:ext cx="0" cy="8843645"/>
            </a:xfrm>
            <a:custGeom>
              <a:avLst/>
              <a:gdLst/>
              <a:ahLst/>
              <a:cxnLst/>
              <a:rect l="l" t="t" r="r" b="b"/>
              <a:pathLst>
                <a:path w="0" h="8843645">
                  <a:moveTo>
                    <a:pt x="0" y="88434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57647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3843000" y="9078383"/>
              <a:ext cx="3217545" cy="0"/>
            </a:xfrm>
            <a:custGeom>
              <a:avLst/>
              <a:gdLst/>
              <a:ahLst/>
              <a:cxnLst/>
              <a:rect l="l" t="t" r="r" b="b"/>
              <a:pathLst>
                <a:path w="3217544" h="0">
                  <a:moveTo>
                    <a:pt x="0" y="0"/>
                  </a:moveTo>
                  <a:lnTo>
                    <a:pt x="3217333" y="0"/>
                  </a:lnTo>
                </a:path>
              </a:pathLst>
            </a:custGeom>
            <a:ln w="4233">
              <a:solidFill>
                <a:srgbClr val="57647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3855700" y="8570382"/>
              <a:ext cx="3204845" cy="0"/>
            </a:xfrm>
            <a:custGeom>
              <a:avLst/>
              <a:gdLst/>
              <a:ahLst/>
              <a:cxnLst/>
              <a:rect l="l" t="t" r="r" b="b"/>
              <a:pathLst>
                <a:path w="3204844" h="0">
                  <a:moveTo>
                    <a:pt x="0" y="0"/>
                  </a:moveTo>
                  <a:lnTo>
                    <a:pt x="3204633" y="0"/>
                  </a:lnTo>
                </a:path>
              </a:pathLst>
            </a:custGeom>
            <a:ln w="4233">
              <a:solidFill>
                <a:srgbClr val="57647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2242799" y="8252883"/>
              <a:ext cx="4817745" cy="0"/>
            </a:xfrm>
            <a:custGeom>
              <a:avLst/>
              <a:gdLst/>
              <a:ahLst/>
              <a:cxnLst/>
              <a:rect l="l" t="t" r="r" b="b"/>
              <a:pathLst>
                <a:path w="4817744" h="0">
                  <a:moveTo>
                    <a:pt x="0" y="0"/>
                  </a:moveTo>
                  <a:lnTo>
                    <a:pt x="4817533" y="0"/>
                  </a:lnTo>
                </a:path>
              </a:pathLst>
            </a:custGeom>
            <a:ln w="4233">
              <a:solidFill>
                <a:srgbClr val="57647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431800" y="531283"/>
              <a:ext cx="16628744" cy="0"/>
            </a:xfrm>
            <a:custGeom>
              <a:avLst/>
              <a:gdLst/>
              <a:ahLst/>
              <a:cxnLst/>
              <a:rect l="l" t="t" r="r" b="b"/>
              <a:pathLst>
                <a:path w="16628744" h="0">
                  <a:moveTo>
                    <a:pt x="0" y="0"/>
                  </a:moveTo>
                  <a:lnTo>
                    <a:pt x="16628534" y="0"/>
                  </a:lnTo>
                </a:path>
              </a:pathLst>
            </a:custGeom>
            <a:ln w="4233">
              <a:solidFill>
                <a:srgbClr val="57647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998700" y="9118599"/>
              <a:ext cx="1587500" cy="254000"/>
            </a:xfrm>
            <a:prstGeom prst="rect">
              <a:avLst/>
            </a:prstGeom>
          </p:spPr>
        </p:pic>
      </p:grp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1309300" y="819149"/>
            <a:ext cx="14793594" cy="7874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00">
                <a:solidFill>
                  <a:srgbClr val="313131"/>
                </a:solidFill>
              </a:rPr>
              <a:t>Construyendo</a:t>
            </a:r>
            <a:r>
              <a:rPr dirty="0" sz="5000" spc="240">
                <a:solidFill>
                  <a:srgbClr val="313131"/>
                </a:solidFill>
              </a:rPr>
              <a:t> </a:t>
            </a:r>
            <a:r>
              <a:rPr dirty="0" sz="5000" spc="145">
                <a:solidFill>
                  <a:srgbClr val="363636"/>
                </a:solidFill>
              </a:rPr>
              <a:t>la</a:t>
            </a:r>
            <a:r>
              <a:rPr dirty="0" sz="5000" spc="-525">
                <a:solidFill>
                  <a:srgbClr val="363636"/>
                </a:solidFill>
              </a:rPr>
              <a:t> </a:t>
            </a:r>
            <a:r>
              <a:rPr dirty="0" sz="5000" spc="60">
                <a:solidFill>
                  <a:srgbClr val="333333"/>
                </a:solidFill>
              </a:rPr>
              <a:t>Jerarquía</a:t>
            </a:r>
            <a:r>
              <a:rPr dirty="0" sz="5000" spc="225">
                <a:solidFill>
                  <a:srgbClr val="333333"/>
                </a:solidFill>
              </a:rPr>
              <a:t> </a:t>
            </a:r>
            <a:r>
              <a:rPr dirty="0" sz="5000">
                <a:solidFill>
                  <a:srgbClr val="333333"/>
                </a:solidFill>
              </a:rPr>
              <a:t>de</a:t>
            </a:r>
            <a:r>
              <a:rPr dirty="0" sz="5000" spc="-150">
                <a:solidFill>
                  <a:srgbClr val="333333"/>
                </a:solidFill>
              </a:rPr>
              <a:t> </a:t>
            </a:r>
            <a:r>
              <a:rPr dirty="0" sz="5000"/>
              <a:t>Géneros</a:t>
            </a:r>
            <a:r>
              <a:rPr dirty="0" sz="5000" spc="155"/>
              <a:t> </a:t>
            </a:r>
            <a:r>
              <a:rPr dirty="0" sz="5000">
                <a:solidFill>
                  <a:srgbClr val="333333"/>
                </a:solidFill>
              </a:rPr>
              <a:t>desde</a:t>
            </a:r>
            <a:r>
              <a:rPr dirty="0" sz="5000" spc="110">
                <a:solidFill>
                  <a:srgbClr val="333333"/>
                </a:solidFill>
              </a:rPr>
              <a:t> </a:t>
            </a:r>
            <a:r>
              <a:rPr dirty="0" sz="5000" spc="-10">
                <a:solidFill>
                  <a:srgbClr val="313131"/>
                </a:solidFill>
              </a:rPr>
              <a:t>Wikidata</a:t>
            </a:r>
            <a:endParaRPr sz="5000"/>
          </a:p>
        </p:txBody>
      </p:sp>
      <p:sp>
        <p:nvSpPr>
          <p:cNvPr id="20" name="object 20" descr=""/>
          <p:cNvSpPr txBox="1"/>
          <p:nvPr/>
        </p:nvSpPr>
        <p:spPr>
          <a:xfrm>
            <a:off x="9819646" y="2510366"/>
            <a:ext cx="1064895" cy="5334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300" spc="-145">
                <a:latin typeface="Calibri"/>
                <a:cs typeface="Calibri"/>
              </a:rPr>
              <a:t>Nivel</a:t>
            </a:r>
            <a:r>
              <a:rPr dirty="0" sz="3300" spc="-180">
                <a:latin typeface="Calibri"/>
                <a:cs typeface="Calibri"/>
              </a:rPr>
              <a:t> </a:t>
            </a:r>
            <a:r>
              <a:rPr dirty="0" sz="3300" spc="-70">
                <a:latin typeface="Calibri"/>
                <a:cs typeface="Calibri"/>
              </a:rPr>
              <a:t>1</a:t>
            </a:r>
            <a:endParaRPr sz="3300">
              <a:latin typeface="Calibri"/>
              <a:cs typeface="Calibri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11165416" y="2283883"/>
            <a:ext cx="3238500" cy="1066800"/>
          </a:xfrm>
          <a:prstGeom prst="rect">
            <a:avLst/>
          </a:prstGeom>
          <a:ln w="21166">
            <a:solidFill>
              <a:srgbClr val="2F4860"/>
            </a:solidFill>
          </a:ln>
        </p:spPr>
        <p:txBody>
          <a:bodyPr wrap="square" lIns="0" tIns="243204" rIns="0" bIns="0" rtlCol="0" vert="horz">
            <a:spAutoFit/>
          </a:bodyPr>
          <a:lstStyle/>
          <a:p>
            <a:pPr marL="347345">
              <a:lnSpc>
                <a:spcPct val="100000"/>
              </a:lnSpc>
              <a:spcBef>
                <a:spcPts val="1914"/>
              </a:spcBef>
            </a:pPr>
            <a:r>
              <a:rPr dirty="0" sz="3300" spc="-245">
                <a:latin typeface="Calibri"/>
                <a:cs typeface="Calibri"/>
              </a:rPr>
              <a:t>Género</a:t>
            </a:r>
            <a:r>
              <a:rPr dirty="0" sz="3300" spc="20">
                <a:latin typeface="Calibri"/>
                <a:cs typeface="Calibri"/>
              </a:rPr>
              <a:t> </a:t>
            </a:r>
            <a:r>
              <a:rPr dirty="0" sz="3300" spc="-60">
                <a:latin typeface="Calibri"/>
                <a:cs typeface="Calibri"/>
              </a:rPr>
              <a:t>narrativo</a:t>
            </a:r>
            <a:endParaRPr sz="3300">
              <a:latin typeface="Calibri"/>
              <a:cs typeface="Calibri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1350040" y="2510366"/>
            <a:ext cx="7181215" cy="2719070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L="12700" marR="5080" indent="11430">
              <a:lnSpc>
                <a:spcPct val="99200"/>
              </a:lnSpc>
              <a:spcBef>
                <a:spcPts val="165"/>
              </a:spcBef>
            </a:pPr>
            <a:r>
              <a:rPr dirty="0" sz="3300">
                <a:latin typeface="Calibri"/>
                <a:cs typeface="Calibri"/>
              </a:rPr>
              <a:t>Utilizamos</a:t>
            </a:r>
            <a:r>
              <a:rPr dirty="0" sz="3300" spc="-75">
                <a:latin typeface="Calibri"/>
                <a:cs typeface="Calibri"/>
              </a:rPr>
              <a:t> </a:t>
            </a:r>
            <a:r>
              <a:rPr dirty="0" sz="3300" spc="-55">
                <a:latin typeface="Calibri"/>
                <a:cs typeface="Calibri"/>
              </a:rPr>
              <a:t>Wikidata</a:t>
            </a:r>
            <a:r>
              <a:rPr dirty="0" sz="3300" spc="-100">
                <a:latin typeface="Calibri"/>
                <a:cs typeface="Calibri"/>
              </a:rPr>
              <a:t> </a:t>
            </a:r>
            <a:r>
              <a:rPr dirty="0" sz="3300">
                <a:latin typeface="Calibri"/>
                <a:cs typeface="Calibri"/>
              </a:rPr>
              <a:t>como</a:t>
            </a:r>
            <a:r>
              <a:rPr dirty="0" sz="3300" spc="-130">
                <a:latin typeface="Calibri"/>
                <a:cs typeface="Calibri"/>
              </a:rPr>
              <a:t> </a:t>
            </a:r>
            <a:r>
              <a:rPr dirty="0" sz="3300" spc="-70">
                <a:latin typeface="Calibri"/>
                <a:cs typeface="Calibri"/>
              </a:rPr>
              <a:t>fuente</a:t>
            </a:r>
            <a:r>
              <a:rPr dirty="0" sz="3300" spc="-120">
                <a:latin typeface="Calibri"/>
                <a:cs typeface="Calibri"/>
              </a:rPr>
              <a:t> </a:t>
            </a:r>
            <a:r>
              <a:rPr dirty="0" sz="3300" spc="-10">
                <a:latin typeface="Calibri"/>
                <a:cs typeface="Calibri"/>
              </a:rPr>
              <a:t>principal </a:t>
            </a:r>
            <a:r>
              <a:rPr dirty="0" sz="3600" spc="-140">
                <a:latin typeface="Calibri"/>
                <a:cs typeface="Calibri"/>
              </a:rPr>
              <a:t>para</a:t>
            </a:r>
            <a:r>
              <a:rPr dirty="0" sz="3600" spc="-204">
                <a:latin typeface="Calibri"/>
                <a:cs typeface="Calibri"/>
              </a:rPr>
              <a:t> </a:t>
            </a:r>
            <a:r>
              <a:rPr dirty="0" sz="3600" spc="-40">
                <a:latin typeface="Calibri"/>
                <a:cs typeface="Calibri"/>
              </a:rPr>
              <a:t>la</a:t>
            </a:r>
            <a:r>
              <a:rPr dirty="0" sz="3600" spc="-190">
                <a:latin typeface="Calibri"/>
                <a:cs typeface="Calibri"/>
              </a:rPr>
              <a:t> </a:t>
            </a:r>
            <a:r>
              <a:rPr dirty="0" sz="3600" spc="-160">
                <a:latin typeface="Calibri"/>
                <a:cs typeface="Calibri"/>
              </a:rPr>
              <a:t>estructura</a:t>
            </a:r>
            <a:r>
              <a:rPr dirty="0" sz="3600" spc="15">
                <a:latin typeface="Calibri"/>
                <a:cs typeface="Calibri"/>
              </a:rPr>
              <a:t> </a:t>
            </a:r>
            <a:r>
              <a:rPr dirty="0" sz="3600" spc="-165">
                <a:latin typeface="Calibri"/>
                <a:cs typeface="Calibri"/>
              </a:rPr>
              <a:t>taxonómica.</a:t>
            </a:r>
            <a:r>
              <a:rPr dirty="0" sz="3600" spc="50">
                <a:latin typeface="Calibri"/>
                <a:cs typeface="Calibri"/>
              </a:rPr>
              <a:t> </a:t>
            </a:r>
            <a:r>
              <a:rPr dirty="0" sz="3600" spc="-100">
                <a:latin typeface="Calibri"/>
                <a:cs typeface="Calibri"/>
              </a:rPr>
              <a:t>Mediante </a:t>
            </a:r>
            <a:r>
              <a:rPr dirty="0" sz="3650" spc="-130">
                <a:latin typeface="Calibri"/>
                <a:cs typeface="Calibri"/>
              </a:rPr>
              <a:t>consultas</a:t>
            </a:r>
            <a:r>
              <a:rPr dirty="0" sz="3650" spc="40">
                <a:latin typeface="Calibri"/>
                <a:cs typeface="Calibri"/>
              </a:rPr>
              <a:t> </a:t>
            </a:r>
            <a:r>
              <a:rPr dirty="0" sz="3650" spc="-75">
                <a:latin typeface="Calibri"/>
                <a:cs typeface="Calibri"/>
              </a:rPr>
              <a:t>SPAR§L,</a:t>
            </a:r>
            <a:r>
              <a:rPr dirty="0" sz="3650" spc="-130">
                <a:latin typeface="Calibri"/>
                <a:cs typeface="Calibri"/>
              </a:rPr>
              <a:t> </a:t>
            </a:r>
            <a:r>
              <a:rPr dirty="0" sz="3650" spc="-175">
                <a:latin typeface="Calibri"/>
                <a:cs typeface="Calibri"/>
              </a:rPr>
              <a:t>extrajimos</a:t>
            </a:r>
            <a:r>
              <a:rPr dirty="0" sz="3650" spc="20">
                <a:latin typeface="Calibri"/>
                <a:cs typeface="Calibri"/>
              </a:rPr>
              <a:t> </a:t>
            </a:r>
            <a:r>
              <a:rPr dirty="0" sz="3650">
                <a:latin typeface="Calibri"/>
                <a:cs typeface="Calibri"/>
              </a:rPr>
              <a:t>la</a:t>
            </a:r>
            <a:r>
              <a:rPr dirty="0" sz="3650" spc="-285">
                <a:latin typeface="Calibri"/>
                <a:cs typeface="Calibri"/>
              </a:rPr>
              <a:t> </a:t>
            </a:r>
            <a:r>
              <a:rPr dirty="0" sz="3650" spc="-80">
                <a:latin typeface="Calibri"/>
                <a:cs typeface="Calibri"/>
              </a:rPr>
              <a:t>jerarquía </a:t>
            </a:r>
            <a:r>
              <a:rPr dirty="0" sz="3600" spc="-135">
                <a:latin typeface="Calibri"/>
                <a:cs typeface="Calibri"/>
              </a:rPr>
              <a:t>completa</a:t>
            </a:r>
            <a:r>
              <a:rPr dirty="0" sz="3600" spc="-55">
                <a:latin typeface="Calibri"/>
                <a:cs typeface="Calibri"/>
              </a:rPr>
              <a:t> </a:t>
            </a:r>
            <a:r>
              <a:rPr dirty="0" sz="3600" spc="-140">
                <a:latin typeface="Calibri"/>
                <a:cs typeface="Calibri"/>
              </a:rPr>
              <a:t>partiendo</a:t>
            </a:r>
            <a:r>
              <a:rPr dirty="0" sz="3600" spc="45">
                <a:latin typeface="Calibri"/>
                <a:cs typeface="Calibri"/>
              </a:rPr>
              <a:t> </a:t>
            </a:r>
            <a:r>
              <a:rPr dirty="0" sz="3600" spc="-120">
                <a:latin typeface="Calibri"/>
                <a:cs typeface="Calibri"/>
              </a:rPr>
              <a:t>de</a:t>
            </a:r>
            <a:r>
              <a:rPr dirty="0" sz="3600" spc="-185">
                <a:latin typeface="Calibri"/>
                <a:cs typeface="Calibri"/>
              </a:rPr>
              <a:t> </a:t>
            </a:r>
            <a:r>
              <a:rPr dirty="0" sz="3600" spc="-40">
                <a:latin typeface="Calibri"/>
                <a:cs typeface="Calibri"/>
              </a:rPr>
              <a:t>la</a:t>
            </a:r>
            <a:r>
              <a:rPr dirty="0" sz="3600" spc="-190">
                <a:latin typeface="Calibri"/>
                <a:cs typeface="Calibri"/>
              </a:rPr>
              <a:t> </a:t>
            </a:r>
            <a:r>
              <a:rPr dirty="0" sz="3600" spc="-10">
                <a:latin typeface="Calibri"/>
                <a:cs typeface="Calibri"/>
              </a:rPr>
              <a:t>entidad</a:t>
            </a:r>
            <a:endParaRPr sz="3600">
              <a:latin typeface="Calibri"/>
              <a:cs typeface="Calibri"/>
            </a:endParaRPr>
          </a:p>
          <a:p>
            <a:pPr marL="37465">
              <a:lnSpc>
                <a:spcPts val="4300"/>
              </a:lnSpc>
            </a:pPr>
            <a:r>
              <a:rPr dirty="0" sz="3600" spc="-200">
                <a:latin typeface="Calibri"/>
                <a:cs typeface="Calibri"/>
              </a:rPr>
              <a:t>’género</a:t>
            </a:r>
            <a:r>
              <a:rPr dirty="0" sz="3600" spc="10">
                <a:latin typeface="Calibri"/>
                <a:cs typeface="Calibri"/>
              </a:rPr>
              <a:t> </a:t>
            </a:r>
            <a:r>
              <a:rPr dirty="0" sz="3600" spc="-135">
                <a:latin typeface="Calibri"/>
                <a:cs typeface="Calibri"/>
              </a:rPr>
              <a:t>narrativo’</a:t>
            </a:r>
            <a:r>
              <a:rPr dirty="0" sz="3600" spc="-5">
                <a:latin typeface="Calibri"/>
                <a:cs typeface="Calibri"/>
              </a:rPr>
              <a:t> </a:t>
            </a:r>
            <a:r>
              <a:rPr dirty="0" sz="3600" spc="-55">
                <a:latin typeface="Calibri"/>
                <a:cs typeface="Calibri"/>
              </a:rPr>
              <a:t>(§1318295).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1489942" y="5689247"/>
            <a:ext cx="6960870" cy="3246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034" marR="5080" indent="-13335">
              <a:lnSpc>
                <a:spcPts val="4250"/>
              </a:lnSpc>
              <a:spcBef>
                <a:spcPts val="100"/>
              </a:spcBef>
            </a:pPr>
            <a:r>
              <a:rPr dirty="0" sz="3400" spc="-75">
                <a:latin typeface="Calibri"/>
                <a:cs typeface="Calibri"/>
              </a:rPr>
              <a:t>**Relación</a:t>
            </a:r>
            <a:r>
              <a:rPr dirty="0" sz="3400" spc="-120">
                <a:latin typeface="Calibri"/>
                <a:cs typeface="Calibri"/>
              </a:rPr>
              <a:t> </a:t>
            </a:r>
            <a:r>
              <a:rPr dirty="0" sz="3400" spc="-140">
                <a:latin typeface="Calibri"/>
                <a:cs typeface="Calibri"/>
              </a:rPr>
              <a:t>CCave**:‘P279</a:t>
            </a:r>
            <a:r>
              <a:rPr dirty="0" sz="3400" spc="10">
                <a:latin typeface="Calibri"/>
                <a:cs typeface="Calibri"/>
              </a:rPr>
              <a:t> </a:t>
            </a:r>
            <a:r>
              <a:rPr dirty="0" sz="3400" spc="-65">
                <a:latin typeface="Calibri"/>
                <a:cs typeface="Calibri"/>
              </a:rPr>
              <a:t>(‘subctase</a:t>
            </a:r>
            <a:r>
              <a:rPr dirty="0" sz="3400" spc="-110">
                <a:latin typeface="Calibri"/>
                <a:cs typeface="Calibri"/>
              </a:rPr>
              <a:t> </a:t>
            </a:r>
            <a:r>
              <a:rPr dirty="0" sz="3400" spc="-145">
                <a:latin typeface="Calibri"/>
                <a:cs typeface="Calibri"/>
              </a:rPr>
              <a:t>de’)” </a:t>
            </a:r>
            <a:r>
              <a:rPr dirty="0" sz="3400" spc="-70">
                <a:latin typeface="Calibri"/>
                <a:cs typeface="Calibri"/>
              </a:rPr>
              <a:t>fue</a:t>
            </a:r>
            <a:r>
              <a:rPr dirty="0" sz="3400" spc="-190">
                <a:latin typeface="Calibri"/>
                <a:cs typeface="Calibri"/>
              </a:rPr>
              <a:t> </a:t>
            </a:r>
            <a:r>
              <a:rPr dirty="0" sz="3400" spc="-10">
                <a:latin typeface="Calibri"/>
                <a:cs typeface="Calibri"/>
              </a:rPr>
              <a:t>utilizada</a:t>
            </a:r>
            <a:r>
              <a:rPr dirty="0" sz="3400" spc="-185">
                <a:latin typeface="Calibri"/>
                <a:cs typeface="Calibri"/>
              </a:rPr>
              <a:t> </a:t>
            </a:r>
            <a:r>
              <a:rPr dirty="0" sz="3400" spc="-45">
                <a:latin typeface="Calibri"/>
                <a:cs typeface="Calibri"/>
              </a:rPr>
              <a:t>para</a:t>
            </a:r>
            <a:r>
              <a:rPr dirty="0" sz="3400" spc="-145">
                <a:latin typeface="Calibri"/>
                <a:cs typeface="Calibri"/>
              </a:rPr>
              <a:t> </a:t>
            </a:r>
            <a:r>
              <a:rPr dirty="0" sz="3400" spc="-45">
                <a:latin typeface="Calibri"/>
                <a:cs typeface="Calibri"/>
              </a:rPr>
              <a:t>construir</a:t>
            </a:r>
            <a:r>
              <a:rPr dirty="0" sz="3400" spc="-40">
                <a:latin typeface="Calibri"/>
                <a:cs typeface="Calibri"/>
              </a:rPr>
              <a:t> </a:t>
            </a:r>
            <a:r>
              <a:rPr dirty="0" sz="3400" spc="55">
                <a:latin typeface="Calibri"/>
                <a:cs typeface="Calibri"/>
              </a:rPr>
              <a:t>el</a:t>
            </a:r>
            <a:r>
              <a:rPr dirty="0" sz="3400" spc="-365">
                <a:latin typeface="Calibri"/>
                <a:cs typeface="Calibri"/>
              </a:rPr>
              <a:t> </a:t>
            </a:r>
            <a:r>
              <a:rPr dirty="0" sz="3400" spc="-10">
                <a:latin typeface="Calibri"/>
                <a:cs typeface="Calibri"/>
              </a:rPr>
              <a:t>árbol.</a:t>
            </a:r>
            <a:endParaRPr sz="3400">
              <a:latin typeface="Calibri"/>
              <a:cs typeface="Calibri"/>
            </a:endParaRPr>
          </a:p>
          <a:p>
            <a:pPr marL="25400" marR="1040130" indent="-13335">
              <a:lnSpc>
                <a:spcPts val="4250"/>
              </a:lnSpc>
            </a:pPr>
            <a:r>
              <a:rPr dirty="0" sz="3450" spc="-105">
                <a:latin typeface="Calibri"/>
                <a:cs typeface="Calibri"/>
              </a:rPr>
              <a:t>*“Profundidad*”:</a:t>
            </a:r>
            <a:r>
              <a:rPr dirty="0" sz="3450" spc="-225">
                <a:latin typeface="Calibri"/>
                <a:cs typeface="Calibri"/>
              </a:rPr>
              <a:t> </a:t>
            </a:r>
            <a:r>
              <a:rPr dirty="0" sz="3450">
                <a:latin typeface="Calibri"/>
                <a:cs typeface="Calibri"/>
              </a:rPr>
              <a:t>Se</a:t>
            </a:r>
            <a:r>
              <a:rPr dirty="0" sz="3450" spc="-145">
                <a:latin typeface="Calibri"/>
                <a:cs typeface="Calibri"/>
              </a:rPr>
              <a:t> </a:t>
            </a:r>
            <a:r>
              <a:rPr dirty="0" sz="3450" spc="-105">
                <a:latin typeface="Calibri"/>
                <a:cs typeface="Calibri"/>
              </a:rPr>
              <a:t>capturó</a:t>
            </a:r>
            <a:r>
              <a:rPr dirty="0" sz="3450" spc="10">
                <a:latin typeface="Calibri"/>
                <a:cs typeface="Calibri"/>
              </a:rPr>
              <a:t> </a:t>
            </a:r>
            <a:r>
              <a:rPr dirty="0" sz="3450" spc="-25">
                <a:latin typeface="Calibri"/>
                <a:cs typeface="Calibri"/>
              </a:rPr>
              <a:t>una </a:t>
            </a:r>
            <a:r>
              <a:rPr dirty="0" sz="3600" spc="-160">
                <a:latin typeface="Calibri"/>
                <a:cs typeface="Calibri"/>
              </a:rPr>
              <a:t>estructura</a:t>
            </a:r>
            <a:r>
              <a:rPr dirty="0" sz="3600" spc="-60">
                <a:latin typeface="Calibri"/>
                <a:cs typeface="Calibri"/>
              </a:rPr>
              <a:t> </a:t>
            </a:r>
            <a:r>
              <a:rPr dirty="0" sz="3600" spc="-120">
                <a:latin typeface="Calibri"/>
                <a:cs typeface="Calibri"/>
              </a:rPr>
              <a:t>de</a:t>
            </a:r>
            <a:r>
              <a:rPr dirty="0" sz="3600" spc="-245">
                <a:latin typeface="Calibri"/>
                <a:cs typeface="Calibri"/>
              </a:rPr>
              <a:t> </a:t>
            </a:r>
            <a:r>
              <a:rPr dirty="0" sz="3600" spc="-165">
                <a:latin typeface="Calibri"/>
                <a:cs typeface="Calibri"/>
              </a:rPr>
              <a:t>tres</a:t>
            </a:r>
            <a:r>
              <a:rPr dirty="0" sz="3600" spc="-35">
                <a:latin typeface="Calibri"/>
                <a:cs typeface="Calibri"/>
              </a:rPr>
              <a:t> </a:t>
            </a:r>
            <a:r>
              <a:rPr dirty="0" sz="3600" spc="-140">
                <a:latin typeface="Calibri"/>
                <a:cs typeface="Calibri"/>
              </a:rPr>
              <a:t>niveles</a:t>
            </a:r>
            <a:r>
              <a:rPr dirty="0" sz="3600" spc="-45">
                <a:latin typeface="Calibri"/>
                <a:cs typeface="Calibri"/>
              </a:rPr>
              <a:t> </a:t>
            </a:r>
            <a:r>
              <a:rPr dirty="0" sz="3600" spc="-25">
                <a:latin typeface="Calibri"/>
                <a:cs typeface="Calibri"/>
              </a:rPr>
              <a:t>de </a:t>
            </a:r>
            <a:r>
              <a:rPr dirty="0" sz="3400" spc="-45">
                <a:latin typeface="Calibri"/>
                <a:cs typeface="Calibri"/>
              </a:rPr>
              <a:t>profundidad</a:t>
            </a:r>
            <a:r>
              <a:rPr dirty="0" sz="3400" spc="-5">
                <a:latin typeface="Calibri"/>
                <a:cs typeface="Calibri"/>
              </a:rPr>
              <a:t> </a:t>
            </a:r>
            <a:r>
              <a:rPr dirty="0" sz="3400" spc="-70">
                <a:latin typeface="Calibri"/>
                <a:cs typeface="Calibri"/>
              </a:rPr>
              <a:t>para</a:t>
            </a:r>
            <a:r>
              <a:rPr dirty="0" sz="3400" spc="-145">
                <a:latin typeface="Calibri"/>
                <a:cs typeface="Calibri"/>
              </a:rPr>
              <a:t> </a:t>
            </a:r>
            <a:r>
              <a:rPr dirty="0" sz="3400" spc="-30">
                <a:latin typeface="Calibri"/>
                <a:cs typeface="Calibri"/>
              </a:rPr>
              <a:t>un</a:t>
            </a:r>
            <a:r>
              <a:rPr dirty="0" sz="3400" spc="-220">
                <a:latin typeface="Calibri"/>
                <a:cs typeface="Calibri"/>
              </a:rPr>
              <a:t> </a:t>
            </a:r>
            <a:r>
              <a:rPr dirty="0" sz="3400" spc="-30">
                <a:latin typeface="Calibri"/>
                <a:cs typeface="Calibri"/>
              </a:rPr>
              <a:t>balance</a:t>
            </a:r>
            <a:r>
              <a:rPr dirty="0" sz="3400" spc="-145">
                <a:latin typeface="Calibri"/>
                <a:cs typeface="Calibri"/>
              </a:rPr>
              <a:t> </a:t>
            </a:r>
            <a:r>
              <a:rPr dirty="0" sz="3400" spc="-70">
                <a:latin typeface="Calibri"/>
                <a:cs typeface="Calibri"/>
              </a:rPr>
              <a:t>entre </a:t>
            </a:r>
            <a:r>
              <a:rPr dirty="0" sz="3550" spc="-120">
                <a:latin typeface="Calibri"/>
                <a:cs typeface="Calibri"/>
              </a:rPr>
              <a:t>granularidad</a:t>
            </a:r>
            <a:r>
              <a:rPr dirty="0" sz="3550" spc="-50">
                <a:latin typeface="Calibri"/>
                <a:cs typeface="Calibri"/>
              </a:rPr>
              <a:t> </a:t>
            </a:r>
            <a:r>
              <a:rPr dirty="0" sz="3550" spc="-40">
                <a:latin typeface="Calibri"/>
                <a:cs typeface="Calibri"/>
              </a:rPr>
              <a:t>y</a:t>
            </a:r>
            <a:r>
              <a:rPr dirty="0" sz="3550" spc="-290">
                <a:latin typeface="Calibri"/>
                <a:cs typeface="Calibri"/>
              </a:rPr>
              <a:t> </a:t>
            </a:r>
            <a:r>
              <a:rPr dirty="0" sz="3550" spc="-30">
                <a:latin typeface="Calibri"/>
                <a:cs typeface="Calibri"/>
              </a:rPr>
              <a:t>complejidad.</a:t>
            </a:r>
            <a:endParaRPr sz="3550">
              <a:latin typeface="Calibri"/>
              <a:cs typeface="Calibri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9821868" y="4689475"/>
            <a:ext cx="1082040" cy="5016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100" spc="-60">
                <a:latin typeface="Calibri"/>
                <a:cs typeface="Calibri"/>
              </a:rPr>
              <a:t>Nivel</a:t>
            </a:r>
            <a:r>
              <a:rPr dirty="0" sz="3100" spc="-145">
                <a:latin typeface="Calibri"/>
                <a:cs typeface="Calibri"/>
              </a:rPr>
              <a:t> </a:t>
            </a:r>
            <a:r>
              <a:rPr dirty="0" sz="3100" spc="-50">
                <a:latin typeface="Calibri"/>
                <a:cs typeface="Calibri"/>
              </a:rPr>
              <a:t>2</a:t>
            </a:r>
            <a:endParaRPr sz="3100">
              <a:latin typeface="Calibri"/>
              <a:cs typeface="Calibri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9821126" y="6852355"/>
            <a:ext cx="1068705" cy="512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200" spc="-105">
                <a:latin typeface="Calibri"/>
                <a:cs typeface="Calibri"/>
              </a:rPr>
              <a:t>Nivel</a:t>
            </a:r>
            <a:r>
              <a:rPr dirty="0" sz="3200" spc="-140">
                <a:latin typeface="Calibri"/>
                <a:cs typeface="Calibri"/>
              </a:rPr>
              <a:t> </a:t>
            </a:r>
            <a:r>
              <a:rPr dirty="0" sz="3200" spc="-50">
                <a:latin typeface="Calibri"/>
                <a:cs typeface="Calibri"/>
              </a:rPr>
              <a:t>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12933362" y="3559175"/>
            <a:ext cx="784225" cy="5016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100" spc="-75">
                <a:latin typeface="Calibri"/>
                <a:cs typeface="Calibri"/>
              </a:rPr>
              <a:t>P279</a:t>
            </a:r>
            <a:endParaRPr sz="3100">
              <a:latin typeface="Calibri"/>
              <a:cs typeface="Calibri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11165416" y="4455583"/>
            <a:ext cx="3238500" cy="1066800"/>
          </a:xfrm>
          <a:prstGeom prst="rect">
            <a:avLst/>
          </a:prstGeom>
          <a:ln w="21166">
            <a:solidFill>
              <a:srgbClr val="2F4860"/>
            </a:solidFill>
          </a:ln>
        </p:spPr>
        <p:txBody>
          <a:bodyPr wrap="square" lIns="0" tIns="27305" rIns="0" bIns="0" rtlCol="0" vert="horz">
            <a:spAutoFit/>
          </a:bodyPr>
          <a:lstStyle/>
          <a:p>
            <a:pPr algn="ctr" marL="34290">
              <a:lnSpc>
                <a:spcPts val="3485"/>
              </a:lnSpc>
              <a:spcBef>
                <a:spcPts val="215"/>
              </a:spcBef>
            </a:pPr>
            <a:r>
              <a:rPr dirty="0" sz="3100" spc="-10">
                <a:latin typeface="Calibri"/>
                <a:cs typeface="Calibri"/>
              </a:rPr>
              <a:t>Ficción</a:t>
            </a:r>
            <a:endParaRPr sz="3100">
              <a:latin typeface="Calibri"/>
              <a:cs typeface="Calibri"/>
            </a:endParaRPr>
          </a:p>
          <a:p>
            <a:pPr algn="ctr" marL="34290">
              <a:lnSpc>
                <a:spcPts val="3604"/>
              </a:lnSpc>
            </a:pPr>
            <a:r>
              <a:rPr dirty="0" sz="3200" spc="-25">
                <a:latin typeface="Calibri"/>
                <a:cs typeface="Calibri"/>
              </a:rPr>
              <a:t>detectivesca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12934112" y="5739694"/>
            <a:ext cx="783590" cy="4914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050" spc="-60">
                <a:latin typeface="Calibri"/>
                <a:cs typeface="Calibri"/>
              </a:rPr>
              <a:t>P279</a:t>
            </a:r>
            <a:endParaRPr sz="3050">
              <a:latin typeface="Calibri"/>
              <a:cs typeface="Calibri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11165416" y="6627283"/>
            <a:ext cx="3238500" cy="1066800"/>
          </a:xfrm>
          <a:prstGeom prst="rect">
            <a:avLst/>
          </a:prstGeom>
          <a:ln w="21166">
            <a:solidFill>
              <a:srgbClr val="2F4860"/>
            </a:solidFill>
          </a:ln>
        </p:spPr>
        <p:txBody>
          <a:bodyPr wrap="square" lIns="0" tIns="40005" rIns="0" bIns="0" rtlCol="0" vert="horz">
            <a:spAutoFit/>
          </a:bodyPr>
          <a:lstStyle/>
          <a:p>
            <a:pPr marL="1108075">
              <a:lnSpc>
                <a:spcPts val="3404"/>
              </a:lnSpc>
              <a:spcBef>
                <a:spcPts val="315"/>
              </a:spcBef>
            </a:pPr>
            <a:r>
              <a:rPr dirty="0" sz="3050" spc="-10">
                <a:latin typeface="Calibri"/>
                <a:cs typeface="Calibri"/>
              </a:rPr>
              <a:t>Novela</a:t>
            </a:r>
            <a:endParaRPr sz="3050">
              <a:latin typeface="Calibri"/>
              <a:cs typeface="Calibri"/>
            </a:endParaRPr>
          </a:p>
          <a:p>
            <a:pPr marL="944880">
              <a:lnSpc>
                <a:spcPts val="3585"/>
              </a:lnSpc>
            </a:pPr>
            <a:r>
              <a:rPr dirty="0" sz="3200" spc="-10">
                <a:latin typeface="Calibri"/>
                <a:cs typeface="Calibri"/>
              </a:rPr>
              <a:t>policaca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13803921" y="8216194"/>
            <a:ext cx="1022985" cy="3009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800" spc="-35">
                <a:solidFill>
                  <a:srgbClr val="525252"/>
                </a:solidFill>
                <a:latin typeface="Calibri"/>
                <a:cs typeface="Calibri"/>
              </a:rPr>
              <a:t>)</a:t>
            </a:r>
            <a:r>
              <a:rPr dirty="0" sz="1800" spc="5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dirty="0" sz="1800" spc="-45">
                <a:latin typeface="Calibri"/>
                <a:cs typeface="Calibri"/>
              </a:rPr>
              <a:t>Title</a:t>
            </a:r>
            <a:r>
              <a:rPr dirty="0" sz="1800" spc="-180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blocL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13914119" y="8659283"/>
            <a:ext cx="1137920" cy="2794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650" spc="-90">
                <a:latin typeface="Calibri"/>
                <a:cs typeface="Calibri"/>
              </a:rPr>
              <a:t>Project</a:t>
            </a:r>
            <a:r>
              <a:rPr dirty="0" sz="1650" spc="35">
                <a:latin typeface="Calibri"/>
                <a:cs typeface="Calibri"/>
              </a:rPr>
              <a:t> </a:t>
            </a:r>
            <a:r>
              <a:rPr dirty="0" sz="1650" spc="-85">
                <a:latin typeface="Calibri"/>
                <a:cs typeface="Calibri"/>
              </a:rPr>
              <a:t>project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13814476" y="9083322"/>
            <a:ext cx="526415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>
                <a:solidFill>
                  <a:srgbClr val="4D5D6B"/>
                </a:solidFill>
                <a:latin typeface="Calibri"/>
                <a:cs typeface="Calibri"/>
              </a:rPr>
              <a:t>t</a:t>
            </a:r>
            <a:r>
              <a:rPr dirty="0" sz="1500" spc="-45">
                <a:solidFill>
                  <a:srgbClr val="4D5D6B"/>
                </a:solidFill>
                <a:latin typeface="Calibri"/>
                <a:cs typeface="Calibri"/>
              </a:rPr>
              <a:t> </a:t>
            </a:r>
            <a:r>
              <a:rPr dirty="0" sz="1500" spc="-25">
                <a:latin typeface="Calibri"/>
                <a:cs typeface="Calibri"/>
              </a:rPr>
              <a:t>Date: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1300" y="5918200"/>
            <a:ext cx="17094200" cy="37084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1300" y="190500"/>
            <a:ext cx="317500" cy="5410200"/>
          </a:xfrm>
          <a:prstGeom prst="rect">
            <a:avLst/>
          </a:prstGeom>
        </p:spPr>
      </p:pic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1058333" y="2590800"/>
          <a:ext cx="15464790" cy="25901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62500"/>
                <a:gridCol w="10604500"/>
              </a:tblGrid>
              <a:tr h="508000"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2600" spc="-10">
                          <a:latin typeface="Calibri"/>
                          <a:cs typeface="Calibri"/>
                        </a:rPr>
                        <a:t>Ontología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B="0" marT="8255">
                    <a:lnL w="28575">
                      <a:solidFill>
                        <a:srgbClr val="283B54"/>
                      </a:solidFill>
                      <a:prstDash val="solid"/>
                    </a:lnL>
                    <a:lnR w="28575">
                      <a:solidFill>
                        <a:srgbClr val="283B54"/>
                      </a:solidFill>
                      <a:prstDash val="solid"/>
                    </a:lnR>
                    <a:lnT w="28575">
                      <a:solidFill>
                        <a:srgbClr val="283B54"/>
                      </a:solidFill>
                      <a:prstDash val="solid"/>
                    </a:lnT>
                    <a:lnB w="28575">
                      <a:solidFill>
                        <a:srgbClr val="283B5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732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2600">
                          <a:latin typeface="Calibri"/>
                          <a:cs typeface="Calibri"/>
                        </a:rPr>
                        <a:t>Propiedades</a:t>
                      </a:r>
                      <a:r>
                        <a:rPr dirty="0" sz="2600" spc="10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600">
                          <a:latin typeface="Calibri"/>
                          <a:cs typeface="Calibri"/>
                        </a:rPr>
                        <a:t>Clave</a:t>
                      </a:r>
                      <a:r>
                        <a:rPr dirty="0" sz="2600" spc="-1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600" spc="-10">
                          <a:latin typeface="Calibri"/>
                          <a:cs typeface="Calibri"/>
                        </a:rPr>
                        <a:t>Aportadas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B="0" marT="8255">
                    <a:lnL w="28575">
                      <a:solidFill>
                        <a:srgbClr val="283B54"/>
                      </a:solidFill>
                      <a:prstDash val="solid"/>
                    </a:lnL>
                    <a:lnR w="28575">
                      <a:solidFill>
                        <a:srgbClr val="283B54"/>
                      </a:solidFill>
                      <a:prstDash val="solid"/>
                    </a:lnR>
                    <a:lnT w="28575">
                      <a:solidFill>
                        <a:srgbClr val="283B54"/>
                      </a:solidFill>
                      <a:prstDash val="solid"/>
                    </a:lnT>
                    <a:lnB w="28575">
                      <a:solidFill>
                        <a:srgbClr val="283B54"/>
                      </a:solidFill>
                      <a:prstDash val="soli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marL="163195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dirty="0" sz="2350" spc="80">
                          <a:latin typeface="Calibri"/>
                          <a:cs typeface="Calibri"/>
                        </a:rPr>
                        <a:t>BIBO</a:t>
                      </a:r>
                      <a:endParaRPr sz="2350">
                        <a:latin typeface="Calibri"/>
                        <a:cs typeface="Calibri"/>
                      </a:endParaRPr>
                    </a:p>
                  </a:txBody>
                  <a:tcPr marL="0" marR="0" marB="0" marT="52705">
                    <a:lnL w="28575">
                      <a:solidFill>
                        <a:srgbClr val="283B54"/>
                      </a:solidFill>
                      <a:prstDash val="solid"/>
                    </a:lnL>
                    <a:lnR w="28575">
                      <a:solidFill>
                        <a:srgbClr val="283B54"/>
                      </a:solidFill>
                      <a:prstDash val="solid"/>
                    </a:lnR>
                    <a:lnT w="28575">
                      <a:solidFill>
                        <a:srgbClr val="283B54"/>
                      </a:solidFill>
                      <a:prstDash val="solid"/>
                    </a:lnT>
                    <a:lnB w="28575">
                      <a:solidFill>
                        <a:srgbClr val="283B5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065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2550" spc="-35">
                          <a:latin typeface="Calibri"/>
                          <a:cs typeface="Calibri"/>
                        </a:rPr>
                        <a:t>Estándar</a:t>
                      </a:r>
                      <a:r>
                        <a:rPr dirty="0" sz="2550" spc="-9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550" spc="-20">
                          <a:latin typeface="Calibri"/>
                          <a:cs typeface="Calibri"/>
                        </a:rPr>
                        <a:t>para</a:t>
                      </a:r>
                      <a:r>
                        <a:rPr dirty="0" sz="2550" spc="-8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550" spc="-50">
                          <a:latin typeface="Calibri"/>
                          <a:cs typeface="Calibri"/>
                        </a:rPr>
                        <a:t>metadatos</a:t>
                      </a:r>
                      <a:r>
                        <a:rPr dirty="0" sz="255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550" spc="-20">
                          <a:latin typeface="Calibri"/>
                          <a:cs typeface="Calibri"/>
                        </a:rPr>
                        <a:t>bibliográficos</a:t>
                      </a:r>
                      <a:r>
                        <a:rPr dirty="0" sz="2550" spc="-1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550" spc="-10">
                          <a:latin typeface="Calibri"/>
                          <a:cs typeface="Calibri"/>
                        </a:rPr>
                        <a:t>(”bibo:authorList*).</a:t>
                      </a:r>
                      <a:endParaRPr sz="2550">
                        <a:latin typeface="Calibri"/>
                        <a:cs typeface="Calibri"/>
                      </a:endParaRPr>
                    </a:p>
                  </a:txBody>
                  <a:tcPr marL="0" marR="0" marB="0" marT="27305">
                    <a:lnL w="28575">
                      <a:solidFill>
                        <a:srgbClr val="283B54"/>
                      </a:solidFill>
                      <a:prstDash val="solid"/>
                    </a:lnL>
                    <a:lnR w="28575">
                      <a:solidFill>
                        <a:srgbClr val="283B54"/>
                      </a:solidFill>
                      <a:prstDash val="solid"/>
                    </a:lnR>
                    <a:lnT w="28575">
                      <a:solidFill>
                        <a:srgbClr val="283B54"/>
                      </a:solidFill>
                      <a:prstDash val="solid"/>
                    </a:lnT>
                    <a:lnB w="28575">
                      <a:solidFill>
                        <a:srgbClr val="283B54"/>
                      </a:solidFill>
                      <a:prstDash val="solid"/>
                    </a:lnB>
                  </a:tcPr>
                </a:tc>
              </a:tr>
              <a:tr h="520700">
                <a:tc>
                  <a:txBody>
                    <a:bodyPr/>
                    <a:lstStyle/>
                    <a:p>
                      <a:pPr marL="17653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2600" spc="-10">
                          <a:latin typeface="Calibri"/>
                          <a:cs typeface="Calibri"/>
                        </a:rPr>
                        <a:t>Schema.org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28575">
                      <a:solidFill>
                        <a:srgbClr val="283B54"/>
                      </a:solidFill>
                      <a:prstDash val="solid"/>
                    </a:lnL>
                    <a:lnR w="28575">
                      <a:solidFill>
                        <a:srgbClr val="283B54"/>
                      </a:solidFill>
                      <a:prstDash val="solid"/>
                    </a:lnR>
                    <a:lnT w="28575">
                      <a:solidFill>
                        <a:srgbClr val="283B54"/>
                      </a:solidFill>
                      <a:prstDash val="solid"/>
                    </a:lnT>
                    <a:lnB w="28575">
                      <a:solidFill>
                        <a:srgbClr val="283B5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0020">
                        <a:lnSpc>
                          <a:spcPct val="100000"/>
                        </a:lnSpc>
                        <a:spcBef>
                          <a:spcPts val="30"/>
                        </a:spcBef>
                        <a:tabLst>
                          <a:tab pos="2371725" algn="l"/>
                        </a:tabLst>
                      </a:pPr>
                      <a:r>
                        <a:rPr dirty="0" sz="2600" spc="-45">
                          <a:latin typeface="Calibri"/>
                          <a:cs typeface="Calibri"/>
                        </a:rPr>
                        <a:t>Relaciones</a:t>
                      </a:r>
                      <a:r>
                        <a:rPr dirty="0" sz="2600" spc="-9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600" spc="-20">
                          <a:latin typeface="Calibri"/>
                          <a:cs typeface="Calibri"/>
                        </a:rPr>
                        <a:t>para</a:t>
                      </a:r>
                      <a:r>
                        <a:rPr dirty="0" sz="260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2600" spc="-60">
                          <a:latin typeface="Calibri"/>
                          <a:cs typeface="Calibri"/>
                        </a:rPr>
                        <a:t>schema:author*,”schema:genre‘,</a:t>
                      </a:r>
                      <a:r>
                        <a:rPr dirty="0" sz="26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600" spc="-10">
                          <a:latin typeface="Calibri"/>
                          <a:cs typeface="Calibri"/>
                        </a:rPr>
                        <a:t>‘schema:isbn'.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28575">
                      <a:solidFill>
                        <a:srgbClr val="283B54"/>
                      </a:solidFill>
                      <a:prstDash val="solid"/>
                    </a:lnL>
                    <a:lnR w="28575">
                      <a:solidFill>
                        <a:srgbClr val="283B54"/>
                      </a:solidFill>
                      <a:prstDash val="solid"/>
                    </a:lnR>
                    <a:lnT w="28575">
                      <a:solidFill>
                        <a:srgbClr val="283B54"/>
                      </a:solidFill>
                      <a:prstDash val="solid"/>
                    </a:lnT>
                    <a:lnB w="28575">
                      <a:solidFill>
                        <a:srgbClr val="283B54"/>
                      </a:solidFill>
                      <a:prstDash val="solid"/>
                    </a:lnB>
                  </a:tcPr>
                </a:tc>
              </a:tr>
              <a:tr h="516255">
                <a:tc>
                  <a:txBody>
                    <a:bodyPr/>
                    <a:lstStyle/>
                    <a:p>
                      <a:pPr marL="160655">
                        <a:lnSpc>
                          <a:spcPts val="3045"/>
                        </a:lnSpc>
                      </a:pPr>
                      <a:r>
                        <a:rPr dirty="0" sz="2550" spc="-20">
                          <a:latin typeface="Calibri"/>
                          <a:cs typeface="Calibri"/>
                        </a:rPr>
                        <a:t>Dublín</a:t>
                      </a:r>
                      <a:r>
                        <a:rPr dirty="0" sz="2550" spc="-1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550" spc="-20">
                          <a:latin typeface="Calibri"/>
                          <a:cs typeface="Calibri"/>
                        </a:rPr>
                        <a:t>Core</a:t>
                      </a:r>
                      <a:endParaRPr sz="25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28575">
                      <a:solidFill>
                        <a:srgbClr val="283B54"/>
                      </a:solidFill>
                      <a:prstDash val="solid"/>
                    </a:lnL>
                    <a:lnR w="28575">
                      <a:solidFill>
                        <a:srgbClr val="283B54"/>
                      </a:solidFill>
                      <a:prstDash val="solid"/>
                    </a:lnR>
                    <a:lnT w="28575">
                      <a:solidFill>
                        <a:srgbClr val="283B54"/>
                      </a:solidFill>
                      <a:prstDash val="solid"/>
                    </a:lnT>
                    <a:lnB w="28575">
                      <a:solidFill>
                        <a:srgbClr val="283B5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7955">
                        <a:lnSpc>
                          <a:spcPts val="3045"/>
                        </a:lnSpc>
                        <a:tabLst>
                          <a:tab pos="4041775" algn="l"/>
                          <a:tab pos="6035675" algn="l"/>
                        </a:tabLst>
                      </a:pPr>
                      <a:r>
                        <a:rPr dirty="0" sz="2550" spc="-25">
                          <a:latin typeface="Calibri"/>
                          <a:cs typeface="Calibri"/>
                        </a:rPr>
                        <a:t>Propiedades</a:t>
                      </a:r>
                      <a:r>
                        <a:rPr dirty="0" sz="255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550" spc="-10">
                          <a:latin typeface="Calibri"/>
                          <a:cs typeface="Calibri"/>
                        </a:rPr>
                        <a:t>para</a:t>
                      </a:r>
                      <a:r>
                        <a:rPr dirty="0" sz="2550" spc="-1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550" spc="-10">
                          <a:latin typeface="Calibri"/>
                          <a:cs typeface="Calibri"/>
                        </a:rPr>
                        <a:t>‘dc:creator</a:t>
                      </a:r>
                      <a:r>
                        <a:rPr dirty="0" sz="2550">
                          <a:latin typeface="Calibri"/>
                          <a:cs typeface="Calibri"/>
                        </a:rPr>
                        <a:t>	,</a:t>
                      </a:r>
                      <a:r>
                        <a:rPr dirty="0" sz="2550" spc="-1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550" spc="-10">
                          <a:latin typeface="Calibri"/>
                          <a:cs typeface="Calibri"/>
                        </a:rPr>
                        <a:t>'de:publisher</a:t>
                      </a:r>
                      <a:r>
                        <a:rPr dirty="0" sz="2550">
                          <a:latin typeface="Calibri"/>
                          <a:cs typeface="Calibri"/>
                        </a:rPr>
                        <a:t>	,</a:t>
                      </a:r>
                      <a:r>
                        <a:rPr dirty="0" sz="2550" spc="-1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550" spc="-10">
                          <a:latin typeface="Calibri"/>
                          <a:cs typeface="Calibri"/>
                        </a:rPr>
                        <a:t>‘dc:date”.</a:t>
                      </a:r>
                      <a:endParaRPr sz="25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28575">
                      <a:solidFill>
                        <a:srgbClr val="283B54"/>
                      </a:solidFill>
                      <a:prstDash val="solid"/>
                    </a:lnL>
                    <a:lnR w="28575">
                      <a:solidFill>
                        <a:srgbClr val="283B54"/>
                      </a:solidFill>
                      <a:prstDash val="solid"/>
                    </a:lnR>
                    <a:lnT w="28575">
                      <a:solidFill>
                        <a:srgbClr val="283B54"/>
                      </a:solidFill>
                      <a:prstDash val="solid"/>
                    </a:lnT>
                    <a:lnB w="28575">
                      <a:solidFill>
                        <a:srgbClr val="283B54"/>
                      </a:solidFill>
                      <a:prstDash val="solid"/>
                    </a:lnB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marL="160020">
                        <a:lnSpc>
                          <a:spcPts val="3085"/>
                        </a:lnSpc>
                      </a:pPr>
                      <a:r>
                        <a:rPr dirty="0" sz="2600" spc="-20">
                          <a:latin typeface="Calibri"/>
                          <a:cs typeface="Calibri"/>
                        </a:rPr>
                        <a:t>FOAF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28575">
                      <a:solidFill>
                        <a:srgbClr val="283B54"/>
                      </a:solidFill>
                      <a:prstDash val="solid"/>
                    </a:lnL>
                    <a:lnR w="28575">
                      <a:solidFill>
                        <a:srgbClr val="283B54"/>
                      </a:solidFill>
                      <a:prstDash val="solid"/>
                    </a:lnR>
                    <a:lnT w="28575">
                      <a:solidFill>
                        <a:srgbClr val="283B54"/>
                      </a:solidFill>
                      <a:prstDash val="solid"/>
                    </a:lnT>
                    <a:lnB w="28575">
                      <a:solidFill>
                        <a:srgbClr val="283B5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795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2550" spc="-40">
                          <a:latin typeface="Calibri"/>
                          <a:cs typeface="Calibri"/>
                        </a:rPr>
                        <a:t>Re(aciones</a:t>
                      </a:r>
                      <a:r>
                        <a:rPr dirty="0" sz="255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550" spc="-10">
                          <a:latin typeface="Calibri"/>
                          <a:cs typeface="Calibri"/>
                        </a:rPr>
                        <a:t>sociales,</a:t>
                      </a:r>
                      <a:r>
                        <a:rPr dirty="0" sz="2550" spc="-8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550" spc="-10">
                          <a:latin typeface="Calibri"/>
                          <a:cs typeface="Calibri"/>
                        </a:rPr>
                        <a:t>utilizada</a:t>
                      </a:r>
                      <a:r>
                        <a:rPr dirty="0" sz="255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550" spc="-25">
                          <a:latin typeface="Calibri"/>
                          <a:cs typeface="Calibri"/>
                        </a:rPr>
                        <a:t>para</a:t>
                      </a:r>
                      <a:r>
                        <a:rPr dirty="0" sz="2550" spc="-114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550" spc="-35">
                          <a:latin typeface="Calibri"/>
                          <a:cs typeface="Calibri"/>
                        </a:rPr>
                        <a:t>definir</a:t>
                      </a:r>
                      <a:r>
                        <a:rPr dirty="0" sz="2550" spc="-1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550" spc="85">
                          <a:latin typeface="Calibri"/>
                          <a:cs typeface="Calibri"/>
                        </a:rPr>
                        <a:t>al</a:t>
                      </a:r>
                      <a:r>
                        <a:rPr dirty="0" sz="2550" spc="-18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550" spc="-10">
                          <a:latin typeface="Calibri"/>
                          <a:cs typeface="Calibri"/>
                        </a:rPr>
                        <a:t>autor.</a:t>
                      </a:r>
                      <a:endParaRPr sz="2550">
                        <a:latin typeface="Calibri"/>
                        <a:cs typeface="Calibri"/>
                      </a:endParaRPr>
                    </a:p>
                  </a:txBody>
                  <a:tcPr marL="0" marR="0" marB="0" marT="1905">
                    <a:lnL w="28575">
                      <a:solidFill>
                        <a:srgbClr val="283B54"/>
                      </a:solidFill>
                      <a:prstDash val="solid"/>
                    </a:lnL>
                    <a:lnR w="28575">
                      <a:solidFill>
                        <a:srgbClr val="283B54"/>
                      </a:solidFill>
                      <a:prstDash val="solid"/>
                    </a:lnR>
                    <a:lnT w="28575">
                      <a:solidFill>
                        <a:srgbClr val="283B54"/>
                      </a:solidFill>
                      <a:prstDash val="solid"/>
                    </a:lnT>
                    <a:lnB w="28575">
                      <a:solidFill>
                        <a:srgbClr val="283B5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208500" y="4864100"/>
            <a:ext cx="12700" cy="29210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89045" rIns="0" bIns="0" rtlCol="0" vert="horz">
            <a:spAutoFit/>
          </a:bodyPr>
          <a:lstStyle/>
          <a:p>
            <a:pPr marL="242570">
              <a:lnSpc>
                <a:spcPct val="100000"/>
              </a:lnSpc>
              <a:spcBef>
                <a:spcPts val="2320"/>
              </a:spcBef>
            </a:pPr>
            <a:r>
              <a:rPr dirty="0" sz="5050" spc="-45">
                <a:solidFill>
                  <a:srgbClr val="2D2D2D"/>
                </a:solidFill>
              </a:rPr>
              <a:t>Tejiendo</a:t>
            </a:r>
            <a:r>
              <a:rPr dirty="0" sz="5050" spc="-135">
                <a:solidFill>
                  <a:srgbClr val="2D2D2D"/>
                </a:solidFill>
              </a:rPr>
              <a:t> </a:t>
            </a:r>
            <a:r>
              <a:rPr dirty="0" sz="5050">
                <a:solidFill>
                  <a:srgbClr val="2F2F2F"/>
                </a:solidFill>
              </a:rPr>
              <a:t>la</a:t>
            </a:r>
            <a:r>
              <a:rPr dirty="0" sz="5050" spc="-280">
                <a:solidFill>
                  <a:srgbClr val="2F2F2F"/>
                </a:solidFill>
              </a:rPr>
              <a:t> </a:t>
            </a:r>
            <a:r>
              <a:rPr dirty="0" sz="5050"/>
              <a:t>Red:</a:t>
            </a:r>
            <a:r>
              <a:rPr dirty="0" sz="5050" spc="-280"/>
              <a:t> </a:t>
            </a:r>
            <a:r>
              <a:rPr dirty="0" sz="5050" spc="-30">
                <a:solidFill>
                  <a:srgbClr val="2A2A2A"/>
                </a:solidFill>
              </a:rPr>
              <a:t>Mapeo</a:t>
            </a:r>
            <a:r>
              <a:rPr dirty="0" sz="5050" spc="-140">
                <a:solidFill>
                  <a:srgbClr val="2A2A2A"/>
                </a:solidFill>
              </a:rPr>
              <a:t> </a:t>
            </a:r>
            <a:r>
              <a:rPr dirty="0" sz="5050">
                <a:solidFill>
                  <a:srgbClr val="313131"/>
                </a:solidFill>
              </a:rPr>
              <a:t>con</a:t>
            </a:r>
            <a:r>
              <a:rPr dirty="0" sz="5050" spc="-280">
                <a:solidFill>
                  <a:srgbClr val="313131"/>
                </a:solidFill>
              </a:rPr>
              <a:t> </a:t>
            </a:r>
            <a:r>
              <a:rPr dirty="0" sz="5050" spc="-30">
                <a:solidFill>
                  <a:srgbClr val="232323"/>
                </a:solidFill>
              </a:rPr>
              <a:t>Ontologías</a:t>
            </a:r>
            <a:r>
              <a:rPr dirty="0" sz="5050" spc="65">
                <a:solidFill>
                  <a:srgbClr val="232323"/>
                </a:solidFill>
              </a:rPr>
              <a:t> </a:t>
            </a:r>
            <a:r>
              <a:rPr dirty="0" sz="5050" spc="-10">
                <a:solidFill>
                  <a:srgbClr val="2D2D2D"/>
                </a:solidFill>
              </a:rPr>
              <a:t>Estándar</a:t>
            </a:r>
            <a:endParaRPr sz="5050"/>
          </a:p>
          <a:p>
            <a:pPr marL="273050" marR="5080" indent="-635">
              <a:lnSpc>
                <a:spcPct val="102600"/>
              </a:lnSpc>
              <a:spcBef>
                <a:spcPts val="1110"/>
              </a:spcBef>
            </a:pPr>
            <a:r>
              <a:rPr dirty="0" sz="2600" spc="10">
                <a:solidFill>
                  <a:srgbClr val="000000"/>
                </a:solidFill>
                <a:latin typeface="Calibri"/>
                <a:cs typeface="Calibri"/>
              </a:rPr>
              <a:t>Para</a:t>
            </a:r>
            <a:r>
              <a:rPr dirty="0" sz="2600" spc="3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600" spc="10">
                <a:solidFill>
                  <a:srgbClr val="000000"/>
                </a:solidFill>
                <a:latin typeface="Calibri"/>
                <a:cs typeface="Calibri"/>
              </a:rPr>
              <a:t>asegurar</a:t>
            </a:r>
            <a:r>
              <a:rPr dirty="0" sz="2600" spc="11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600" spc="10">
                <a:solidFill>
                  <a:srgbClr val="000000"/>
                </a:solidFill>
                <a:latin typeface="Calibri"/>
                <a:cs typeface="Calibri"/>
              </a:rPr>
              <a:t>la</a:t>
            </a:r>
            <a:r>
              <a:rPr dirty="0" sz="2600" spc="13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600" spc="10">
                <a:solidFill>
                  <a:srgbClr val="000000"/>
                </a:solidFill>
                <a:latin typeface="Calibri"/>
                <a:cs typeface="Calibri"/>
              </a:rPr>
              <a:t>interoperabilidad</a:t>
            </a:r>
            <a:r>
              <a:rPr dirty="0" sz="2600" spc="5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600" spc="10">
                <a:solidFill>
                  <a:srgbClr val="000000"/>
                </a:solidFill>
                <a:latin typeface="Calibri"/>
                <a:cs typeface="Calibri"/>
              </a:rPr>
              <a:t>y</a:t>
            </a:r>
            <a:r>
              <a:rPr dirty="0" sz="2600" spc="6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600" spc="10">
                <a:solidFill>
                  <a:srgbClr val="000000"/>
                </a:solidFill>
                <a:latin typeface="Calibri"/>
                <a:cs typeface="Calibri"/>
              </a:rPr>
              <a:t>enriquecer</a:t>
            </a:r>
            <a:r>
              <a:rPr dirty="0" sz="2600" spc="19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600" spc="10">
                <a:solidFill>
                  <a:srgbClr val="000000"/>
                </a:solidFill>
                <a:latin typeface="Calibri"/>
                <a:cs typeface="Calibri"/>
              </a:rPr>
              <a:t>nuestro</a:t>
            </a:r>
            <a:r>
              <a:rPr dirty="0" sz="2600" spc="19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600" spc="10">
                <a:solidFill>
                  <a:srgbClr val="000000"/>
                </a:solidFill>
                <a:latin typeface="Calibri"/>
                <a:cs typeface="Calibri"/>
              </a:rPr>
              <a:t>modelo,</a:t>
            </a:r>
            <a:r>
              <a:rPr dirty="0" sz="2600" spc="7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600" spc="10">
                <a:solidFill>
                  <a:srgbClr val="000000"/>
                </a:solidFill>
                <a:latin typeface="Calibri"/>
                <a:cs typeface="Calibri"/>
              </a:rPr>
              <a:t>mapeamos</a:t>
            </a:r>
            <a:r>
              <a:rPr dirty="0" sz="2600" spc="9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600" spc="10">
                <a:solidFill>
                  <a:srgbClr val="000000"/>
                </a:solidFill>
                <a:latin typeface="Calibri"/>
                <a:cs typeface="Calibri"/>
              </a:rPr>
              <a:t>la</a:t>
            </a:r>
            <a:r>
              <a:rPr dirty="0" sz="2600" spc="15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600" spc="10">
                <a:solidFill>
                  <a:srgbClr val="000000"/>
                </a:solidFill>
                <a:latin typeface="Calibri"/>
                <a:cs typeface="Calibri"/>
              </a:rPr>
              <a:t>jerarquía</a:t>
            </a:r>
            <a:r>
              <a:rPr dirty="0" sz="2600" spc="14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600" spc="10">
                <a:solidFill>
                  <a:srgbClr val="000000"/>
                </a:solidFill>
                <a:latin typeface="Calibri"/>
                <a:cs typeface="Calibri"/>
              </a:rPr>
              <a:t>con</a:t>
            </a:r>
            <a:r>
              <a:rPr dirty="0" sz="2600" spc="15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600" spc="-10">
                <a:solidFill>
                  <a:srgbClr val="000000"/>
                </a:solidFill>
                <a:latin typeface="Calibri"/>
                <a:cs typeface="Calibri"/>
              </a:rPr>
              <a:t>vocabularios </a:t>
            </a:r>
            <a:r>
              <a:rPr dirty="0" sz="2600" spc="-40">
                <a:solidFill>
                  <a:srgbClr val="000000"/>
                </a:solidFill>
                <a:latin typeface="Calibri"/>
                <a:cs typeface="Calibri"/>
              </a:rPr>
              <a:t>e›‹ternos</a:t>
            </a:r>
            <a:r>
              <a:rPr dirty="0" sz="2600" spc="17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000000"/>
                </a:solidFill>
                <a:latin typeface="Calibri"/>
                <a:cs typeface="Calibri"/>
              </a:rPr>
              <a:t>ampliamente</a:t>
            </a:r>
            <a:r>
              <a:rPr dirty="0" sz="2600" spc="30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600" spc="-10">
                <a:solidFill>
                  <a:srgbClr val="000000"/>
                </a:solidFill>
                <a:latin typeface="Calibri"/>
                <a:cs typeface="Calibri"/>
              </a:rPr>
              <a:t>adoptados.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158174" y="5285518"/>
            <a:ext cx="14561185" cy="1379220"/>
          </a:xfrm>
          <a:prstGeom prst="rect">
            <a:avLst/>
          </a:prstGeom>
        </p:spPr>
        <p:txBody>
          <a:bodyPr wrap="square" lIns="0" tIns="863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dirty="0" sz="3050" spc="-60">
                <a:latin typeface="Cambria"/>
                <a:cs typeface="Cambria"/>
              </a:rPr>
              <a:t>Ejemplo</a:t>
            </a:r>
            <a:r>
              <a:rPr dirty="0" sz="3050" spc="-90">
                <a:latin typeface="Cambria"/>
                <a:cs typeface="Cambria"/>
              </a:rPr>
              <a:t> </a:t>
            </a:r>
            <a:r>
              <a:rPr dirty="0" sz="3050" spc="-105">
                <a:latin typeface="Cambria"/>
                <a:cs typeface="Cambria"/>
              </a:rPr>
              <a:t>de</a:t>
            </a:r>
            <a:r>
              <a:rPr dirty="0" sz="3050" spc="-90">
                <a:latin typeface="Cambria"/>
                <a:cs typeface="Cambria"/>
              </a:rPr>
              <a:t> </a:t>
            </a:r>
            <a:r>
              <a:rPr dirty="0" sz="3050" spc="-10">
                <a:latin typeface="Cambria"/>
                <a:cs typeface="Cambria"/>
              </a:rPr>
              <a:t>Integración</a:t>
            </a:r>
            <a:endParaRPr sz="3050">
              <a:latin typeface="Cambria"/>
              <a:cs typeface="Cambria"/>
            </a:endParaRPr>
          </a:p>
          <a:p>
            <a:pPr marL="22225">
              <a:lnSpc>
                <a:spcPts val="2840"/>
              </a:lnSpc>
              <a:spcBef>
                <a:spcPts val="490"/>
              </a:spcBef>
            </a:pPr>
            <a:r>
              <a:rPr dirty="0" sz="2400" spc="10">
                <a:latin typeface="Calibri"/>
                <a:cs typeface="Calibri"/>
              </a:rPr>
              <a:t>La</a:t>
            </a:r>
            <a:r>
              <a:rPr dirty="0" sz="2400" spc="405">
                <a:latin typeface="Calibri"/>
                <a:cs typeface="Calibri"/>
              </a:rPr>
              <a:t> </a:t>
            </a:r>
            <a:r>
              <a:rPr dirty="0" sz="2400" spc="50">
                <a:latin typeface="Calibri"/>
                <a:cs typeface="Calibri"/>
              </a:rPr>
              <a:t>propiedad</a:t>
            </a:r>
            <a:r>
              <a:rPr dirty="0" sz="2400" spc="385">
                <a:latin typeface="Calibri"/>
                <a:cs typeface="Calibri"/>
              </a:rPr>
              <a:t> </a:t>
            </a:r>
            <a:r>
              <a:rPr dirty="0" sz="2400" spc="10">
                <a:latin typeface="Calibri"/>
                <a:cs typeface="Calibri"/>
              </a:rPr>
              <a:t>”onto:</a:t>
            </a:r>
            <a:r>
              <a:rPr dirty="0" sz="2400" spc="5">
                <a:latin typeface="Calibri"/>
                <a:cs typeface="Calibri"/>
              </a:rPr>
              <a:t> </a:t>
            </a:r>
            <a:r>
              <a:rPr dirty="0" sz="2400" spc="90">
                <a:latin typeface="Calibri"/>
                <a:cs typeface="Calibri"/>
              </a:rPr>
              <a:t>tieneAutor”</a:t>
            </a:r>
            <a:r>
              <a:rPr dirty="0" sz="2400" spc="434">
                <a:latin typeface="Calibri"/>
                <a:cs typeface="Calibri"/>
              </a:rPr>
              <a:t> </a:t>
            </a:r>
            <a:r>
              <a:rPr dirty="0" sz="2400" spc="70">
                <a:latin typeface="Calibri"/>
                <a:cs typeface="Calibri"/>
              </a:rPr>
              <a:t>se</a:t>
            </a:r>
            <a:r>
              <a:rPr dirty="0" sz="2400" spc="-10">
                <a:latin typeface="Calibri"/>
                <a:cs typeface="Calibri"/>
              </a:rPr>
              <a:t> </a:t>
            </a:r>
            <a:r>
              <a:rPr dirty="0" sz="2400" spc="45">
                <a:latin typeface="Calibri"/>
                <a:cs typeface="Calibri"/>
              </a:rPr>
              <a:t>declaró</a:t>
            </a:r>
            <a:r>
              <a:rPr dirty="0" sz="2400" spc="50">
                <a:latin typeface="Calibri"/>
                <a:cs typeface="Calibri"/>
              </a:rPr>
              <a:t> </a:t>
            </a:r>
            <a:r>
              <a:rPr dirty="0" sz="2400" spc="10">
                <a:latin typeface="Calibri"/>
                <a:cs typeface="Calibri"/>
              </a:rPr>
              <a:t>equivalente</a:t>
            </a:r>
            <a:r>
              <a:rPr dirty="0" sz="2400" spc="229">
                <a:latin typeface="Calibri"/>
                <a:cs typeface="Calibri"/>
              </a:rPr>
              <a:t> </a:t>
            </a:r>
            <a:r>
              <a:rPr dirty="0" sz="2400" spc="10">
                <a:latin typeface="Calibri"/>
                <a:cs typeface="Calibri"/>
              </a:rPr>
              <a:t>a</a:t>
            </a:r>
            <a:r>
              <a:rPr dirty="0" sz="2400" spc="280">
                <a:latin typeface="Calibri"/>
                <a:cs typeface="Calibri"/>
              </a:rPr>
              <a:t> </a:t>
            </a:r>
            <a:r>
              <a:rPr dirty="0" sz="2400" spc="10">
                <a:latin typeface="Calibri"/>
                <a:cs typeface="Calibri"/>
              </a:rPr>
              <a:t>”schena:</a:t>
            </a:r>
            <a:r>
              <a:rPr dirty="0" sz="2400" spc="-180">
                <a:latin typeface="Calibri"/>
                <a:cs typeface="Calibri"/>
              </a:rPr>
              <a:t> </a:t>
            </a:r>
            <a:r>
              <a:rPr dirty="0" sz="2400" spc="75">
                <a:latin typeface="Calibri"/>
                <a:cs typeface="Calibri"/>
              </a:rPr>
              <a:t>author”,</a:t>
            </a:r>
            <a:r>
              <a:rPr dirty="0" sz="2400" spc="320">
                <a:latin typeface="Calibri"/>
                <a:cs typeface="Calibri"/>
              </a:rPr>
              <a:t> </a:t>
            </a:r>
            <a:r>
              <a:rPr dirty="0" sz="2400" spc="50">
                <a:latin typeface="Calibri"/>
                <a:cs typeface="Calibri"/>
              </a:rPr>
              <a:t>”dc:</a:t>
            </a:r>
            <a:r>
              <a:rPr dirty="0" sz="2400" spc="-240">
                <a:latin typeface="Calibri"/>
                <a:cs typeface="Calibri"/>
              </a:rPr>
              <a:t> </a:t>
            </a:r>
            <a:r>
              <a:rPr dirty="0" sz="2400" spc="114">
                <a:latin typeface="Calibri"/>
                <a:cs typeface="Calibri"/>
              </a:rPr>
              <a:t>creator”</a:t>
            </a:r>
            <a:r>
              <a:rPr dirty="0" sz="2400" spc="380">
                <a:latin typeface="Calibri"/>
                <a:cs typeface="Calibri"/>
              </a:rPr>
              <a:t> </a:t>
            </a:r>
            <a:r>
              <a:rPr dirty="0" sz="2400" spc="75">
                <a:latin typeface="Calibri"/>
                <a:cs typeface="Calibri"/>
              </a:rPr>
              <a:t>y</a:t>
            </a:r>
            <a:r>
              <a:rPr dirty="0" sz="2400" spc="245">
                <a:latin typeface="Calibri"/>
                <a:cs typeface="Calibri"/>
              </a:rPr>
              <a:t> </a:t>
            </a:r>
            <a:r>
              <a:rPr dirty="0" sz="2400" spc="85">
                <a:latin typeface="Calibri"/>
                <a:cs typeface="Calibri"/>
              </a:rPr>
              <a:t>”bibo:</a:t>
            </a:r>
            <a:r>
              <a:rPr dirty="0" sz="2400" spc="-215">
                <a:latin typeface="Calibri"/>
                <a:cs typeface="Calibri"/>
              </a:rPr>
              <a:t> </a:t>
            </a:r>
            <a:r>
              <a:rPr dirty="0" sz="2400" spc="170">
                <a:latin typeface="Calibri"/>
                <a:cs typeface="Calibri"/>
              </a:rPr>
              <a:t>authorList</a:t>
            </a:r>
            <a:endParaRPr sz="2400">
              <a:latin typeface="Calibri"/>
              <a:cs typeface="Calibri"/>
            </a:endParaRPr>
          </a:p>
          <a:p>
            <a:pPr marL="22860">
              <a:lnSpc>
                <a:spcPts val="3080"/>
              </a:lnSpc>
            </a:pPr>
            <a:r>
              <a:rPr dirty="0" sz="2600" spc="-45">
                <a:latin typeface="Calibri"/>
                <a:cs typeface="Calibri"/>
              </a:rPr>
              <a:t>para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 spc="-30">
                <a:latin typeface="Calibri"/>
                <a:cs typeface="Calibri"/>
              </a:rPr>
              <a:t>unificar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las</a:t>
            </a:r>
            <a:r>
              <a:rPr dirty="0" sz="2600" spc="-9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fuentes.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650088" y="6876697"/>
            <a:ext cx="1948180" cy="353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50" spc="135">
                <a:latin typeface="Calibri"/>
                <a:cs typeface="Calibri"/>
              </a:rPr>
              <a:t>schema:author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7470919" y="6838597"/>
            <a:ext cx="2626995" cy="353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1851" sz="2250" spc="-30">
                <a:latin typeface="Calibri"/>
                <a:cs typeface="Calibri"/>
              </a:rPr>
              <a:t>O</a:t>
            </a:r>
            <a:r>
              <a:rPr dirty="0" baseline="1291" sz="3225" spc="-30">
                <a:latin typeface="Calibri"/>
                <a:cs typeface="Calibri"/>
              </a:rPr>
              <a:t>W</a:t>
            </a:r>
            <a:r>
              <a:rPr dirty="0" sz="2150" spc="-20">
                <a:latin typeface="Calibri"/>
                <a:cs typeface="Calibri"/>
              </a:rPr>
              <a:t>l:equivalentProperty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977043" y="7758289"/>
            <a:ext cx="1313180" cy="3854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350" spc="-10">
                <a:latin typeface="Calibri"/>
                <a:cs typeface="Calibri"/>
              </a:rPr>
              <a:t>dc:creator</a:t>
            </a:r>
            <a:endParaRPr sz="235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7339345" y="7537450"/>
            <a:ext cx="267017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150">
                <a:latin typeface="Calibri"/>
                <a:cs typeface="Calibri"/>
              </a:rPr>
              <a:t>owl:equivalentProperty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0539745" y="7740650"/>
            <a:ext cx="207073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30">
                <a:latin typeface="Calibri"/>
                <a:cs typeface="Calibri"/>
              </a:rPr>
              <a:t>onto:tieneAutor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4640476" y="8654697"/>
            <a:ext cx="2018664" cy="353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50" spc="140">
                <a:latin typeface="Calibri"/>
                <a:cs typeface="Calibri"/>
              </a:rPr>
              <a:t>bibo:authorList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7444638" y="8572147"/>
            <a:ext cx="2702560" cy="353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50" spc="80">
                <a:latin typeface="Calibri"/>
                <a:cs typeface="Calibri"/>
              </a:rPr>
              <a:t>El:equívalentProperty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4324964" y="9271000"/>
            <a:ext cx="2691765" cy="215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spc="75">
                <a:latin typeface="Calibri"/>
                <a:cs typeface="Calibri"/>
              </a:rPr>
              <a:t>PROJ.</a:t>
            </a:r>
            <a:r>
              <a:rPr dirty="0" sz="1250" spc="95"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31313"/>
                </a:solidFill>
                <a:latin typeface="Calibri"/>
                <a:cs typeface="Calibri"/>
              </a:rPr>
              <a:t>ID.</a:t>
            </a:r>
            <a:r>
              <a:rPr dirty="0" sz="1250" spc="5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2624-AC-601</a:t>
            </a:r>
            <a:r>
              <a:rPr dirty="0" sz="1250" spc="190"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A2A2A"/>
                </a:solidFill>
                <a:latin typeface="Calibri"/>
                <a:cs typeface="Calibri"/>
              </a:rPr>
              <a:t>-</a:t>
            </a:r>
            <a:r>
              <a:rPr dirty="0" sz="1250" spc="19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250" spc="185">
                <a:latin typeface="Calibri"/>
                <a:cs typeface="Calibri"/>
              </a:rPr>
              <a:t>”^”””</a:t>
            </a:r>
            <a:r>
              <a:rPr dirty="0" sz="1250" spc="65">
                <a:latin typeface="Calibri"/>
                <a:cs typeface="Calibri"/>
              </a:rPr>
              <a:t> </a:t>
            </a:r>
            <a:r>
              <a:rPr dirty="0" sz="1250" spc="180">
                <a:solidFill>
                  <a:srgbClr val="0C0C0C"/>
                </a:solidFill>
                <a:latin typeface="Calibri"/>
                <a:cs typeface="Calibri"/>
              </a:rPr>
              <a:t>”</a:t>
            </a:r>
            <a:r>
              <a:rPr dirty="0" sz="1250" spc="-11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1250" spc="195">
                <a:latin typeface="Calibri"/>
                <a:cs typeface="Calibri"/>
              </a:rPr>
              <a:t>^”</a:t>
            </a:r>
            <a:r>
              <a:rPr dirty="0" sz="1250" spc="145">
                <a:latin typeface="Calibri"/>
                <a:cs typeface="Calibri"/>
              </a:rPr>
              <a:t> </a:t>
            </a:r>
            <a:r>
              <a:rPr dirty="0" sz="1250" spc="130">
                <a:solidFill>
                  <a:srgbClr val="0F0F0F"/>
                </a:solidFill>
                <a:latin typeface="Calibri"/>
                <a:cs typeface="Calibri"/>
              </a:rPr>
              <a:t>”</a:t>
            </a:r>
            <a:endParaRPr sz="12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1300" y="8051800"/>
            <a:ext cx="17094200" cy="15748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87500" y="7518400"/>
            <a:ext cx="15646400" cy="1143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09700" y="6946900"/>
            <a:ext cx="368300" cy="50800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641600" y="3327400"/>
            <a:ext cx="2070100" cy="241300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429500" y="3441700"/>
            <a:ext cx="2616200" cy="2184400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534900" y="3365500"/>
            <a:ext cx="2603500" cy="2260600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109653" y="775405"/>
            <a:ext cx="15278100" cy="7029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450" spc="110">
                <a:solidFill>
                  <a:srgbClr val="313131"/>
                </a:solidFill>
              </a:rPr>
              <a:t>La</a:t>
            </a:r>
            <a:r>
              <a:rPr dirty="0" sz="4450" spc="-165">
                <a:solidFill>
                  <a:srgbClr val="313131"/>
                </a:solidFill>
              </a:rPr>
              <a:t> </a:t>
            </a:r>
            <a:r>
              <a:rPr dirty="0" sz="4450">
                <a:solidFill>
                  <a:srgbClr val="2D2D2D"/>
                </a:solidFill>
              </a:rPr>
              <a:t>Búsqueda</a:t>
            </a:r>
            <a:r>
              <a:rPr dirty="0" sz="4450" spc="160">
                <a:solidFill>
                  <a:srgbClr val="2D2D2D"/>
                </a:solidFill>
              </a:rPr>
              <a:t> </a:t>
            </a:r>
            <a:r>
              <a:rPr dirty="0" sz="4450">
                <a:solidFill>
                  <a:srgbClr val="313131"/>
                </a:solidFill>
              </a:rPr>
              <a:t>de</a:t>
            </a:r>
            <a:r>
              <a:rPr dirty="0" sz="4450" spc="-95">
                <a:solidFill>
                  <a:srgbClr val="313131"/>
                </a:solidFill>
              </a:rPr>
              <a:t> </a:t>
            </a:r>
            <a:r>
              <a:rPr dirty="0" sz="4450">
                <a:solidFill>
                  <a:srgbClr val="313131"/>
                </a:solidFill>
              </a:rPr>
              <a:t>Libros:</a:t>
            </a:r>
            <a:r>
              <a:rPr dirty="0" sz="4450" spc="-35">
                <a:solidFill>
                  <a:srgbClr val="313131"/>
                </a:solidFill>
              </a:rPr>
              <a:t> </a:t>
            </a:r>
            <a:r>
              <a:rPr dirty="0" sz="4450">
                <a:solidFill>
                  <a:srgbClr val="2D2D2D"/>
                </a:solidFill>
              </a:rPr>
              <a:t>Evaluación</a:t>
            </a:r>
            <a:r>
              <a:rPr dirty="0" sz="4450" spc="145">
                <a:solidFill>
                  <a:srgbClr val="2D2D2D"/>
                </a:solidFill>
              </a:rPr>
              <a:t> </a:t>
            </a:r>
            <a:r>
              <a:rPr dirty="0" sz="4450">
                <a:solidFill>
                  <a:srgbClr val="2F2F2F"/>
                </a:solidFill>
              </a:rPr>
              <a:t>Crítica</a:t>
            </a:r>
            <a:r>
              <a:rPr dirty="0" sz="4450" spc="105">
                <a:solidFill>
                  <a:srgbClr val="2F2F2F"/>
                </a:solidFill>
              </a:rPr>
              <a:t> </a:t>
            </a:r>
            <a:r>
              <a:rPr dirty="0" sz="4450">
                <a:solidFill>
                  <a:srgbClr val="2D2D2D"/>
                </a:solidFill>
              </a:rPr>
              <a:t>de</a:t>
            </a:r>
            <a:r>
              <a:rPr dirty="0" sz="4450" spc="-95">
                <a:solidFill>
                  <a:srgbClr val="2D2D2D"/>
                </a:solidFill>
              </a:rPr>
              <a:t> </a:t>
            </a:r>
            <a:r>
              <a:rPr dirty="0" sz="4450">
                <a:solidFill>
                  <a:srgbClr val="2F2F2F"/>
                </a:solidFill>
              </a:rPr>
              <a:t>Fuentes</a:t>
            </a:r>
            <a:r>
              <a:rPr dirty="0" sz="4450" spc="65">
                <a:solidFill>
                  <a:srgbClr val="2F2F2F"/>
                </a:solidFill>
              </a:rPr>
              <a:t> </a:t>
            </a:r>
            <a:r>
              <a:rPr dirty="0" sz="4450">
                <a:solidFill>
                  <a:srgbClr val="282828"/>
                </a:solidFill>
              </a:rPr>
              <a:t>de</a:t>
            </a:r>
            <a:r>
              <a:rPr dirty="0" sz="4450" spc="-95">
                <a:solidFill>
                  <a:srgbClr val="282828"/>
                </a:solidFill>
              </a:rPr>
              <a:t> </a:t>
            </a:r>
            <a:r>
              <a:rPr dirty="0" sz="4450" spc="-10">
                <a:solidFill>
                  <a:srgbClr val="2A2A2A"/>
                </a:solidFill>
              </a:rPr>
              <a:t>Datos</a:t>
            </a:r>
            <a:endParaRPr sz="4450"/>
          </a:p>
        </p:txBody>
      </p:sp>
      <p:sp>
        <p:nvSpPr>
          <p:cNvPr id="9" name="object 9" descr=""/>
          <p:cNvSpPr txBox="1"/>
          <p:nvPr/>
        </p:nvSpPr>
        <p:spPr>
          <a:xfrm>
            <a:off x="1164905" y="1634772"/>
            <a:ext cx="14604365" cy="13252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20320" marR="5080">
              <a:lnSpc>
                <a:spcPct val="103000"/>
              </a:lnSpc>
              <a:spcBef>
                <a:spcPts val="25"/>
              </a:spcBef>
            </a:pPr>
            <a:r>
              <a:rPr dirty="0" sz="2750" spc="-95">
                <a:latin typeface="Cambria"/>
                <a:cs typeface="Cambria"/>
              </a:rPr>
              <a:t>El</a:t>
            </a:r>
            <a:r>
              <a:rPr dirty="0" sz="2750" spc="-15">
                <a:latin typeface="Cambria"/>
                <a:cs typeface="Cambria"/>
              </a:rPr>
              <a:t> </a:t>
            </a:r>
            <a:r>
              <a:rPr dirty="0" sz="2750">
                <a:latin typeface="Cambria"/>
                <a:cs typeface="Cambria"/>
              </a:rPr>
              <a:t>objetivo</a:t>
            </a:r>
            <a:r>
              <a:rPr dirty="0" sz="2750" spc="114">
                <a:latin typeface="Cambria"/>
                <a:cs typeface="Cambria"/>
              </a:rPr>
              <a:t> </a:t>
            </a:r>
            <a:r>
              <a:rPr dirty="0" sz="2750">
                <a:latin typeface="Cambria"/>
                <a:cs typeface="Cambria"/>
              </a:rPr>
              <a:t>era</a:t>
            </a:r>
            <a:r>
              <a:rPr dirty="0" sz="2750" spc="140">
                <a:latin typeface="Cambria"/>
                <a:cs typeface="Cambria"/>
              </a:rPr>
              <a:t> </a:t>
            </a:r>
            <a:r>
              <a:rPr dirty="0" sz="2750">
                <a:latin typeface="Cambria"/>
                <a:cs typeface="Cambria"/>
              </a:rPr>
              <a:t>encontrar</a:t>
            </a:r>
            <a:r>
              <a:rPr dirty="0" sz="2750" spc="105">
                <a:latin typeface="Cambria"/>
                <a:cs typeface="Cambria"/>
              </a:rPr>
              <a:t> </a:t>
            </a:r>
            <a:r>
              <a:rPr dirty="0" sz="2750" spc="45">
                <a:latin typeface="Cambria"/>
                <a:cs typeface="Cambria"/>
              </a:rPr>
              <a:t>fuentes</a:t>
            </a:r>
            <a:r>
              <a:rPr dirty="0" sz="2750" spc="-80">
                <a:latin typeface="Cambria"/>
                <a:cs typeface="Cambria"/>
              </a:rPr>
              <a:t> </a:t>
            </a:r>
            <a:r>
              <a:rPr dirty="0" sz="2750" spc="65">
                <a:latin typeface="Cambria"/>
                <a:cs typeface="Cambria"/>
              </a:rPr>
              <a:t>que</a:t>
            </a:r>
            <a:r>
              <a:rPr dirty="0" sz="2750" spc="25">
                <a:latin typeface="Cambria"/>
                <a:cs typeface="Cambria"/>
              </a:rPr>
              <a:t> </a:t>
            </a:r>
            <a:r>
              <a:rPr dirty="0" sz="2750">
                <a:latin typeface="Cambria"/>
                <a:cs typeface="Cambria"/>
              </a:rPr>
              <a:t>aportaran</a:t>
            </a:r>
            <a:r>
              <a:rPr dirty="0" sz="2750" spc="340">
                <a:latin typeface="Cambria"/>
                <a:cs typeface="Cambria"/>
              </a:rPr>
              <a:t> </a:t>
            </a:r>
            <a:r>
              <a:rPr dirty="0" sz="2750">
                <a:latin typeface="Cambria"/>
                <a:cs typeface="Cambria"/>
              </a:rPr>
              <a:t>instancias</a:t>
            </a:r>
            <a:r>
              <a:rPr dirty="0" sz="2750" spc="50">
                <a:latin typeface="Cambria"/>
                <a:cs typeface="Cambria"/>
              </a:rPr>
              <a:t> </a:t>
            </a:r>
            <a:r>
              <a:rPr dirty="0" sz="2750" spc="65">
                <a:latin typeface="Cambria"/>
                <a:cs typeface="Cambria"/>
              </a:rPr>
              <a:t>de</a:t>
            </a:r>
            <a:r>
              <a:rPr dirty="0" sz="2750" spc="120">
                <a:latin typeface="Cambria"/>
                <a:cs typeface="Cambria"/>
              </a:rPr>
              <a:t> </a:t>
            </a:r>
            <a:r>
              <a:rPr dirty="0" sz="2750" spc="-35">
                <a:latin typeface="Cambria"/>
                <a:cs typeface="Cambria"/>
              </a:rPr>
              <a:t>libros</a:t>
            </a:r>
            <a:r>
              <a:rPr dirty="0" sz="2750" spc="-30">
                <a:latin typeface="Cambria"/>
                <a:cs typeface="Cambria"/>
              </a:rPr>
              <a:t> </a:t>
            </a:r>
            <a:r>
              <a:rPr dirty="0" sz="2750">
                <a:latin typeface="Cambria"/>
                <a:cs typeface="Cambria"/>
              </a:rPr>
              <a:t>actualizadas</a:t>
            </a:r>
            <a:r>
              <a:rPr dirty="0" sz="2750" spc="135">
                <a:latin typeface="Cambria"/>
                <a:cs typeface="Cambria"/>
              </a:rPr>
              <a:t> </a:t>
            </a:r>
            <a:r>
              <a:rPr dirty="0" sz="2750" spc="-105">
                <a:latin typeface="Cambria"/>
                <a:cs typeface="Cambria"/>
              </a:rPr>
              <a:t>y</a:t>
            </a:r>
            <a:r>
              <a:rPr dirty="0" sz="2750" spc="-130">
                <a:latin typeface="Cambria"/>
                <a:cs typeface="Cambria"/>
              </a:rPr>
              <a:t> </a:t>
            </a:r>
            <a:r>
              <a:rPr dirty="0" sz="2750" spc="-10">
                <a:latin typeface="Cambria"/>
                <a:cs typeface="Cambria"/>
              </a:rPr>
              <a:t>completas. </a:t>
            </a:r>
            <a:r>
              <a:rPr dirty="0" sz="2750">
                <a:latin typeface="Cambria"/>
                <a:cs typeface="Cambria"/>
              </a:rPr>
              <a:t>Evaluamos</a:t>
            </a:r>
            <a:r>
              <a:rPr dirty="0" sz="2750" spc="200">
                <a:latin typeface="Cambria"/>
                <a:cs typeface="Cambria"/>
              </a:rPr>
              <a:t> </a:t>
            </a:r>
            <a:r>
              <a:rPr dirty="0" sz="2750">
                <a:latin typeface="Cambria"/>
                <a:cs typeface="Cambria"/>
              </a:rPr>
              <a:t>tres</a:t>
            </a:r>
            <a:r>
              <a:rPr dirty="0" sz="2750" spc="-65">
                <a:latin typeface="Cambria"/>
                <a:cs typeface="Cambria"/>
              </a:rPr>
              <a:t> </a:t>
            </a:r>
            <a:r>
              <a:rPr dirty="0" sz="2750">
                <a:latin typeface="Cambria"/>
                <a:cs typeface="Cambria"/>
              </a:rPr>
              <a:t>candidatos</a:t>
            </a:r>
            <a:r>
              <a:rPr dirty="0" sz="2750" spc="285">
                <a:latin typeface="Cambria"/>
                <a:cs typeface="Cambria"/>
              </a:rPr>
              <a:t> </a:t>
            </a:r>
            <a:r>
              <a:rPr dirty="0" sz="2750">
                <a:latin typeface="Cambria"/>
                <a:cs typeface="Cambria"/>
              </a:rPr>
              <a:t>principales</a:t>
            </a:r>
            <a:r>
              <a:rPr dirty="0" sz="2750" spc="335">
                <a:latin typeface="Cambria"/>
                <a:cs typeface="Cambria"/>
              </a:rPr>
              <a:t> </a:t>
            </a:r>
            <a:r>
              <a:rPr dirty="0" sz="2750">
                <a:latin typeface="Cambria"/>
                <a:cs typeface="Cambria"/>
              </a:rPr>
              <a:t>basándonos</a:t>
            </a:r>
            <a:r>
              <a:rPr dirty="0" sz="2750" spc="215">
                <a:latin typeface="Cambria"/>
                <a:cs typeface="Cambria"/>
              </a:rPr>
              <a:t> </a:t>
            </a:r>
            <a:r>
              <a:rPr dirty="0" sz="2750">
                <a:latin typeface="Cambria"/>
                <a:cs typeface="Cambria"/>
              </a:rPr>
              <a:t>en</a:t>
            </a:r>
            <a:r>
              <a:rPr dirty="0" sz="2750" spc="204">
                <a:latin typeface="Cambria"/>
                <a:cs typeface="Cambria"/>
              </a:rPr>
              <a:t> </a:t>
            </a:r>
            <a:r>
              <a:rPr dirty="0" sz="2750">
                <a:latin typeface="Cambria"/>
                <a:cs typeface="Cambria"/>
              </a:rPr>
              <a:t>la</a:t>
            </a:r>
            <a:r>
              <a:rPr dirty="0" sz="2750" spc="40">
                <a:latin typeface="Cambria"/>
                <a:cs typeface="Cambria"/>
              </a:rPr>
              <a:t> </a:t>
            </a:r>
            <a:r>
              <a:rPr dirty="0" sz="2750">
                <a:latin typeface="Cambria"/>
                <a:cs typeface="Cambria"/>
              </a:rPr>
              <a:t>calidad,</a:t>
            </a:r>
            <a:r>
              <a:rPr dirty="0" sz="2750" spc="135">
                <a:latin typeface="Cambria"/>
                <a:cs typeface="Cambria"/>
              </a:rPr>
              <a:t> </a:t>
            </a:r>
            <a:r>
              <a:rPr dirty="0" sz="2750">
                <a:latin typeface="Cambria"/>
                <a:cs typeface="Cambria"/>
              </a:rPr>
              <a:t>consistencia</a:t>
            </a:r>
            <a:r>
              <a:rPr dirty="0" sz="2750" spc="345">
                <a:latin typeface="Cambria"/>
                <a:cs typeface="Cambria"/>
              </a:rPr>
              <a:t> </a:t>
            </a:r>
            <a:r>
              <a:rPr dirty="0" sz="2750" spc="-105">
                <a:latin typeface="Cambria"/>
                <a:cs typeface="Cambria"/>
              </a:rPr>
              <a:t>y</a:t>
            </a:r>
            <a:r>
              <a:rPr dirty="0" sz="2750" spc="-70">
                <a:latin typeface="Cambria"/>
                <a:cs typeface="Cambria"/>
              </a:rPr>
              <a:t> </a:t>
            </a:r>
            <a:r>
              <a:rPr dirty="0" sz="2750">
                <a:latin typeface="Cambria"/>
                <a:cs typeface="Cambria"/>
              </a:rPr>
              <a:t>accesibilidad</a:t>
            </a:r>
            <a:r>
              <a:rPr dirty="0" sz="2750" spc="345">
                <a:latin typeface="Cambria"/>
                <a:cs typeface="Cambria"/>
              </a:rPr>
              <a:t> </a:t>
            </a:r>
            <a:r>
              <a:rPr dirty="0" sz="2750" spc="40">
                <a:latin typeface="Cambria"/>
                <a:cs typeface="Cambria"/>
              </a:rPr>
              <a:t>de</a:t>
            </a:r>
            <a:endParaRPr sz="27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dirty="0" sz="2750">
                <a:latin typeface="Cambria"/>
                <a:cs typeface="Cambria"/>
              </a:rPr>
              <a:t>sus</a:t>
            </a:r>
            <a:r>
              <a:rPr dirty="0" sz="2750" spc="40">
                <a:latin typeface="Cambria"/>
                <a:cs typeface="Cambria"/>
              </a:rPr>
              <a:t> </a:t>
            </a:r>
            <a:r>
              <a:rPr dirty="0" sz="2750" spc="-10">
                <a:latin typeface="Cambria"/>
                <a:cs typeface="Cambria"/>
              </a:rPr>
              <a:t>datos.</a:t>
            </a:r>
            <a:endParaRPr sz="2750">
              <a:latin typeface="Cambria"/>
              <a:cs typeface="Cambri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2331472" y="5899855"/>
            <a:ext cx="2695575" cy="512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200" spc="-180">
                <a:latin typeface="Calibri"/>
                <a:cs typeface="Calibri"/>
              </a:rPr>
              <a:t>Google</a:t>
            </a:r>
            <a:r>
              <a:rPr dirty="0" sz="3200" spc="-25">
                <a:latin typeface="Calibri"/>
                <a:cs typeface="Calibri"/>
              </a:rPr>
              <a:t> </a:t>
            </a:r>
            <a:r>
              <a:rPr dirty="0" sz="3200" spc="-110">
                <a:latin typeface="Calibri"/>
                <a:cs typeface="Calibri"/>
              </a:rPr>
              <a:t>Books</a:t>
            </a:r>
            <a:r>
              <a:rPr dirty="0" sz="3200" spc="-40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API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7762550" y="5917494"/>
            <a:ext cx="1899920" cy="4914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050" spc="-170">
                <a:latin typeface="Cambria"/>
                <a:cs typeface="Cambria"/>
              </a:rPr>
              <a:t>OpenLibrary</a:t>
            </a:r>
            <a:endParaRPr sz="3050">
              <a:latin typeface="Cambria"/>
              <a:cs typeface="Cambri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2001843" y="6891476"/>
            <a:ext cx="7734300" cy="2110105"/>
          </a:xfrm>
          <a:prstGeom prst="rect">
            <a:avLst/>
          </a:prstGeom>
        </p:spPr>
        <p:txBody>
          <a:bodyPr wrap="square" lIns="0" tIns="42545" rIns="0" bIns="0" rtlCol="0" vert="horz">
            <a:spAutoFit/>
          </a:bodyPr>
          <a:lstStyle/>
          <a:p>
            <a:pPr marL="208279" indent="-194945">
              <a:lnSpc>
                <a:spcPct val="100000"/>
              </a:lnSpc>
              <a:spcBef>
                <a:spcPts val="335"/>
              </a:spcBef>
              <a:buChar char="•"/>
              <a:tabLst>
                <a:tab pos="208279" algn="l"/>
                <a:tab pos="2193290" algn="l"/>
              </a:tabLst>
            </a:pPr>
            <a:r>
              <a:rPr dirty="0" sz="3200" spc="-265">
                <a:latin typeface="Cambria"/>
                <a:cs typeface="Cambria"/>
              </a:rPr>
              <a:t>Comptetitud</a:t>
            </a:r>
            <a:r>
              <a:rPr dirty="0" sz="3200">
                <a:latin typeface="Cambria"/>
                <a:cs typeface="Cambria"/>
              </a:rPr>
              <a:t>	</a:t>
            </a:r>
            <a:r>
              <a:rPr dirty="0" sz="3200" spc="-170">
                <a:latin typeface="Cambria"/>
                <a:cs typeface="Cambria"/>
              </a:rPr>
              <a:t>de</a:t>
            </a:r>
            <a:r>
              <a:rPr dirty="0" sz="3200" spc="35">
                <a:latin typeface="Cambria"/>
                <a:cs typeface="Cambria"/>
              </a:rPr>
              <a:t> </a:t>
            </a:r>
            <a:r>
              <a:rPr dirty="0" sz="3200" spc="-229">
                <a:latin typeface="Cambria"/>
                <a:cs typeface="Cambria"/>
              </a:rPr>
              <a:t>metadatos</a:t>
            </a:r>
            <a:r>
              <a:rPr dirty="0" sz="3200" spc="90">
                <a:latin typeface="Cambria"/>
                <a:cs typeface="Cambria"/>
              </a:rPr>
              <a:t> </a:t>
            </a:r>
            <a:r>
              <a:rPr dirty="0" sz="3200" spc="-254">
                <a:latin typeface="Cambria"/>
                <a:cs typeface="Cambria"/>
              </a:rPr>
              <a:t>(ISBN,</a:t>
            </a:r>
            <a:r>
              <a:rPr dirty="0" sz="3200" spc="-25">
                <a:latin typeface="Cambria"/>
                <a:cs typeface="Cambria"/>
              </a:rPr>
              <a:t> </a:t>
            </a:r>
            <a:r>
              <a:rPr dirty="0" sz="3200" spc="-190">
                <a:latin typeface="Cambria"/>
                <a:cs typeface="Cambria"/>
              </a:rPr>
              <a:t>editorial,</a:t>
            </a:r>
            <a:r>
              <a:rPr dirty="0" sz="3200" spc="80">
                <a:latin typeface="Cambria"/>
                <a:cs typeface="Cambria"/>
              </a:rPr>
              <a:t> </a:t>
            </a:r>
            <a:r>
              <a:rPr dirty="0" sz="3200" spc="-130">
                <a:latin typeface="Cambria"/>
                <a:cs typeface="Cambria"/>
              </a:rPr>
              <a:t>fecha)</a:t>
            </a:r>
            <a:endParaRPr sz="3200">
              <a:latin typeface="Cambria"/>
              <a:cs typeface="Cambria"/>
            </a:endParaRPr>
          </a:p>
          <a:p>
            <a:pPr marL="208279" indent="-195580">
              <a:lnSpc>
                <a:spcPct val="100000"/>
              </a:lnSpc>
              <a:spcBef>
                <a:spcPts val="260"/>
              </a:spcBef>
              <a:buChar char="•"/>
              <a:tabLst>
                <a:tab pos="208279" algn="l"/>
                <a:tab pos="2218055" algn="l"/>
              </a:tabLst>
            </a:pPr>
            <a:r>
              <a:rPr dirty="0" sz="3250" spc="-150">
                <a:latin typeface="Cambria"/>
                <a:cs typeface="Cambria"/>
              </a:rPr>
              <a:t>Consistencia</a:t>
            </a:r>
            <a:r>
              <a:rPr dirty="0" sz="3250">
                <a:latin typeface="Cambria"/>
                <a:cs typeface="Cambria"/>
              </a:rPr>
              <a:t>	</a:t>
            </a:r>
            <a:r>
              <a:rPr dirty="0" sz="3250" spc="-180">
                <a:latin typeface="Cambria"/>
                <a:cs typeface="Cambria"/>
              </a:rPr>
              <a:t>de</a:t>
            </a:r>
            <a:r>
              <a:rPr dirty="0" sz="3250" spc="5">
                <a:latin typeface="Cambria"/>
                <a:cs typeface="Cambria"/>
              </a:rPr>
              <a:t> </a:t>
            </a:r>
            <a:r>
              <a:rPr dirty="0" sz="3250" spc="-350">
                <a:latin typeface="Cambria"/>
                <a:cs typeface="Cambria"/>
              </a:rPr>
              <a:t>la</a:t>
            </a:r>
            <a:r>
              <a:rPr dirty="0" sz="3250" spc="165">
                <a:latin typeface="Cambria"/>
                <a:cs typeface="Cambria"/>
              </a:rPr>
              <a:t> </a:t>
            </a:r>
            <a:r>
              <a:rPr dirty="0" sz="3250" spc="-280">
                <a:latin typeface="Cambria"/>
                <a:cs typeface="Cambria"/>
              </a:rPr>
              <a:t>información</a:t>
            </a:r>
            <a:endParaRPr sz="3250">
              <a:latin typeface="Cambria"/>
              <a:cs typeface="Cambria"/>
            </a:endParaRPr>
          </a:p>
          <a:p>
            <a:pPr marL="220979" indent="-207645">
              <a:lnSpc>
                <a:spcPct val="100000"/>
              </a:lnSpc>
              <a:spcBef>
                <a:spcPts val="250"/>
              </a:spcBef>
              <a:buChar char="•"/>
              <a:tabLst>
                <a:tab pos="220979" algn="l"/>
                <a:tab pos="1316990" algn="l"/>
              </a:tabLst>
            </a:pPr>
            <a:r>
              <a:rPr dirty="0" sz="3200" spc="-320">
                <a:latin typeface="Cambria"/>
                <a:cs typeface="Cambria"/>
              </a:rPr>
              <a:t>Esta</a:t>
            </a:r>
            <a:r>
              <a:rPr dirty="0" sz="3200">
                <a:latin typeface="Cambria"/>
                <a:cs typeface="Cambria"/>
              </a:rPr>
              <a:t>	</a:t>
            </a:r>
            <a:r>
              <a:rPr dirty="0" sz="3200" spc="-240">
                <a:latin typeface="Cambria"/>
                <a:cs typeface="Cambria"/>
              </a:rPr>
              <a:t>dad</a:t>
            </a:r>
            <a:r>
              <a:rPr dirty="0" sz="3200" spc="90">
                <a:latin typeface="Cambria"/>
                <a:cs typeface="Cambria"/>
              </a:rPr>
              <a:t> </a:t>
            </a:r>
            <a:r>
              <a:rPr dirty="0" sz="3200" spc="-340">
                <a:latin typeface="Cambria"/>
                <a:cs typeface="Cambria"/>
              </a:rPr>
              <a:t>y</a:t>
            </a:r>
            <a:r>
              <a:rPr dirty="0" sz="3200" spc="-15">
                <a:latin typeface="Cambria"/>
                <a:cs typeface="Cambria"/>
              </a:rPr>
              <a:t> </a:t>
            </a:r>
            <a:r>
              <a:rPr dirty="0" sz="3200" spc="-235">
                <a:latin typeface="Cambria"/>
                <a:cs typeface="Cambria"/>
              </a:rPr>
              <a:t>tiempo</a:t>
            </a:r>
            <a:r>
              <a:rPr dirty="0" sz="3200">
                <a:latin typeface="Cambria"/>
                <a:cs typeface="Cambria"/>
              </a:rPr>
              <a:t> </a:t>
            </a:r>
            <a:r>
              <a:rPr dirty="0" sz="3200" spc="-170">
                <a:latin typeface="Cambria"/>
                <a:cs typeface="Cambria"/>
              </a:rPr>
              <a:t>de</a:t>
            </a:r>
            <a:r>
              <a:rPr dirty="0" sz="3200" spc="30">
                <a:latin typeface="Cambria"/>
                <a:cs typeface="Cambria"/>
              </a:rPr>
              <a:t> </a:t>
            </a:r>
            <a:r>
              <a:rPr dirty="0" sz="3200" spc="-260">
                <a:latin typeface="Cambria"/>
                <a:cs typeface="Cambria"/>
              </a:rPr>
              <a:t>respuesta</a:t>
            </a:r>
            <a:r>
              <a:rPr dirty="0" sz="3200" spc="145">
                <a:latin typeface="Cambria"/>
                <a:cs typeface="Cambria"/>
              </a:rPr>
              <a:t> </a:t>
            </a:r>
            <a:r>
              <a:rPr dirty="0" sz="3200" spc="-120">
                <a:latin typeface="Cambria"/>
                <a:cs typeface="Cambria"/>
              </a:rPr>
              <a:t>de</a:t>
            </a:r>
            <a:r>
              <a:rPr dirty="0" sz="3200" spc="-65">
                <a:latin typeface="Cambria"/>
                <a:cs typeface="Cambria"/>
              </a:rPr>
              <a:t> </a:t>
            </a:r>
            <a:r>
              <a:rPr dirty="0" sz="3200" spc="-285">
                <a:latin typeface="Cambria"/>
                <a:cs typeface="Cambria"/>
              </a:rPr>
              <a:t>la</a:t>
            </a:r>
            <a:r>
              <a:rPr dirty="0" sz="3200" spc="90">
                <a:latin typeface="Cambria"/>
                <a:cs typeface="Cambria"/>
              </a:rPr>
              <a:t> </a:t>
            </a:r>
            <a:r>
              <a:rPr dirty="0" sz="3200" spc="-405">
                <a:latin typeface="Cambria"/>
                <a:cs typeface="Cambria"/>
              </a:rPr>
              <a:t>API</a:t>
            </a:r>
            <a:endParaRPr sz="3200">
              <a:latin typeface="Cambria"/>
              <a:cs typeface="Cambria"/>
            </a:endParaRPr>
          </a:p>
          <a:p>
            <a:pPr marL="210185" indent="-196215">
              <a:lnSpc>
                <a:spcPct val="100000"/>
              </a:lnSpc>
              <a:spcBef>
                <a:spcPts val="360"/>
              </a:spcBef>
              <a:buChar char="•"/>
              <a:tabLst>
                <a:tab pos="210185" algn="l"/>
              </a:tabLst>
            </a:pPr>
            <a:r>
              <a:rPr dirty="0" sz="3100" spc="-170">
                <a:latin typeface="Cambria"/>
                <a:cs typeface="Cambria"/>
              </a:rPr>
              <a:t>Cobertura</a:t>
            </a:r>
            <a:r>
              <a:rPr dirty="0" sz="3100" spc="55">
                <a:latin typeface="Cambria"/>
                <a:cs typeface="Cambria"/>
              </a:rPr>
              <a:t> </a:t>
            </a:r>
            <a:r>
              <a:rPr dirty="0" sz="3100" spc="-110">
                <a:latin typeface="Cambria"/>
                <a:cs typeface="Cambria"/>
              </a:rPr>
              <a:t>de</a:t>
            </a:r>
            <a:r>
              <a:rPr dirty="0" sz="3100" spc="-65">
                <a:latin typeface="Cambria"/>
                <a:cs typeface="Cambria"/>
              </a:rPr>
              <a:t> </a:t>
            </a:r>
            <a:r>
              <a:rPr dirty="0" sz="3100" spc="-204">
                <a:latin typeface="Cambria"/>
                <a:cs typeface="Cambria"/>
              </a:rPr>
              <a:t>libros</a:t>
            </a:r>
            <a:r>
              <a:rPr dirty="0" sz="3100" spc="-105">
                <a:latin typeface="Cambria"/>
                <a:cs typeface="Cambria"/>
              </a:rPr>
              <a:t> </a:t>
            </a:r>
            <a:r>
              <a:rPr dirty="0" sz="3100" spc="-65">
                <a:latin typeface="Cambria"/>
                <a:cs typeface="Cambria"/>
              </a:rPr>
              <a:t>contemporáneos</a:t>
            </a:r>
            <a:endParaRPr sz="3100">
              <a:latin typeface="Cambria"/>
              <a:cs typeface="Cambri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3171526" y="5899855"/>
            <a:ext cx="1279525" cy="512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200" spc="-285">
                <a:latin typeface="Cambria"/>
                <a:cs typeface="Cambria"/>
              </a:rPr>
              <a:t>DBpedia</a:t>
            </a:r>
            <a:endParaRPr sz="3200">
              <a:latin typeface="Cambria"/>
              <a:cs typeface="Cambria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3921054" y="8965141"/>
            <a:ext cx="423545" cy="2476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50" spc="-25">
                <a:latin typeface="Cambria"/>
                <a:cs typeface="Cambria"/>
              </a:rPr>
              <a:t>Date: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5050732" y="8956322"/>
            <a:ext cx="621665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 spc="-40">
                <a:latin typeface="Cambria"/>
                <a:cs typeface="Cambria"/>
              </a:rPr>
              <a:t>Project:</a:t>
            </a:r>
            <a:endParaRPr sz="15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2200" y="7607300"/>
            <a:ext cx="15290800" cy="1282700"/>
          </a:xfrm>
          <a:prstGeom prst="rect">
            <a:avLst/>
          </a:prstGeom>
        </p:spPr>
      </p:pic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1325032" y="2451100"/>
          <a:ext cx="15109190" cy="47999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78100"/>
                <a:gridCol w="4783455"/>
                <a:gridCol w="4639310"/>
                <a:gridCol w="3009265"/>
              </a:tblGrid>
              <a:tr h="782955">
                <a:tc>
                  <a:txBody>
                    <a:bodyPr/>
                    <a:lstStyle/>
                    <a:p>
                      <a:pPr algn="ctr" marL="6350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dirty="0" sz="3100" spc="-30">
                          <a:latin typeface="Calibri"/>
                          <a:cs typeface="Calibri"/>
                        </a:rPr>
                        <a:t>Fuente</a:t>
                      </a:r>
                      <a:endParaRPr sz="3100">
                        <a:latin typeface="Calibri"/>
                        <a:cs typeface="Calibri"/>
                      </a:endParaRPr>
                    </a:p>
                  </a:txBody>
                  <a:tcPr marL="0" marR="0" marB="0" marT="97155">
                    <a:lnL w="28575">
                      <a:solidFill>
                        <a:srgbClr val="384857"/>
                      </a:solidFill>
                      <a:prstDash val="solid"/>
                    </a:lnL>
                    <a:lnR w="28575">
                      <a:solidFill>
                        <a:srgbClr val="384857"/>
                      </a:solidFill>
                      <a:prstDash val="solid"/>
                    </a:lnR>
                    <a:lnT w="28575">
                      <a:solidFill>
                        <a:srgbClr val="384857"/>
                      </a:solidFill>
                      <a:prstDash val="solid"/>
                    </a:lnT>
                    <a:lnB w="28575">
                      <a:solidFill>
                        <a:srgbClr val="38485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5651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dirty="0" sz="3050" spc="-55">
                          <a:latin typeface="Calibri"/>
                          <a:cs typeface="Calibri"/>
                        </a:rPr>
                        <a:t>Fortalezas</a:t>
                      </a:r>
                      <a:endParaRPr sz="3050">
                        <a:latin typeface="Calibri"/>
                        <a:cs typeface="Calibri"/>
                      </a:endParaRPr>
                    </a:p>
                  </a:txBody>
                  <a:tcPr marL="0" marR="0" marB="0" marT="103505">
                    <a:lnL w="28575">
                      <a:solidFill>
                        <a:srgbClr val="384857"/>
                      </a:solidFill>
                      <a:prstDash val="solid"/>
                    </a:lnL>
                    <a:lnR w="28575">
                      <a:solidFill>
                        <a:srgbClr val="384857"/>
                      </a:solidFill>
                      <a:prstDash val="solid"/>
                    </a:lnR>
                    <a:lnT w="28575">
                      <a:solidFill>
                        <a:srgbClr val="384857"/>
                      </a:solidFill>
                      <a:prstDash val="solid"/>
                    </a:lnT>
                    <a:lnB w="28575">
                      <a:solidFill>
                        <a:srgbClr val="38485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74930">
                        <a:lnSpc>
                          <a:spcPct val="100000"/>
                        </a:lnSpc>
                        <a:spcBef>
                          <a:spcPts val="1115"/>
                        </a:spcBef>
                      </a:pPr>
                      <a:r>
                        <a:rPr dirty="0" sz="2750">
                          <a:latin typeface="Calibri"/>
                          <a:cs typeface="Calibri"/>
                        </a:rPr>
                        <a:t>Limitaciones</a:t>
                      </a:r>
                      <a:r>
                        <a:rPr dirty="0" sz="2750" spc="2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50" spc="-10">
                          <a:latin typeface="Calibri"/>
                          <a:cs typeface="Calibri"/>
                        </a:rPr>
                        <a:t>Detectadas</a:t>
                      </a:r>
                      <a:endParaRPr sz="2750">
                        <a:latin typeface="Calibri"/>
                        <a:cs typeface="Calibri"/>
                      </a:endParaRPr>
                    </a:p>
                  </a:txBody>
                  <a:tcPr marL="0" marR="0" marB="0" marT="141605">
                    <a:lnL w="28575">
                      <a:solidFill>
                        <a:srgbClr val="384857"/>
                      </a:solidFill>
                      <a:prstDash val="solid"/>
                    </a:lnL>
                    <a:lnR w="28575">
                      <a:solidFill>
                        <a:srgbClr val="384857"/>
                      </a:solidFill>
                      <a:prstDash val="solid"/>
                    </a:lnR>
                    <a:lnT w="28575">
                      <a:solidFill>
                        <a:srgbClr val="384857"/>
                      </a:solidFill>
                      <a:prstDash val="solid"/>
                    </a:lnT>
                    <a:lnB w="28575">
                      <a:solidFill>
                        <a:srgbClr val="38485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50800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dirty="0" sz="3050" spc="-20">
                          <a:latin typeface="Calibri"/>
                          <a:cs typeface="Calibri"/>
                        </a:rPr>
                        <a:t>Decisión</a:t>
                      </a:r>
                      <a:endParaRPr sz="3050">
                        <a:latin typeface="Calibri"/>
                        <a:cs typeface="Calibri"/>
                      </a:endParaRPr>
                    </a:p>
                  </a:txBody>
                  <a:tcPr marL="0" marR="0" marB="0" marT="103505">
                    <a:lnL w="28575">
                      <a:solidFill>
                        <a:srgbClr val="384857"/>
                      </a:solidFill>
                      <a:prstDash val="solid"/>
                    </a:lnL>
                    <a:lnR w="28575">
                      <a:solidFill>
                        <a:srgbClr val="384857"/>
                      </a:solidFill>
                      <a:prstDash val="solid"/>
                    </a:lnR>
                    <a:lnT w="28575">
                      <a:solidFill>
                        <a:srgbClr val="384857"/>
                      </a:solidFill>
                      <a:prstDash val="solid"/>
                    </a:lnT>
                    <a:lnB w="28575">
                      <a:solidFill>
                        <a:srgbClr val="384857"/>
                      </a:solidFill>
                      <a:prstDash val="solid"/>
                    </a:lnB>
                  </a:tcPr>
                </a:tc>
              </a:tr>
              <a:tr h="1240155">
                <a:tc>
                  <a:txBody>
                    <a:bodyPr/>
                    <a:lstStyle/>
                    <a:p>
                      <a:pPr algn="ctr" marR="48895">
                        <a:lnSpc>
                          <a:spcPct val="100000"/>
                        </a:lnSpc>
                        <a:spcBef>
                          <a:spcPts val="2750"/>
                        </a:spcBef>
                      </a:pPr>
                      <a:r>
                        <a:rPr dirty="0" sz="2600" spc="-170">
                          <a:latin typeface="Calibri"/>
                          <a:cs typeface="Calibri"/>
                        </a:rPr>
                        <a:t>Google</a:t>
                      </a:r>
                      <a:r>
                        <a:rPr dirty="0" sz="2600" spc="-120">
                          <a:latin typeface="Calibri"/>
                          <a:cs typeface="Calibri"/>
                        </a:rPr>
                        <a:t> Books</a:t>
                      </a:r>
                      <a:r>
                        <a:rPr dirty="0" sz="2600" spc="-10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600" spc="-25">
                          <a:latin typeface="Calibri"/>
                          <a:cs typeface="Calibri"/>
                        </a:rPr>
                        <a:t>API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B="0" marT="349250">
                    <a:lnL w="28575">
                      <a:solidFill>
                        <a:srgbClr val="384857"/>
                      </a:solidFill>
                      <a:prstDash val="solid"/>
                    </a:lnL>
                    <a:lnR w="28575">
                      <a:solidFill>
                        <a:srgbClr val="384857"/>
                      </a:solidFill>
                      <a:prstDash val="solid"/>
                    </a:lnR>
                    <a:lnT w="28575">
                      <a:solidFill>
                        <a:srgbClr val="384857"/>
                      </a:solidFill>
                      <a:prstDash val="solid"/>
                    </a:lnT>
                    <a:lnB w="28575">
                      <a:solidFill>
                        <a:srgbClr val="38485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36220" marR="123825" indent="-1905">
                        <a:lnSpc>
                          <a:spcPct val="80200"/>
                        </a:lnSpc>
                        <a:spcBef>
                          <a:spcPts val="740"/>
                        </a:spcBef>
                      </a:pPr>
                      <a:r>
                        <a:rPr dirty="0" sz="2700" spc="-225">
                          <a:latin typeface="Calibri"/>
                          <a:cs typeface="Calibri"/>
                        </a:rPr>
                        <a:t>Datos</a:t>
                      </a:r>
                      <a:r>
                        <a:rPr dirty="0" sz="27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00" spc="-170">
                          <a:latin typeface="Calibri"/>
                          <a:cs typeface="Calibri"/>
                        </a:rPr>
                        <a:t>estructurados,</a:t>
                      </a:r>
                      <a:r>
                        <a:rPr dirty="0" sz="2700" spc="-2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00" spc="-85">
                          <a:latin typeface="Calibri"/>
                          <a:cs typeface="Calibri"/>
                        </a:rPr>
                        <a:t>información </a:t>
                      </a:r>
                      <a:r>
                        <a:rPr dirty="0" sz="2600" spc="-120">
                          <a:latin typeface="Calibri"/>
                          <a:cs typeface="Calibri"/>
                        </a:rPr>
                        <a:t>editorial</a:t>
                      </a:r>
                      <a:r>
                        <a:rPr dirty="0" sz="26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600" spc="-145">
                          <a:latin typeface="Calibri"/>
                          <a:cs typeface="Calibri"/>
                        </a:rPr>
                        <a:t>consistente,</a:t>
                      </a:r>
                      <a:r>
                        <a:rPr dirty="0" sz="2600" spc="7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600" spc="-114">
                          <a:latin typeface="Calibri"/>
                          <a:cs typeface="Calibri"/>
                        </a:rPr>
                        <a:t>ISBN</a:t>
                      </a:r>
                      <a:r>
                        <a:rPr dirty="0" sz="2600" spc="-100">
                          <a:latin typeface="Calibri"/>
                          <a:cs typeface="Calibri"/>
                        </a:rPr>
                        <a:t> validados, </a:t>
                      </a:r>
                      <a:r>
                        <a:rPr dirty="0" sz="2700" spc="-215">
                          <a:latin typeface="Calibri"/>
                          <a:cs typeface="Calibri"/>
                        </a:rPr>
                        <a:t>tiempos</a:t>
                      </a:r>
                      <a:r>
                        <a:rPr dirty="0" sz="2700" spc="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00" spc="-195">
                          <a:latin typeface="Calibri"/>
                          <a:cs typeface="Calibri"/>
                        </a:rPr>
                        <a:t>de</a:t>
                      </a:r>
                      <a:r>
                        <a:rPr dirty="0" sz="2700" spc="-1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00" spc="-200">
                          <a:latin typeface="Calibri"/>
                          <a:cs typeface="Calibri"/>
                        </a:rPr>
                        <a:t>respuesta</a:t>
                      </a:r>
                      <a:r>
                        <a:rPr dirty="0" sz="2700" spc="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00" spc="-60">
                          <a:latin typeface="Calibri"/>
                          <a:cs typeface="Calibri"/>
                        </a:rPr>
                        <a:t>estables.</a:t>
                      </a:r>
                      <a:endParaRPr sz="2700">
                        <a:latin typeface="Calibri"/>
                        <a:cs typeface="Calibri"/>
                      </a:endParaRPr>
                    </a:p>
                  </a:txBody>
                  <a:tcPr marL="0" marR="0" marB="0" marT="93980">
                    <a:lnL w="28575">
                      <a:solidFill>
                        <a:srgbClr val="384857"/>
                      </a:solidFill>
                      <a:prstDash val="solid"/>
                    </a:lnL>
                    <a:lnR w="28575">
                      <a:solidFill>
                        <a:srgbClr val="384857"/>
                      </a:solidFill>
                      <a:prstDash val="solid"/>
                    </a:lnR>
                    <a:lnT w="28575">
                      <a:solidFill>
                        <a:srgbClr val="384857"/>
                      </a:solidFill>
                      <a:prstDash val="solid"/>
                    </a:lnT>
                    <a:lnB w="28575">
                      <a:solidFill>
                        <a:srgbClr val="38485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0"/>
                        </a:spcBef>
                      </a:pPr>
                      <a:r>
                        <a:rPr dirty="0" sz="2500" spc="-305">
                          <a:latin typeface="Consolas"/>
                          <a:cs typeface="Consolas"/>
                        </a:rPr>
                        <a:t>N/A</a:t>
                      </a:r>
                      <a:endParaRPr sz="2500">
                        <a:latin typeface="Consolas"/>
                        <a:cs typeface="Consolas"/>
                      </a:endParaRPr>
                    </a:p>
                  </a:txBody>
                  <a:tcPr marL="0" marR="0" marB="0" marT="355600">
                    <a:lnL w="28575">
                      <a:solidFill>
                        <a:srgbClr val="384857"/>
                      </a:solidFill>
                      <a:prstDash val="solid"/>
                    </a:lnL>
                    <a:lnR w="28575">
                      <a:solidFill>
                        <a:srgbClr val="384857"/>
                      </a:solidFill>
                      <a:prstDash val="solid"/>
                    </a:lnR>
                    <a:lnT w="28575">
                      <a:solidFill>
                        <a:srgbClr val="384857"/>
                      </a:solidFill>
                      <a:prstDash val="solid"/>
                    </a:lnT>
                    <a:lnB w="28575">
                      <a:solidFill>
                        <a:srgbClr val="38485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  <a:p>
                      <a:pPr algn="ctr" marL="76200">
                        <a:lnSpc>
                          <a:spcPct val="100000"/>
                        </a:lnSpc>
                      </a:pPr>
                      <a:r>
                        <a:rPr dirty="0" sz="2500">
                          <a:solidFill>
                            <a:srgbClr val="758E8A"/>
                          </a:solidFill>
                          <a:latin typeface="Calibri"/>
                          <a:cs typeface="Calibri"/>
                        </a:rPr>
                        <a:t>Fuente</a:t>
                      </a:r>
                      <a:r>
                        <a:rPr dirty="0" sz="2500" spc="-60">
                          <a:solidFill>
                            <a:srgbClr val="758E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500" spc="50">
                          <a:solidFill>
                            <a:srgbClr val="6D8785"/>
                          </a:solidFill>
                          <a:latin typeface="Calibri"/>
                          <a:cs typeface="Calibri"/>
                        </a:rPr>
                        <a:t>Principal</a:t>
                      </a:r>
                      <a:endParaRPr sz="25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28575">
                      <a:solidFill>
                        <a:srgbClr val="384857"/>
                      </a:solidFill>
                      <a:prstDash val="solid"/>
                    </a:lnL>
                    <a:lnR w="28575">
                      <a:solidFill>
                        <a:srgbClr val="384857"/>
                      </a:solidFill>
                      <a:prstDash val="solid"/>
                    </a:lnR>
                    <a:lnT w="28575">
                      <a:solidFill>
                        <a:srgbClr val="384857"/>
                      </a:solidFill>
                      <a:prstDash val="solid"/>
                    </a:lnT>
                    <a:lnB w="28575">
                      <a:solidFill>
                        <a:srgbClr val="384857"/>
                      </a:solidFill>
                      <a:prstDash val="solid"/>
                    </a:lnB>
                  </a:tcPr>
                </a:tc>
              </a:tr>
              <a:tr h="1549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20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algn="ctr" marR="76200">
                        <a:lnSpc>
                          <a:spcPct val="100000"/>
                        </a:lnSpc>
                      </a:pPr>
                      <a:r>
                        <a:rPr dirty="0" sz="2400" spc="-10">
                          <a:latin typeface="Calibri"/>
                          <a:cs typeface="Calibri"/>
                        </a:rPr>
                        <a:t>0penLibrary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180340">
                    <a:lnL w="28575">
                      <a:solidFill>
                        <a:srgbClr val="384857"/>
                      </a:solidFill>
                      <a:prstDash val="solid"/>
                    </a:lnL>
                    <a:lnR w="28575">
                      <a:solidFill>
                        <a:srgbClr val="384857"/>
                      </a:solidFill>
                      <a:prstDash val="solid"/>
                    </a:lnR>
                    <a:lnT w="28575">
                      <a:solidFill>
                        <a:srgbClr val="384857"/>
                      </a:solidFill>
                      <a:prstDash val="solid"/>
                    </a:lnT>
                    <a:lnB w="28575">
                      <a:solidFill>
                        <a:srgbClr val="38485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70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algn="ctr" marL="71120">
                        <a:lnSpc>
                          <a:spcPct val="100000"/>
                        </a:lnSpc>
                      </a:pPr>
                      <a:r>
                        <a:rPr dirty="0" sz="2400" spc="-70">
                          <a:latin typeface="Calibri"/>
                          <a:cs typeface="Calibri"/>
                        </a:rPr>
                        <a:t>Amplio</a:t>
                      </a:r>
                      <a:r>
                        <a:rPr dirty="0" sz="2400" spc="-8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-50">
                          <a:latin typeface="Calibri"/>
                          <a:cs typeface="Calibri"/>
                        </a:rPr>
                        <a:t>repositorio</a:t>
                      </a:r>
                      <a:r>
                        <a:rPr dirty="0" sz="2400" spc="9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-10">
                          <a:latin typeface="Calibri"/>
                          <a:cs typeface="Calibri"/>
                        </a:rPr>
                        <a:t>abierto.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173990">
                    <a:lnL w="28575">
                      <a:solidFill>
                        <a:srgbClr val="384857"/>
                      </a:solidFill>
                      <a:prstDash val="solid"/>
                    </a:lnL>
                    <a:lnR w="28575">
                      <a:solidFill>
                        <a:srgbClr val="384857"/>
                      </a:solidFill>
                      <a:prstDash val="solid"/>
                    </a:lnR>
                    <a:lnT w="28575">
                      <a:solidFill>
                        <a:srgbClr val="384857"/>
                      </a:solidFill>
                      <a:prstDash val="solid"/>
                    </a:lnT>
                    <a:lnB w="28575">
                      <a:solidFill>
                        <a:srgbClr val="38485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77800" marR="173355" indent="-14604">
                        <a:lnSpc>
                          <a:spcPct val="85800"/>
                        </a:lnSpc>
                        <a:spcBef>
                          <a:spcPts val="790"/>
                        </a:spcBef>
                      </a:pPr>
                      <a:r>
                        <a:rPr dirty="0" sz="2400" spc="-45">
                          <a:latin typeface="Calibri"/>
                          <a:cs typeface="Calibri"/>
                        </a:rPr>
                        <a:t>Información </a:t>
                      </a:r>
                      <a:r>
                        <a:rPr dirty="0" sz="2400" spc="-35">
                          <a:latin typeface="Calibri"/>
                          <a:cs typeface="Calibri"/>
                        </a:rPr>
                        <a:t>inestable</a:t>
                      </a:r>
                      <a:r>
                        <a:rPr dirty="0" sz="24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y</a:t>
                      </a:r>
                      <a:r>
                        <a:rPr dirty="0" sz="2400" spc="-1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2400" spc="-19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-10">
                          <a:latin typeface="Calibri"/>
                          <a:cs typeface="Calibri"/>
                        </a:rPr>
                        <a:t>menudo </a:t>
                      </a:r>
                      <a:r>
                        <a:rPr dirty="0" sz="2500" spc="-100">
                          <a:latin typeface="Calibri"/>
                          <a:cs typeface="Calibri"/>
                        </a:rPr>
                        <a:t>incompleta.</a:t>
                      </a:r>
                      <a:r>
                        <a:rPr dirty="0" sz="25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500" spc="-50">
                          <a:latin typeface="Calibri"/>
                          <a:cs typeface="Calibri"/>
                        </a:rPr>
                        <a:t>ISBN</a:t>
                      </a:r>
                      <a:r>
                        <a:rPr dirty="0" sz="2500" spc="-7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500" spc="-100">
                          <a:latin typeface="Calibri"/>
                          <a:cs typeface="Calibri"/>
                        </a:rPr>
                        <a:t>y</a:t>
                      </a:r>
                      <a:r>
                        <a:rPr dirty="0" sz="2500" spc="-19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500" spc="-10">
                          <a:latin typeface="Calibri"/>
                          <a:cs typeface="Calibri"/>
                        </a:rPr>
                        <a:t>editoriales </a:t>
                      </a:r>
                      <a:r>
                        <a:rPr dirty="0" sz="2500" spc="-114">
                          <a:latin typeface="Calibri"/>
                          <a:cs typeface="Calibri"/>
                        </a:rPr>
                        <a:t>ausentes.</a:t>
                      </a:r>
                      <a:r>
                        <a:rPr dirty="0" sz="25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500" spc="-130">
                          <a:latin typeface="Calibri"/>
                          <a:cs typeface="Calibri"/>
                        </a:rPr>
                        <a:t>Múltiples</a:t>
                      </a:r>
                      <a:r>
                        <a:rPr dirty="0" sz="2500" spc="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500" spc="-85">
                          <a:latin typeface="Calibri"/>
                          <a:cs typeface="Calibri"/>
                        </a:rPr>
                        <a:t>consultas</a:t>
                      </a:r>
                      <a:r>
                        <a:rPr dirty="0" sz="25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500" spc="-25">
                          <a:latin typeface="Calibri"/>
                          <a:cs typeface="Calibri"/>
                        </a:rPr>
                        <a:t>lentas </a:t>
                      </a:r>
                      <a:r>
                        <a:rPr dirty="0" sz="2550" spc="-35">
                          <a:latin typeface="Calibri"/>
                          <a:cs typeface="Calibri"/>
                        </a:rPr>
                        <a:t>requeridas.</a:t>
                      </a:r>
                      <a:endParaRPr sz="2550">
                        <a:latin typeface="Calibri"/>
                        <a:cs typeface="Calibri"/>
                      </a:endParaRPr>
                    </a:p>
                  </a:txBody>
                  <a:tcPr marL="0" marR="0" marB="0" marT="100330">
                    <a:lnL w="28575">
                      <a:solidFill>
                        <a:srgbClr val="384857"/>
                      </a:solidFill>
                      <a:prstDash val="solid"/>
                    </a:lnL>
                    <a:lnR w="28575">
                      <a:solidFill>
                        <a:srgbClr val="384857"/>
                      </a:solidFill>
                      <a:prstDash val="solid"/>
                    </a:lnR>
                    <a:lnT w="28575">
                      <a:solidFill>
                        <a:srgbClr val="384857"/>
                      </a:solidFill>
                      <a:prstDash val="solid"/>
                    </a:lnT>
                    <a:lnB w="28575">
                      <a:solidFill>
                        <a:srgbClr val="38485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endParaRPr sz="2550">
                        <a:latin typeface="Times New Roman"/>
                        <a:cs typeface="Times New Roman"/>
                      </a:endParaRPr>
                    </a:p>
                    <a:p>
                      <a:pPr algn="ctr" marL="48260">
                        <a:lnSpc>
                          <a:spcPct val="100000"/>
                        </a:lnSpc>
                      </a:pPr>
                      <a:r>
                        <a:rPr dirty="0" sz="2550" spc="-10">
                          <a:solidFill>
                            <a:srgbClr val="A1503F"/>
                          </a:solidFill>
                          <a:latin typeface="Calibri"/>
                          <a:cs typeface="Calibri"/>
                        </a:rPr>
                        <a:t>Descartada</a:t>
                      </a:r>
                      <a:endParaRPr sz="2550">
                        <a:latin typeface="Calibri"/>
                        <a:cs typeface="Calibri"/>
                      </a:endParaRPr>
                    </a:p>
                  </a:txBody>
                  <a:tcPr marL="0" marR="0" marB="0" marT="146050">
                    <a:lnL w="28575">
                      <a:solidFill>
                        <a:srgbClr val="384857"/>
                      </a:solidFill>
                      <a:prstDash val="solid"/>
                    </a:lnL>
                    <a:lnR w="28575">
                      <a:solidFill>
                        <a:srgbClr val="384857"/>
                      </a:solidFill>
                      <a:prstDash val="solid"/>
                    </a:lnR>
                    <a:lnT w="28575">
                      <a:solidFill>
                        <a:srgbClr val="384857"/>
                      </a:solidFill>
                      <a:prstDash val="solid"/>
                    </a:lnT>
                    <a:lnB w="28575">
                      <a:solidFill>
                        <a:srgbClr val="384857"/>
                      </a:solidFill>
                      <a:prstDash val="solid"/>
                    </a:lnB>
                  </a:tcPr>
                </a:tc>
              </a:tr>
              <a:tr h="12274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algn="ctr" marR="49530">
                        <a:lnSpc>
                          <a:spcPct val="100000"/>
                        </a:lnSpc>
                      </a:pPr>
                      <a:r>
                        <a:rPr dirty="0" sz="2400" spc="-10">
                          <a:latin typeface="Calibri"/>
                          <a:cs typeface="Calibri"/>
                        </a:rPr>
                        <a:t>DBpedia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21590">
                    <a:lnL w="28575">
                      <a:solidFill>
                        <a:srgbClr val="384857"/>
                      </a:solidFill>
                      <a:prstDash val="solid"/>
                    </a:lnL>
                    <a:lnR w="28575">
                      <a:solidFill>
                        <a:srgbClr val="384857"/>
                      </a:solidFill>
                      <a:prstDash val="solid"/>
                    </a:lnR>
                    <a:lnT w="28575">
                      <a:solidFill>
                        <a:srgbClr val="384857"/>
                      </a:solidFill>
                      <a:prstDash val="solid"/>
                    </a:lnT>
                    <a:lnB w="28575">
                      <a:solidFill>
                        <a:srgbClr val="38485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85925" marR="495300" indent="-1066800">
                        <a:lnSpc>
                          <a:spcPts val="2600"/>
                        </a:lnSpc>
                        <a:spcBef>
                          <a:spcPts val="1950"/>
                        </a:spcBef>
                      </a:pPr>
                      <a:r>
                        <a:rPr dirty="0" sz="2400" spc="-55">
                          <a:latin typeface="Calibri"/>
                          <a:cs typeface="Calibri"/>
                        </a:rPr>
                        <a:t>Interconexión</a:t>
                      </a:r>
                      <a:r>
                        <a:rPr dirty="0" sz="2400" spc="1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-60">
                          <a:latin typeface="Calibri"/>
                          <a:cs typeface="Calibri"/>
                        </a:rPr>
                        <a:t>con</a:t>
                      </a:r>
                      <a:r>
                        <a:rPr dirty="0" sz="2400" spc="-114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-65">
                          <a:latin typeface="Calibri"/>
                          <a:cs typeface="Calibri"/>
                        </a:rPr>
                        <a:t>Wikidata</a:t>
                      </a:r>
                      <a:r>
                        <a:rPr dirty="0" sz="24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-25">
                          <a:latin typeface="Calibri"/>
                          <a:cs typeface="Calibri"/>
                        </a:rPr>
                        <a:t>vía </a:t>
                      </a:r>
                      <a:r>
                        <a:rPr dirty="0" sz="2400" spc="-10">
                          <a:latin typeface="Calibri"/>
                          <a:cs typeface="Calibri"/>
                        </a:rPr>
                        <a:t>owl:sameAs”.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247650">
                    <a:lnL w="28575">
                      <a:solidFill>
                        <a:srgbClr val="384857"/>
                      </a:solidFill>
                      <a:prstDash val="solid"/>
                    </a:lnL>
                    <a:lnR w="28575">
                      <a:solidFill>
                        <a:srgbClr val="384857"/>
                      </a:solidFill>
                      <a:prstDash val="solid"/>
                    </a:lnR>
                    <a:lnT w="28575">
                      <a:solidFill>
                        <a:srgbClr val="384857"/>
                      </a:solidFill>
                      <a:prstDash val="solid"/>
                    </a:lnT>
                    <a:lnB w="28575">
                      <a:solidFill>
                        <a:srgbClr val="38485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40665" marR="210185" indent="10795">
                        <a:lnSpc>
                          <a:spcPts val="2550"/>
                        </a:lnSpc>
                        <a:spcBef>
                          <a:spcPts val="790"/>
                        </a:spcBef>
                      </a:pPr>
                      <a:r>
                        <a:rPr dirty="0" sz="2350" spc="-35">
                          <a:latin typeface="Calibri"/>
                          <a:cs typeface="Calibri"/>
                        </a:rPr>
                        <a:t>Cobertura</a:t>
                      </a:r>
                      <a:r>
                        <a:rPr dirty="0" sz="2350" spc="-9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 spc="-20">
                          <a:latin typeface="Calibri"/>
                          <a:cs typeface="Calibri"/>
                        </a:rPr>
                        <a:t>irregular</a:t>
                      </a:r>
                      <a:r>
                        <a:rPr dirty="0" sz="235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>
                          <a:latin typeface="Calibri"/>
                          <a:cs typeface="Calibri"/>
                        </a:rPr>
                        <a:t>de</a:t>
                      </a:r>
                      <a:r>
                        <a:rPr dirty="0" sz="2350" spc="-1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 spc="-10">
                          <a:latin typeface="Calibri"/>
                          <a:cs typeface="Calibri"/>
                        </a:rPr>
                        <a:t>libros </a:t>
                      </a:r>
                      <a:r>
                        <a:rPr dirty="0" sz="2300" spc="-95">
                          <a:latin typeface="Arial MT"/>
                          <a:cs typeface="Arial MT"/>
                        </a:rPr>
                        <a:t>contemporáneos.</a:t>
                      </a:r>
                      <a:r>
                        <a:rPr dirty="0" sz="2300" spc="-16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300" spc="-30">
                          <a:latin typeface="Arial MT"/>
                          <a:cs typeface="Arial MT"/>
                        </a:rPr>
                        <a:t>Ausencia </a:t>
                      </a:r>
                      <a:r>
                        <a:rPr dirty="0" sz="2300" spc="-100">
                          <a:latin typeface="Arial MT"/>
                          <a:cs typeface="Arial MT"/>
                        </a:rPr>
                        <a:t>frecuente</a:t>
                      </a:r>
                      <a:r>
                        <a:rPr dirty="0" sz="230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300" spc="-130">
                          <a:latin typeface="Arial MT"/>
                          <a:cs typeface="Arial MT"/>
                        </a:rPr>
                        <a:t>de</a:t>
                      </a:r>
                      <a:r>
                        <a:rPr dirty="0" sz="2300" spc="-1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300" spc="-110">
                          <a:latin typeface="Arial MT"/>
                          <a:cs typeface="Arial MT"/>
                        </a:rPr>
                        <a:t>metadatos</a:t>
                      </a:r>
                      <a:r>
                        <a:rPr dirty="0" sz="23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300" spc="-105">
                          <a:latin typeface="Arial MT"/>
                          <a:cs typeface="Arial MT"/>
                        </a:rPr>
                        <a:t>esenciales.</a:t>
                      </a:r>
                      <a:endParaRPr sz="2300">
                        <a:latin typeface="Arial MT"/>
                        <a:cs typeface="Arial MT"/>
                      </a:endParaRPr>
                    </a:p>
                  </a:txBody>
                  <a:tcPr marL="0" marR="0" marB="0" marT="100330">
                    <a:lnL w="28575">
                      <a:solidFill>
                        <a:srgbClr val="384857"/>
                      </a:solidFill>
                      <a:prstDash val="solid"/>
                    </a:lnL>
                    <a:lnR w="28575">
                      <a:solidFill>
                        <a:srgbClr val="384857"/>
                      </a:solidFill>
                      <a:prstDash val="solid"/>
                    </a:lnR>
                    <a:lnT w="28575">
                      <a:solidFill>
                        <a:srgbClr val="384857"/>
                      </a:solidFill>
                      <a:prstDash val="solid"/>
                    </a:lnT>
                    <a:lnB w="28575">
                      <a:solidFill>
                        <a:srgbClr val="38485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4020" marR="318770" indent="661035">
                        <a:lnSpc>
                          <a:spcPts val="2750"/>
                        </a:lnSpc>
                        <a:spcBef>
                          <a:spcPts val="1880"/>
                        </a:spcBef>
                      </a:pPr>
                      <a:r>
                        <a:rPr dirty="0" sz="2500" spc="-10">
                          <a:solidFill>
                            <a:srgbClr val="0C2842"/>
                          </a:solidFill>
                          <a:latin typeface="Calibri"/>
                          <a:cs typeface="Calibri"/>
                        </a:rPr>
                        <a:t>Fuente </a:t>
                      </a:r>
                      <a:r>
                        <a:rPr dirty="0" sz="2500" spc="-10">
                          <a:solidFill>
                            <a:srgbClr val="052142"/>
                          </a:solidFill>
                          <a:latin typeface="Calibri"/>
                          <a:cs typeface="Calibri"/>
                        </a:rPr>
                        <a:t>Complementaria</a:t>
                      </a:r>
                      <a:endParaRPr sz="2500">
                        <a:latin typeface="Calibri"/>
                        <a:cs typeface="Calibri"/>
                      </a:endParaRPr>
                    </a:p>
                  </a:txBody>
                  <a:tcPr marL="0" marR="0" marB="0" marT="238760">
                    <a:lnL w="28575">
                      <a:solidFill>
                        <a:srgbClr val="384857"/>
                      </a:solidFill>
                      <a:prstDash val="solid"/>
                    </a:lnL>
                    <a:lnR w="28575">
                      <a:solidFill>
                        <a:srgbClr val="384857"/>
                      </a:solidFill>
                      <a:prstDash val="solid"/>
                    </a:lnR>
                    <a:lnT w="28575">
                      <a:solidFill>
                        <a:srgbClr val="384857"/>
                      </a:solidFill>
                      <a:prstDash val="solid"/>
                    </a:lnT>
                    <a:lnB w="28575">
                      <a:solidFill>
                        <a:srgbClr val="38485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494162" y="899936"/>
            <a:ext cx="11923395" cy="904240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5750" spc="85"/>
              <a:t>Cuadro</a:t>
            </a:r>
            <a:r>
              <a:rPr dirty="0" sz="5750" spc="105"/>
              <a:t> </a:t>
            </a:r>
            <a:r>
              <a:rPr dirty="0" sz="5750">
                <a:solidFill>
                  <a:srgbClr val="313131"/>
                </a:solidFill>
              </a:rPr>
              <a:t>Comparativo</a:t>
            </a:r>
            <a:r>
              <a:rPr dirty="0" sz="5750" spc="490">
                <a:solidFill>
                  <a:srgbClr val="313131"/>
                </a:solidFill>
              </a:rPr>
              <a:t> </a:t>
            </a:r>
            <a:r>
              <a:rPr dirty="0" sz="5750">
                <a:solidFill>
                  <a:srgbClr val="363636"/>
                </a:solidFill>
              </a:rPr>
              <a:t>y</a:t>
            </a:r>
            <a:r>
              <a:rPr dirty="0" sz="5750" spc="-100">
                <a:solidFill>
                  <a:srgbClr val="363636"/>
                </a:solidFill>
              </a:rPr>
              <a:t> </a:t>
            </a:r>
            <a:r>
              <a:rPr dirty="0" sz="5750" spc="100">
                <a:solidFill>
                  <a:srgbClr val="313131"/>
                </a:solidFill>
              </a:rPr>
              <a:t>Decisión</a:t>
            </a:r>
            <a:r>
              <a:rPr dirty="0" sz="5750" spc="135">
                <a:solidFill>
                  <a:srgbClr val="313131"/>
                </a:solidFill>
              </a:rPr>
              <a:t> </a:t>
            </a:r>
            <a:r>
              <a:rPr dirty="0" sz="5750" spc="105">
                <a:solidFill>
                  <a:srgbClr val="313131"/>
                </a:solidFill>
              </a:rPr>
              <a:t>Final</a:t>
            </a:r>
            <a:endParaRPr sz="5750"/>
          </a:p>
        </p:txBody>
      </p:sp>
      <p:sp>
        <p:nvSpPr>
          <p:cNvPr id="5" name="object 5" descr=""/>
          <p:cNvSpPr txBox="1"/>
          <p:nvPr/>
        </p:nvSpPr>
        <p:spPr>
          <a:xfrm>
            <a:off x="1322255" y="7756172"/>
            <a:ext cx="14738350" cy="804545"/>
          </a:xfrm>
          <a:prstGeom prst="rect">
            <a:avLst/>
          </a:prstGeom>
        </p:spPr>
        <p:txBody>
          <a:bodyPr wrap="square" lIns="0" tIns="80645" rIns="0" bIns="0" rtlCol="0" vert="horz">
            <a:spAutoFit/>
          </a:bodyPr>
          <a:lstStyle/>
          <a:p>
            <a:pPr marL="30480" marR="5080" indent="-18415">
              <a:lnSpc>
                <a:spcPts val="2800"/>
              </a:lnSpc>
              <a:spcBef>
                <a:spcPts val="635"/>
              </a:spcBef>
            </a:pPr>
            <a:r>
              <a:rPr dirty="0" sz="2750" spc="100">
                <a:latin typeface="Calibri"/>
                <a:cs typeface="Calibri"/>
              </a:rPr>
              <a:t>"Conclusión</a:t>
            </a:r>
            <a:r>
              <a:rPr dirty="0" sz="2750" spc="215">
                <a:latin typeface="Calibri"/>
                <a:cs typeface="Calibri"/>
              </a:rPr>
              <a:t> </a:t>
            </a:r>
            <a:r>
              <a:rPr dirty="0" sz="2750" spc="75">
                <a:latin typeface="Calibri"/>
                <a:cs typeface="Calibri"/>
              </a:rPr>
              <a:t>del</a:t>
            </a:r>
            <a:r>
              <a:rPr dirty="0" sz="2750" spc="-295">
                <a:latin typeface="Calibri"/>
                <a:cs typeface="Calibri"/>
              </a:rPr>
              <a:t> </a:t>
            </a:r>
            <a:r>
              <a:rPr dirty="0" sz="2750">
                <a:latin typeface="Calibri"/>
                <a:cs typeface="Calibri"/>
              </a:rPr>
              <a:t>Análisis”’:</a:t>
            </a:r>
            <a:r>
              <a:rPr dirty="0" sz="2750" spc="65">
                <a:latin typeface="Calibri"/>
                <a:cs typeface="Calibri"/>
              </a:rPr>
              <a:t> </a:t>
            </a:r>
            <a:r>
              <a:rPr dirty="0" sz="2750" spc="-195">
                <a:latin typeface="Calibri"/>
                <a:cs typeface="Calibri"/>
              </a:rPr>
              <a:t>Googíe</a:t>
            </a:r>
            <a:r>
              <a:rPr dirty="0" sz="2750" spc="55">
                <a:latin typeface="Calibri"/>
                <a:cs typeface="Calibri"/>
              </a:rPr>
              <a:t> </a:t>
            </a:r>
            <a:r>
              <a:rPr dirty="0" sz="2750" spc="-170">
                <a:latin typeface="Calibri"/>
                <a:cs typeface="Calibri"/>
              </a:rPr>
              <a:t>Books</a:t>
            </a:r>
            <a:r>
              <a:rPr dirty="0" sz="2750" spc="55">
                <a:latin typeface="Calibri"/>
                <a:cs typeface="Calibri"/>
              </a:rPr>
              <a:t> </a:t>
            </a:r>
            <a:r>
              <a:rPr dirty="0" sz="2750" spc="-195">
                <a:latin typeface="Calibri"/>
                <a:cs typeface="Calibri"/>
              </a:rPr>
              <a:t>API</a:t>
            </a:r>
            <a:r>
              <a:rPr dirty="0" sz="2750" spc="-25">
                <a:latin typeface="Calibri"/>
                <a:cs typeface="Calibri"/>
              </a:rPr>
              <a:t> </a:t>
            </a:r>
            <a:r>
              <a:rPr dirty="0" sz="2750" spc="-200">
                <a:latin typeface="Calibri"/>
                <a:cs typeface="Calibri"/>
              </a:rPr>
              <a:t>demostró</a:t>
            </a:r>
            <a:r>
              <a:rPr dirty="0" sz="2750" spc="30">
                <a:latin typeface="Calibri"/>
                <a:cs typeface="Calibri"/>
              </a:rPr>
              <a:t> </a:t>
            </a:r>
            <a:r>
              <a:rPr dirty="0" sz="2750" spc="-125">
                <a:latin typeface="Calibri"/>
                <a:cs typeface="Calibri"/>
              </a:rPr>
              <a:t>ser</a:t>
            </a:r>
            <a:r>
              <a:rPr dirty="0" sz="2750" spc="-165">
                <a:latin typeface="Calibri"/>
                <a:cs typeface="Calibri"/>
              </a:rPr>
              <a:t> </a:t>
            </a:r>
            <a:r>
              <a:rPr dirty="0" sz="2750" spc="-114">
                <a:latin typeface="Calibri"/>
                <a:cs typeface="Calibri"/>
              </a:rPr>
              <a:t>la</a:t>
            </a:r>
            <a:r>
              <a:rPr dirty="0" sz="2750" spc="-40">
                <a:latin typeface="Calibri"/>
                <a:cs typeface="Calibri"/>
              </a:rPr>
              <a:t> </a:t>
            </a:r>
            <a:r>
              <a:rPr dirty="0" sz="2750" spc="-190">
                <a:latin typeface="Calibri"/>
                <a:cs typeface="Calibri"/>
              </a:rPr>
              <a:t>fuente</a:t>
            </a:r>
            <a:r>
              <a:rPr dirty="0" sz="2750" spc="-55">
                <a:latin typeface="Calibri"/>
                <a:cs typeface="Calibri"/>
              </a:rPr>
              <a:t> </a:t>
            </a:r>
            <a:r>
              <a:rPr dirty="0" sz="2750" spc="-195">
                <a:latin typeface="Calibri"/>
                <a:cs typeface="Calibri"/>
              </a:rPr>
              <a:t>más</a:t>
            </a:r>
            <a:r>
              <a:rPr dirty="0" sz="2750" spc="-65">
                <a:latin typeface="Calibri"/>
                <a:cs typeface="Calibri"/>
              </a:rPr>
              <a:t> </a:t>
            </a:r>
            <a:r>
              <a:rPr dirty="0" sz="2750" spc="-180">
                <a:latin typeface="Calibri"/>
                <a:cs typeface="Calibri"/>
              </a:rPr>
              <a:t>completa</a:t>
            </a:r>
            <a:r>
              <a:rPr dirty="0" sz="2750" spc="-5">
                <a:latin typeface="Calibri"/>
                <a:cs typeface="Calibri"/>
              </a:rPr>
              <a:t> </a:t>
            </a:r>
            <a:r>
              <a:rPr dirty="0" sz="2750" spc="-95">
                <a:latin typeface="Calibri"/>
                <a:cs typeface="Calibri"/>
              </a:rPr>
              <a:t>y</a:t>
            </a:r>
            <a:r>
              <a:rPr dirty="0" sz="2750" spc="-150">
                <a:latin typeface="Calibri"/>
                <a:cs typeface="Calibri"/>
              </a:rPr>
              <a:t> </a:t>
            </a:r>
            <a:r>
              <a:rPr dirty="0" sz="2750" spc="-130">
                <a:latin typeface="Calibri"/>
                <a:cs typeface="Calibri"/>
              </a:rPr>
              <a:t>fiable.</a:t>
            </a:r>
            <a:r>
              <a:rPr dirty="0" sz="2750" spc="-20">
                <a:latin typeface="Calibri"/>
                <a:cs typeface="Calibri"/>
              </a:rPr>
              <a:t> </a:t>
            </a:r>
            <a:r>
              <a:rPr dirty="0" sz="2750" spc="-70">
                <a:latin typeface="Calibri"/>
                <a:cs typeface="Calibri"/>
              </a:rPr>
              <a:t>Las</a:t>
            </a:r>
            <a:r>
              <a:rPr dirty="0" sz="2750" spc="-114">
                <a:latin typeface="Calibri"/>
                <a:cs typeface="Calibri"/>
              </a:rPr>
              <a:t> </a:t>
            </a:r>
            <a:r>
              <a:rPr dirty="0" sz="2750" spc="-20">
                <a:latin typeface="Calibri"/>
                <a:cs typeface="Calibri"/>
              </a:rPr>
              <a:t>limitaciones </a:t>
            </a:r>
            <a:r>
              <a:rPr dirty="0" sz="2750" spc="-150">
                <a:latin typeface="Calibri"/>
                <a:cs typeface="Calibri"/>
              </a:rPr>
              <a:t>técnicas</a:t>
            </a:r>
            <a:r>
              <a:rPr dirty="0" sz="2750" spc="-80">
                <a:latin typeface="Calibri"/>
                <a:cs typeface="Calibri"/>
              </a:rPr>
              <a:t> </a:t>
            </a:r>
            <a:r>
              <a:rPr dirty="0" sz="2750" spc="-95">
                <a:latin typeface="Calibri"/>
                <a:cs typeface="Calibri"/>
              </a:rPr>
              <a:t>y</a:t>
            </a:r>
            <a:r>
              <a:rPr dirty="0" sz="2750" spc="-160">
                <a:latin typeface="Calibri"/>
                <a:cs typeface="Calibri"/>
              </a:rPr>
              <a:t> </a:t>
            </a:r>
            <a:r>
              <a:rPr dirty="0" sz="2750" spc="-195">
                <a:latin typeface="Calibri"/>
                <a:cs typeface="Calibri"/>
              </a:rPr>
              <a:t>de</a:t>
            </a:r>
            <a:r>
              <a:rPr dirty="0" sz="2750" spc="-155">
                <a:latin typeface="Calibri"/>
                <a:cs typeface="Calibri"/>
              </a:rPr>
              <a:t> </a:t>
            </a:r>
            <a:r>
              <a:rPr dirty="0" sz="2750" spc="-170">
                <a:latin typeface="Calibri"/>
                <a:cs typeface="Calibri"/>
              </a:rPr>
              <a:t>completitud</a:t>
            </a:r>
            <a:r>
              <a:rPr dirty="0" sz="2750" spc="40">
                <a:latin typeface="Calibri"/>
                <a:cs typeface="Calibri"/>
              </a:rPr>
              <a:t> </a:t>
            </a:r>
            <a:r>
              <a:rPr dirty="0" sz="2750" spc="-195">
                <a:latin typeface="Calibri"/>
                <a:cs typeface="Calibri"/>
              </a:rPr>
              <a:t>de</a:t>
            </a:r>
            <a:r>
              <a:rPr dirty="0" sz="2750" spc="-25">
                <a:latin typeface="Calibri"/>
                <a:cs typeface="Calibri"/>
              </a:rPr>
              <a:t> </a:t>
            </a:r>
            <a:r>
              <a:rPr dirty="0" sz="2750" spc="-130">
                <a:latin typeface="Calibri"/>
                <a:cs typeface="Calibri"/>
              </a:rPr>
              <a:t>0penLibrary</a:t>
            </a:r>
            <a:r>
              <a:rPr dirty="0" sz="2750" spc="170">
                <a:latin typeface="Calibri"/>
                <a:cs typeface="Calibri"/>
              </a:rPr>
              <a:t> </a:t>
            </a:r>
            <a:r>
              <a:rPr dirty="0" sz="2750" spc="-95">
                <a:latin typeface="Calibri"/>
                <a:cs typeface="Calibri"/>
              </a:rPr>
              <a:t>y</a:t>
            </a:r>
            <a:r>
              <a:rPr dirty="0" sz="2750" spc="-265">
                <a:latin typeface="Calibri"/>
                <a:cs typeface="Calibri"/>
              </a:rPr>
              <a:t> </a:t>
            </a:r>
            <a:r>
              <a:rPr dirty="0" sz="2750" spc="-170">
                <a:latin typeface="Calibri"/>
                <a:cs typeface="Calibri"/>
              </a:rPr>
              <a:t>DBpedia</a:t>
            </a:r>
            <a:r>
              <a:rPr dirty="0" sz="2750" spc="-15">
                <a:latin typeface="Calibri"/>
                <a:cs typeface="Calibri"/>
              </a:rPr>
              <a:t> </a:t>
            </a:r>
            <a:r>
              <a:rPr dirty="0" sz="2750" spc="-165">
                <a:latin typeface="Calibri"/>
                <a:cs typeface="Calibri"/>
              </a:rPr>
              <a:t>limitaron</a:t>
            </a:r>
            <a:r>
              <a:rPr dirty="0" sz="2750" spc="70">
                <a:latin typeface="Calibri"/>
                <a:cs typeface="Calibri"/>
              </a:rPr>
              <a:t> </a:t>
            </a:r>
            <a:r>
              <a:rPr dirty="0" sz="2750" spc="-110">
                <a:latin typeface="Calibri"/>
                <a:cs typeface="Calibri"/>
              </a:rPr>
              <a:t>su</a:t>
            </a:r>
            <a:r>
              <a:rPr dirty="0" sz="2750" spc="-235">
                <a:latin typeface="Calibri"/>
                <a:cs typeface="Calibri"/>
              </a:rPr>
              <a:t> </a:t>
            </a:r>
            <a:r>
              <a:rPr dirty="0" sz="2750" spc="-155">
                <a:latin typeface="Calibri"/>
                <a:cs typeface="Calibri"/>
              </a:rPr>
              <a:t>uti(idad</a:t>
            </a:r>
            <a:r>
              <a:rPr dirty="0" sz="2750" spc="-5">
                <a:latin typeface="Calibri"/>
                <a:cs typeface="Calibri"/>
              </a:rPr>
              <a:t> </a:t>
            </a:r>
            <a:r>
              <a:rPr dirty="0" sz="2750" spc="-150">
                <a:latin typeface="Calibri"/>
                <a:cs typeface="Calibri"/>
              </a:rPr>
              <a:t>práctica</a:t>
            </a:r>
            <a:r>
              <a:rPr dirty="0" sz="2750" spc="-30">
                <a:latin typeface="Calibri"/>
                <a:cs typeface="Calibri"/>
              </a:rPr>
              <a:t> </a:t>
            </a:r>
            <a:r>
              <a:rPr dirty="0" sz="2750" spc="-160">
                <a:latin typeface="Calibri"/>
                <a:cs typeface="Calibri"/>
              </a:rPr>
              <a:t>para</a:t>
            </a:r>
            <a:r>
              <a:rPr dirty="0" sz="2750" spc="-180">
                <a:latin typeface="Calibri"/>
                <a:cs typeface="Calibri"/>
              </a:rPr>
              <a:t> nuestros</a:t>
            </a:r>
            <a:r>
              <a:rPr dirty="0" sz="2750" spc="45">
                <a:latin typeface="Calibri"/>
                <a:cs typeface="Calibri"/>
              </a:rPr>
              <a:t> </a:t>
            </a:r>
            <a:r>
              <a:rPr dirty="0" sz="2750" spc="-160">
                <a:latin typeface="Calibri"/>
                <a:cs typeface="Calibri"/>
              </a:rPr>
              <a:t>objetivos</a:t>
            </a:r>
            <a:r>
              <a:rPr dirty="0" sz="2750" spc="30">
                <a:latin typeface="Calibri"/>
                <a:cs typeface="Calibri"/>
              </a:rPr>
              <a:t> </a:t>
            </a:r>
            <a:r>
              <a:rPr dirty="0" sz="2750" spc="-30">
                <a:latin typeface="Calibri"/>
                <a:cs typeface="Calibri"/>
              </a:rPr>
              <a:t>principales.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6107677" y="9413522"/>
            <a:ext cx="1237615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>
                <a:latin typeface="Calibri"/>
                <a:cs typeface="Calibri"/>
              </a:rPr>
              <a:t>G</a:t>
            </a:r>
            <a:r>
              <a:rPr dirty="0" sz="1500" spc="100">
                <a:latin typeface="Calibri"/>
                <a:cs typeface="Calibri"/>
              </a:rPr>
              <a:t>  </a:t>
            </a:r>
            <a:r>
              <a:rPr dirty="0" sz="1500" spc="-25">
                <a:latin typeface="Calibri"/>
                <a:cs typeface="Calibri"/>
              </a:rPr>
              <a:t>NotebookLM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5700" y="4699000"/>
            <a:ext cx="520700" cy="9144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74900" y="3949700"/>
            <a:ext cx="2032000" cy="17907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13500" y="4699000"/>
            <a:ext cx="673100" cy="91440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391400" y="4000500"/>
            <a:ext cx="3098800" cy="168910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115800" y="4711700"/>
            <a:ext cx="584200" cy="914400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385800" y="3924300"/>
            <a:ext cx="1638300" cy="1917700"/>
          </a:xfrm>
          <a:prstGeom prst="rect">
            <a:avLst/>
          </a:prstGeom>
        </p:spPr>
      </p:pic>
      <p:sp>
        <p:nvSpPr>
          <p:cNvPr id="8" name="object 8" descr=""/>
          <p:cNvSpPr/>
          <p:nvPr/>
        </p:nvSpPr>
        <p:spPr>
          <a:xfrm>
            <a:off x="266700" y="9535583"/>
            <a:ext cx="1617345" cy="0"/>
          </a:xfrm>
          <a:custGeom>
            <a:avLst/>
            <a:gdLst/>
            <a:ahLst/>
            <a:cxnLst/>
            <a:rect l="l" t="t" r="r" b="b"/>
            <a:pathLst>
              <a:path w="1617345" h="0">
                <a:moveTo>
                  <a:pt x="0" y="0"/>
                </a:moveTo>
                <a:lnTo>
                  <a:pt x="1617133" y="0"/>
                </a:lnTo>
              </a:path>
            </a:pathLst>
          </a:custGeom>
          <a:ln w="4233">
            <a:solidFill>
              <a:srgbClr val="807C7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1981200" y="9535583"/>
            <a:ext cx="1668145" cy="0"/>
          </a:xfrm>
          <a:custGeom>
            <a:avLst/>
            <a:gdLst/>
            <a:ahLst/>
            <a:cxnLst/>
            <a:rect l="l" t="t" r="r" b="b"/>
            <a:pathLst>
              <a:path w="1668145" h="0">
                <a:moveTo>
                  <a:pt x="0" y="0"/>
                </a:moveTo>
                <a:lnTo>
                  <a:pt x="1667933" y="0"/>
                </a:lnTo>
              </a:path>
            </a:pathLst>
          </a:custGeom>
          <a:ln w="423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8115300" y="9535583"/>
            <a:ext cx="512445" cy="0"/>
          </a:xfrm>
          <a:custGeom>
            <a:avLst/>
            <a:gdLst/>
            <a:ahLst/>
            <a:cxnLst/>
            <a:rect l="l" t="t" r="r" b="b"/>
            <a:pathLst>
              <a:path w="512445" h="0">
                <a:moveTo>
                  <a:pt x="0" y="0"/>
                </a:moveTo>
                <a:lnTo>
                  <a:pt x="512233" y="0"/>
                </a:lnTo>
              </a:path>
            </a:pathLst>
          </a:custGeom>
          <a:ln w="423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8877300" y="9535583"/>
            <a:ext cx="563245" cy="0"/>
          </a:xfrm>
          <a:custGeom>
            <a:avLst/>
            <a:gdLst/>
            <a:ahLst/>
            <a:cxnLst/>
            <a:rect l="l" t="t" r="r" b="b"/>
            <a:pathLst>
              <a:path w="563245" h="0">
                <a:moveTo>
                  <a:pt x="0" y="0"/>
                </a:moveTo>
                <a:lnTo>
                  <a:pt x="563033" y="0"/>
                </a:lnTo>
              </a:path>
            </a:pathLst>
          </a:custGeom>
          <a:ln w="423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2" name="object 12" descr=""/>
          <p:cNvGrpSpPr/>
          <p:nvPr/>
        </p:nvGrpSpPr>
        <p:grpSpPr>
          <a:xfrm>
            <a:off x="7658100" y="9533466"/>
            <a:ext cx="410845" cy="4445"/>
            <a:chOff x="7658100" y="9533466"/>
            <a:chExt cx="410845" cy="4445"/>
          </a:xfrm>
        </p:grpSpPr>
        <p:sp>
          <p:nvSpPr>
            <p:cNvPr id="13" name="object 13" descr=""/>
            <p:cNvSpPr/>
            <p:nvPr/>
          </p:nvSpPr>
          <p:spPr>
            <a:xfrm>
              <a:off x="7658100" y="9535583"/>
              <a:ext cx="194945" cy="0"/>
            </a:xfrm>
            <a:custGeom>
              <a:avLst/>
              <a:gdLst/>
              <a:ahLst/>
              <a:cxnLst/>
              <a:rect l="l" t="t" r="r" b="b"/>
              <a:pathLst>
                <a:path w="194945" h="0">
                  <a:moveTo>
                    <a:pt x="0" y="0"/>
                  </a:moveTo>
                  <a:lnTo>
                    <a:pt x="194733" y="0"/>
                  </a:lnTo>
                </a:path>
              </a:pathLst>
            </a:custGeom>
            <a:ln w="42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7874000" y="9535583"/>
              <a:ext cx="194945" cy="0"/>
            </a:xfrm>
            <a:custGeom>
              <a:avLst/>
              <a:gdLst/>
              <a:ahLst/>
              <a:cxnLst/>
              <a:rect l="l" t="t" r="r" b="b"/>
              <a:pathLst>
                <a:path w="194945" h="0">
                  <a:moveTo>
                    <a:pt x="0" y="0"/>
                  </a:moveTo>
                  <a:lnTo>
                    <a:pt x="194733" y="0"/>
                  </a:lnTo>
                </a:path>
              </a:pathLst>
            </a:custGeom>
            <a:ln w="42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" name="object 15" descr=""/>
          <p:cNvGrpSpPr/>
          <p:nvPr/>
        </p:nvGrpSpPr>
        <p:grpSpPr>
          <a:xfrm>
            <a:off x="9448800" y="8255000"/>
            <a:ext cx="7785100" cy="1295400"/>
            <a:chOff x="9448800" y="8255000"/>
            <a:chExt cx="7785100" cy="1295400"/>
          </a:xfrm>
        </p:grpSpPr>
        <p:pic>
          <p:nvPicPr>
            <p:cNvPr id="16" name="object 16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448800" y="8255000"/>
              <a:ext cx="7785100" cy="1295400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074900" y="8991600"/>
              <a:ext cx="1612900" cy="215900"/>
            </a:xfrm>
            <a:prstGeom prst="rect">
              <a:avLst/>
            </a:prstGeom>
          </p:spPr>
        </p:pic>
      </p:grp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1106527" y="735188"/>
            <a:ext cx="15105380" cy="1414145"/>
          </a:xfrm>
          <a:prstGeom prst="rect"/>
        </p:spPr>
        <p:txBody>
          <a:bodyPr wrap="square" lIns="0" tIns="111760" rIns="0" bIns="0" rtlCol="0" vert="horz">
            <a:spAutoFit/>
          </a:bodyPr>
          <a:lstStyle/>
          <a:p>
            <a:pPr marL="13335" marR="5080" indent="-1270">
              <a:lnSpc>
                <a:spcPts val="5100"/>
              </a:lnSpc>
              <a:spcBef>
                <a:spcPts val="880"/>
              </a:spcBef>
            </a:pPr>
            <a:r>
              <a:rPr dirty="0" sz="4850" spc="110">
                <a:solidFill>
                  <a:srgbClr val="2D2D2D"/>
                </a:solidFill>
              </a:rPr>
              <a:t>Las</a:t>
            </a:r>
            <a:r>
              <a:rPr dirty="0" sz="4850" spc="-130">
                <a:solidFill>
                  <a:srgbClr val="2D2D2D"/>
                </a:solidFill>
              </a:rPr>
              <a:t> </a:t>
            </a:r>
            <a:r>
              <a:rPr dirty="0" sz="4850">
                <a:solidFill>
                  <a:srgbClr val="2F2F2F"/>
                </a:solidFill>
              </a:rPr>
              <a:t>Pruebas</a:t>
            </a:r>
            <a:r>
              <a:rPr dirty="0" sz="4850" spc="114">
                <a:solidFill>
                  <a:srgbClr val="2F2F2F"/>
                </a:solidFill>
              </a:rPr>
              <a:t> </a:t>
            </a:r>
            <a:r>
              <a:rPr dirty="0" sz="4850">
                <a:solidFill>
                  <a:srgbClr val="2F2F2F"/>
                </a:solidFill>
              </a:rPr>
              <a:t>de</a:t>
            </a:r>
            <a:r>
              <a:rPr dirty="0" sz="4850" spc="-70">
                <a:solidFill>
                  <a:srgbClr val="2F2F2F"/>
                </a:solidFill>
              </a:rPr>
              <a:t> </a:t>
            </a:r>
            <a:r>
              <a:rPr dirty="0" sz="4850" spc="125">
                <a:solidFill>
                  <a:srgbClr val="2B2B2B"/>
                </a:solidFill>
              </a:rPr>
              <a:t>la</a:t>
            </a:r>
            <a:r>
              <a:rPr dirty="0" sz="4850" spc="-204">
                <a:solidFill>
                  <a:srgbClr val="2B2B2B"/>
                </a:solidFill>
              </a:rPr>
              <a:t> </a:t>
            </a:r>
            <a:r>
              <a:rPr dirty="0" sz="4850" spc="85">
                <a:solidFill>
                  <a:srgbClr val="2D2D2D"/>
                </a:solidFill>
              </a:rPr>
              <a:t>Implementación:</a:t>
            </a:r>
            <a:r>
              <a:rPr dirty="0" sz="4850" spc="-285">
                <a:solidFill>
                  <a:srgbClr val="2D2D2D"/>
                </a:solidFill>
              </a:rPr>
              <a:t> </a:t>
            </a:r>
            <a:r>
              <a:rPr dirty="0" sz="4850">
                <a:solidFill>
                  <a:srgbClr val="2D2D2D"/>
                </a:solidFill>
              </a:rPr>
              <a:t>Tres</a:t>
            </a:r>
            <a:r>
              <a:rPr dirty="0" sz="4850" spc="-70">
                <a:solidFill>
                  <a:srgbClr val="2D2D2D"/>
                </a:solidFill>
              </a:rPr>
              <a:t> </a:t>
            </a:r>
            <a:r>
              <a:rPr dirty="0" sz="4850">
                <a:solidFill>
                  <a:srgbClr val="2D2D2D"/>
                </a:solidFill>
              </a:rPr>
              <a:t>Desafíos</a:t>
            </a:r>
            <a:r>
              <a:rPr dirty="0" sz="4850" spc="145">
                <a:solidFill>
                  <a:srgbClr val="2D2D2D"/>
                </a:solidFill>
              </a:rPr>
              <a:t> </a:t>
            </a:r>
            <a:r>
              <a:rPr dirty="0" sz="4850">
                <a:solidFill>
                  <a:srgbClr val="2D2D2D"/>
                </a:solidFill>
              </a:rPr>
              <a:t>Clave</a:t>
            </a:r>
            <a:r>
              <a:rPr dirty="0" sz="4850" spc="95">
                <a:solidFill>
                  <a:srgbClr val="2D2D2D"/>
                </a:solidFill>
              </a:rPr>
              <a:t> </a:t>
            </a:r>
            <a:r>
              <a:rPr dirty="0" sz="4850" spc="-50">
                <a:solidFill>
                  <a:srgbClr val="2D2D2D"/>
                </a:solidFill>
              </a:rPr>
              <a:t>y </a:t>
            </a:r>
            <a:r>
              <a:rPr dirty="0" sz="4850">
                <a:solidFill>
                  <a:srgbClr val="2F2F2F"/>
                </a:solidFill>
              </a:rPr>
              <a:t>Nuestras</a:t>
            </a:r>
            <a:r>
              <a:rPr dirty="0" sz="4850" spc="360">
                <a:solidFill>
                  <a:srgbClr val="2F2F2F"/>
                </a:solidFill>
              </a:rPr>
              <a:t> </a:t>
            </a:r>
            <a:r>
              <a:rPr dirty="0" sz="4850" spc="-10">
                <a:solidFill>
                  <a:srgbClr val="2D2D2D"/>
                </a:solidFill>
              </a:rPr>
              <a:t>Soluciones</a:t>
            </a:r>
            <a:endParaRPr sz="4850"/>
          </a:p>
        </p:txBody>
      </p:sp>
      <p:sp>
        <p:nvSpPr>
          <p:cNvPr id="19" name="object 19" descr=""/>
          <p:cNvSpPr txBox="1"/>
          <p:nvPr/>
        </p:nvSpPr>
        <p:spPr>
          <a:xfrm>
            <a:off x="1158987" y="2246136"/>
            <a:ext cx="15099030" cy="1412240"/>
          </a:xfrm>
          <a:prstGeom prst="rect">
            <a:avLst/>
          </a:prstGeom>
        </p:spPr>
        <p:txBody>
          <a:bodyPr wrap="square" lIns="0" tIns="71120" rIns="0" bIns="0" rtlCol="0" vert="horz">
            <a:spAutoFit/>
          </a:bodyPr>
          <a:lstStyle/>
          <a:p>
            <a:pPr marL="15240" marR="5080" indent="-3175">
              <a:lnSpc>
                <a:spcPts val="3500"/>
              </a:lnSpc>
              <a:spcBef>
                <a:spcPts val="560"/>
              </a:spcBef>
            </a:pPr>
            <a:r>
              <a:rPr dirty="0" sz="3250" spc="-105">
                <a:latin typeface="Calibri"/>
                <a:cs typeface="Calibri"/>
              </a:rPr>
              <a:t>Durante</a:t>
            </a:r>
            <a:r>
              <a:rPr dirty="0" sz="3250" spc="-80">
                <a:latin typeface="Calibri"/>
                <a:cs typeface="Calibri"/>
              </a:rPr>
              <a:t> </a:t>
            </a:r>
            <a:r>
              <a:rPr dirty="0" sz="3250">
                <a:latin typeface="Calibri"/>
                <a:cs typeface="Calibri"/>
              </a:rPr>
              <a:t>el</a:t>
            </a:r>
            <a:r>
              <a:rPr dirty="0" sz="3250" spc="-310">
                <a:latin typeface="Calibri"/>
                <a:cs typeface="Calibri"/>
              </a:rPr>
              <a:t> </a:t>
            </a:r>
            <a:r>
              <a:rPr dirty="0" sz="3250" spc="-60">
                <a:latin typeface="Calibri"/>
                <a:cs typeface="Calibri"/>
              </a:rPr>
              <a:t>desarrollo,</a:t>
            </a:r>
            <a:r>
              <a:rPr dirty="0" sz="3250" spc="-125">
                <a:latin typeface="Calibri"/>
                <a:cs typeface="Calibri"/>
              </a:rPr>
              <a:t> </a:t>
            </a:r>
            <a:r>
              <a:rPr dirty="0" sz="3250" spc="-45">
                <a:latin typeface="Calibri"/>
                <a:cs typeface="Calibri"/>
              </a:rPr>
              <a:t>nos</a:t>
            </a:r>
            <a:r>
              <a:rPr dirty="0" sz="3250" spc="-140">
                <a:latin typeface="Calibri"/>
                <a:cs typeface="Calibri"/>
              </a:rPr>
              <a:t> </a:t>
            </a:r>
            <a:r>
              <a:rPr dirty="0" sz="3250" spc="-90">
                <a:latin typeface="Calibri"/>
                <a:cs typeface="Calibri"/>
              </a:rPr>
              <a:t>enfrentamos</a:t>
            </a:r>
            <a:r>
              <a:rPr dirty="0" sz="3250" spc="80">
                <a:latin typeface="Calibri"/>
                <a:cs typeface="Calibri"/>
              </a:rPr>
              <a:t> </a:t>
            </a:r>
            <a:r>
              <a:rPr dirty="0" sz="3250">
                <a:latin typeface="Calibri"/>
                <a:cs typeface="Calibri"/>
              </a:rPr>
              <a:t>a</a:t>
            </a:r>
            <a:r>
              <a:rPr dirty="0" sz="3250" spc="-170">
                <a:latin typeface="Calibri"/>
                <a:cs typeface="Calibri"/>
              </a:rPr>
              <a:t> </a:t>
            </a:r>
            <a:r>
              <a:rPr dirty="0" sz="3250" spc="-45">
                <a:latin typeface="Calibri"/>
                <a:cs typeface="Calibri"/>
              </a:rPr>
              <a:t>desafíos</a:t>
            </a:r>
            <a:r>
              <a:rPr dirty="0" sz="3250" spc="10">
                <a:latin typeface="Calibri"/>
                <a:cs typeface="Calibri"/>
              </a:rPr>
              <a:t> </a:t>
            </a:r>
            <a:r>
              <a:rPr dirty="0" sz="3250" spc="-70">
                <a:latin typeface="Calibri"/>
                <a:cs typeface="Calibri"/>
              </a:rPr>
              <a:t>técnicos</a:t>
            </a:r>
            <a:r>
              <a:rPr dirty="0" sz="3250" spc="-100">
                <a:latin typeface="Calibri"/>
                <a:cs typeface="Calibri"/>
              </a:rPr>
              <a:t> </a:t>
            </a:r>
            <a:r>
              <a:rPr dirty="0" sz="3250" spc="-95">
                <a:latin typeface="Calibri"/>
                <a:cs typeface="Calibri"/>
              </a:rPr>
              <a:t>que</a:t>
            </a:r>
            <a:r>
              <a:rPr dirty="0" sz="3250" spc="-125">
                <a:latin typeface="Calibri"/>
                <a:cs typeface="Calibri"/>
              </a:rPr>
              <a:t> </a:t>
            </a:r>
            <a:r>
              <a:rPr dirty="0" sz="3250" spc="-50">
                <a:latin typeface="Calibri"/>
                <a:cs typeface="Calibri"/>
              </a:rPr>
              <a:t>pusieron</a:t>
            </a:r>
            <a:r>
              <a:rPr dirty="0" sz="3250" spc="-90">
                <a:latin typeface="Calibri"/>
                <a:cs typeface="Calibri"/>
              </a:rPr>
              <a:t> </a:t>
            </a:r>
            <a:r>
              <a:rPr dirty="0" sz="3250">
                <a:latin typeface="Calibri"/>
                <a:cs typeface="Calibri"/>
              </a:rPr>
              <a:t>a</a:t>
            </a:r>
            <a:r>
              <a:rPr dirty="0" sz="3250" spc="-200">
                <a:latin typeface="Calibri"/>
                <a:cs typeface="Calibri"/>
              </a:rPr>
              <a:t> </a:t>
            </a:r>
            <a:r>
              <a:rPr dirty="0" sz="3250" spc="-70">
                <a:latin typeface="Calibri"/>
                <a:cs typeface="Calibri"/>
              </a:rPr>
              <a:t>prueba</a:t>
            </a:r>
            <a:r>
              <a:rPr dirty="0" sz="3250" spc="-105">
                <a:latin typeface="Calibri"/>
                <a:cs typeface="Calibri"/>
              </a:rPr>
              <a:t> </a:t>
            </a:r>
            <a:r>
              <a:rPr dirty="0" sz="3250" spc="-10">
                <a:latin typeface="Calibri"/>
                <a:cs typeface="Calibri"/>
              </a:rPr>
              <a:t>nuestro </a:t>
            </a:r>
            <a:r>
              <a:rPr dirty="0" sz="3250" spc="-75">
                <a:latin typeface="Calibri"/>
                <a:cs typeface="Calibri"/>
              </a:rPr>
              <a:t>modelo.</a:t>
            </a:r>
            <a:r>
              <a:rPr dirty="0" sz="3250" spc="-110">
                <a:latin typeface="Calibri"/>
                <a:cs typeface="Calibri"/>
              </a:rPr>
              <a:t> </a:t>
            </a:r>
            <a:r>
              <a:rPr dirty="0" sz="3250" spc="-45">
                <a:latin typeface="Calibri"/>
                <a:cs typeface="Calibri"/>
              </a:rPr>
              <a:t>Superarlos</a:t>
            </a:r>
            <a:r>
              <a:rPr dirty="0" sz="3250" spc="-75">
                <a:latin typeface="Calibri"/>
                <a:cs typeface="Calibri"/>
              </a:rPr>
              <a:t> </a:t>
            </a:r>
            <a:r>
              <a:rPr dirty="0" sz="3250" spc="-70">
                <a:latin typeface="Calibri"/>
                <a:cs typeface="Calibri"/>
              </a:rPr>
              <a:t>requirió</a:t>
            </a:r>
            <a:r>
              <a:rPr dirty="0" sz="3250" spc="-30">
                <a:latin typeface="Calibri"/>
                <a:cs typeface="Calibri"/>
              </a:rPr>
              <a:t> </a:t>
            </a:r>
            <a:r>
              <a:rPr dirty="0" sz="3250" spc="-90">
                <a:latin typeface="Calibri"/>
                <a:cs typeface="Calibri"/>
              </a:rPr>
              <a:t>refinar</a:t>
            </a:r>
            <a:r>
              <a:rPr dirty="0" sz="3250" spc="-100">
                <a:latin typeface="Calibri"/>
                <a:cs typeface="Calibri"/>
              </a:rPr>
              <a:t> </a:t>
            </a:r>
            <a:r>
              <a:rPr dirty="0" sz="3250">
                <a:latin typeface="Calibri"/>
                <a:cs typeface="Calibri"/>
              </a:rPr>
              <a:t>la</a:t>
            </a:r>
            <a:r>
              <a:rPr dirty="0" sz="3250" spc="-200">
                <a:latin typeface="Calibri"/>
                <a:cs typeface="Calibri"/>
              </a:rPr>
              <a:t> </a:t>
            </a:r>
            <a:r>
              <a:rPr dirty="0" sz="3250" spc="-55">
                <a:latin typeface="Calibri"/>
                <a:cs typeface="Calibri"/>
              </a:rPr>
              <a:t>estructura</a:t>
            </a:r>
            <a:r>
              <a:rPr dirty="0" sz="3250" spc="-70">
                <a:latin typeface="Calibri"/>
                <a:cs typeface="Calibri"/>
              </a:rPr>
              <a:t> </a:t>
            </a:r>
            <a:r>
              <a:rPr dirty="0" sz="3250">
                <a:latin typeface="Calibri"/>
                <a:cs typeface="Calibri"/>
              </a:rPr>
              <a:t>del</a:t>
            </a:r>
            <a:r>
              <a:rPr dirty="0" sz="3250" spc="-145">
                <a:latin typeface="Calibri"/>
                <a:cs typeface="Calibri"/>
              </a:rPr>
              <a:t> </a:t>
            </a:r>
            <a:r>
              <a:rPr dirty="0" sz="3250" spc="-105">
                <a:latin typeface="Calibri"/>
                <a:cs typeface="Calibri"/>
              </a:rPr>
              <a:t>grafo,</a:t>
            </a:r>
            <a:r>
              <a:rPr dirty="0" sz="3250" spc="-80">
                <a:latin typeface="Calibri"/>
                <a:cs typeface="Calibri"/>
              </a:rPr>
              <a:t> </a:t>
            </a:r>
            <a:r>
              <a:rPr dirty="0" sz="3250" spc="-55">
                <a:latin typeface="Calibri"/>
                <a:cs typeface="Calibri"/>
              </a:rPr>
              <a:t>adaptar</a:t>
            </a:r>
            <a:r>
              <a:rPr dirty="0" sz="3250" spc="-130">
                <a:latin typeface="Calibri"/>
                <a:cs typeface="Calibri"/>
              </a:rPr>
              <a:t> </a:t>
            </a:r>
            <a:r>
              <a:rPr dirty="0" sz="3250" spc="-10">
                <a:latin typeface="Calibri"/>
                <a:cs typeface="Calibri"/>
              </a:rPr>
              <a:t>los</a:t>
            </a:r>
            <a:r>
              <a:rPr dirty="0" sz="3250" spc="-175">
                <a:latin typeface="Calibri"/>
                <a:cs typeface="Calibri"/>
              </a:rPr>
              <a:t> </a:t>
            </a:r>
            <a:r>
              <a:rPr dirty="0" sz="3250" spc="-55">
                <a:latin typeface="Calibri"/>
                <a:cs typeface="Calibri"/>
              </a:rPr>
              <a:t>algoritmos</a:t>
            </a:r>
            <a:r>
              <a:rPr dirty="0" sz="3250" spc="20">
                <a:latin typeface="Calibri"/>
                <a:cs typeface="Calibri"/>
              </a:rPr>
              <a:t> </a:t>
            </a:r>
            <a:r>
              <a:rPr dirty="0" sz="3250">
                <a:latin typeface="Calibri"/>
                <a:cs typeface="Calibri"/>
              </a:rPr>
              <a:t>y</a:t>
            </a:r>
            <a:r>
              <a:rPr dirty="0" sz="3250" spc="-180">
                <a:latin typeface="Calibri"/>
                <a:cs typeface="Calibri"/>
              </a:rPr>
              <a:t> </a:t>
            </a:r>
            <a:r>
              <a:rPr dirty="0" sz="3250" spc="-95">
                <a:latin typeface="Calibri"/>
                <a:cs typeface="Calibri"/>
              </a:rPr>
              <a:t>mejorar</a:t>
            </a:r>
            <a:r>
              <a:rPr dirty="0" sz="3250" spc="-50">
                <a:latin typeface="Calibri"/>
                <a:cs typeface="Calibri"/>
              </a:rPr>
              <a:t> </a:t>
            </a:r>
            <a:r>
              <a:rPr dirty="0" sz="3250" spc="-25">
                <a:latin typeface="Calibri"/>
                <a:cs typeface="Calibri"/>
              </a:rPr>
              <a:t>la </a:t>
            </a:r>
            <a:r>
              <a:rPr dirty="0" sz="3250" spc="-40">
                <a:latin typeface="Calibri"/>
                <a:cs typeface="Calibri"/>
              </a:rPr>
              <a:t>diversidad</a:t>
            </a:r>
            <a:r>
              <a:rPr dirty="0" sz="3250" spc="-20">
                <a:latin typeface="Calibri"/>
                <a:cs typeface="Calibri"/>
              </a:rPr>
              <a:t> </a:t>
            </a:r>
            <a:r>
              <a:rPr dirty="0" sz="3250" spc="-60">
                <a:latin typeface="Calibri"/>
                <a:cs typeface="Calibri"/>
              </a:rPr>
              <a:t>de</a:t>
            </a:r>
            <a:r>
              <a:rPr dirty="0" sz="3250" spc="-170">
                <a:latin typeface="Calibri"/>
                <a:cs typeface="Calibri"/>
              </a:rPr>
              <a:t> </a:t>
            </a:r>
            <a:r>
              <a:rPr dirty="0" sz="3250">
                <a:latin typeface="Calibri"/>
                <a:cs typeface="Calibri"/>
              </a:rPr>
              <a:t>las</a:t>
            </a:r>
            <a:r>
              <a:rPr dirty="0" sz="3250" spc="-185">
                <a:latin typeface="Calibri"/>
                <a:cs typeface="Calibri"/>
              </a:rPr>
              <a:t> </a:t>
            </a:r>
            <a:r>
              <a:rPr dirty="0" sz="3250" spc="-10">
                <a:latin typeface="Calibri"/>
                <a:cs typeface="Calibri"/>
              </a:rPr>
              <a:t>recomendaciones.</a:t>
            </a:r>
            <a:endParaRPr sz="3250">
              <a:latin typeface="Calibri"/>
              <a:cs typeface="Calibri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479583" y="5887155"/>
            <a:ext cx="4101465" cy="1820545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marL="12700" marR="5080" indent="4445">
              <a:lnSpc>
                <a:spcPct val="89400"/>
              </a:lnSpc>
              <a:spcBef>
                <a:spcPts val="500"/>
              </a:spcBef>
            </a:pPr>
            <a:r>
              <a:rPr dirty="0" sz="3200">
                <a:latin typeface="Calibri"/>
                <a:cs typeface="Calibri"/>
              </a:rPr>
              <a:t>Similitud</a:t>
            </a:r>
            <a:r>
              <a:rPr dirty="0" sz="3200" spc="40">
                <a:latin typeface="Calibri"/>
                <a:cs typeface="Calibri"/>
              </a:rPr>
              <a:t> </a:t>
            </a:r>
            <a:r>
              <a:rPr dirty="0" sz="3200" spc="-95">
                <a:latin typeface="Calibri"/>
                <a:cs typeface="Calibri"/>
              </a:rPr>
              <a:t>Item-To-</a:t>
            </a:r>
            <a:r>
              <a:rPr dirty="0" sz="3200" spc="-20">
                <a:latin typeface="Calibri"/>
                <a:cs typeface="Calibri"/>
              </a:rPr>
              <a:t>Item: </a:t>
            </a:r>
            <a:r>
              <a:rPr dirty="0" sz="3200">
                <a:latin typeface="Calibri"/>
                <a:cs typeface="Calibri"/>
              </a:rPr>
              <a:t>El</a:t>
            </a:r>
            <a:r>
              <a:rPr dirty="0" sz="3200" spc="-285">
                <a:latin typeface="Calibri"/>
                <a:cs typeface="Calibri"/>
              </a:rPr>
              <a:t> </a:t>
            </a:r>
            <a:r>
              <a:rPr dirty="0" sz="3200" spc="-120">
                <a:latin typeface="Calibri"/>
                <a:cs typeface="Calibri"/>
              </a:rPr>
              <a:t>algoritmo</a:t>
            </a:r>
            <a:r>
              <a:rPr dirty="0" sz="3200" spc="65">
                <a:latin typeface="Calibri"/>
                <a:cs typeface="Calibri"/>
              </a:rPr>
              <a:t> </a:t>
            </a:r>
            <a:r>
              <a:rPr dirty="0" sz="3200" spc="-110">
                <a:latin typeface="Calibri"/>
                <a:cs typeface="Calibri"/>
              </a:rPr>
              <a:t>no</a:t>
            </a:r>
            <a:r>
              <a:rPr dirty="0" sz="3200" spc="-22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navegaba </a:t>
            </a:r>
            <a:r>
              <a:rPr dirty="0" sz="3200" spc="-120">
                <a:latin typeface="Calibri"/>
                <a:cs typeface="Calibri"/>
              </a:rPr>
              <a:t>correctamente</a:t>
            </a:r>
            <a:r>
              <a:rPr dirty="0" sz="3200" spc="30">
                <a:latin typeface="Calibri"/>
                <a:cs typeface="Calibri"/>
              </a:rPr>
              <a:t> </a:t>
            </a:r>
            <a:r>
              <a:rPr dirty="0" sz="3200" spc="-30">
                <a:latin typeface="Calibri"/>
                <a:cs typeface="Calibri"/>
              </a:rPr>
              <a:t>la</a:t>
            </a:r>
            <a:r>
              <a:rPr dirty="0" sz="3200" spc="-260">
                <a:latin typeface="Calibri"/>
                <a:cs typeface="Calibri"/>
              </a:rPr>
              <a:t> </a:t>
            </a:r>
            <a:r>
              <a:rPr dirty="0" sz="3200" spc="-105">
                <a:latin typeface="Calibri"/>
                <a:cs typeface="Calibri"/>
              </a:rPr>
              <a:t>jerarquía </a:t>
            </a:r>
            <a:r>
              <a:rPr dirty="0" sz="3200" spc="-90">
                <a:latin typeface="Calibri"/>
                <a:cs typeface="Calibri"/>
              </a:rPr>
              <a:t>de</a:t>
            </a:r>
            <a:r>
              <a:rPr dirty="0" sz="3200" spc="-85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géneros.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7045836" y="5878336"/>
            <a:ext cx="3827779" cy="2263140"/>
          </a:xfrm>
          <a:prstGeom prst="rect">
            <a:avLst/>
          </a:prstGeom>
        </p:spPr>
        <p:txBody>
          <a:bodyPr wrap="square" lIns="0" tIns="86360" rIns="0" bIns="0" rtlCol="0" vert="horz">
            <a:spAutoFit/>
          </a:bodyPr>
          <a:lstStyle/>
          <a:p>
            <a:pPr marL="12700" marR="5080" indent="5715">
              <a:lnSpc>
                <a:spcPct val="85500"/>
              </a:lnSpc>
              <a:spcBef>
                <a:spcPts val="680"/>
              </a:spcBef>
            </a:pPr>
            <a:r>
              <a:rPr dirty="0" sz="3250" spc="-30">
                <a:latin typeface="Calibri"/>
                <a:cs typeface="Calibri"/>
              </a:rPr>
              <a:t>Filtrado</a:t>
            </a:r>
            <a:r>
              <a:rPr dirty="0" sz="3250" spc="-135">
                <a:latin typeface="Calibri"/>
                <a:cs typeface="Calibri"/>
              </a:rPr>
              <a:t> </a:t>
            </a:r>
            <a:r>
              <a:rPr dirty="0" sz="3250" spc="-10">
                <a:latin typeface="Calibri"/>
                <a:cs typeface="Calibri"/>
              </a:rPr>
              <a:t>Colaborativo: </a:t>
            </a:r>
            <a:r>
              <a:rPr dirty="0" sz="3300">
                <a:latin typeface="Calibri"/>
                <a:cs typeface="Calibri"/>
              </a:rPr>
              <a:t>La</a:t>
            </a:r>
            <a:r>
              <a:rPr dirty="0" sz="3300" spc="-285">
                <a:latin typeface="Calibri"/>
                <a:cs typeface="Calibri"/>
              </a:rPr>
              <a:t> </a:t>
            </a:r>
            <a:r>
              <a:rPr dirty="0" sz="3300" spc="-175">
                <a:latin typeface="Calibri"/>
                <a:cs typeface="Calibri"/>
              </a:rPr>
              <a:t>métrica</a:t>
            </a:r>
            <a:r>
              <a:rPr dirty="0" sz="3300" spc="20">
                <a:latin typeface="Calibri"/>
                <a:cs typeface="Calibri"/>
              </a:rPr>
              <a:t> </a:t>
            </a:r>
            <a:r>
              <a:rPr dirty="0" sz="3300" spc="-195">
                <a:latin typeface="Calibri"/>
                <a:cs typeface="Calibri"/>
              </a:rPr>
              <a:t>de</a:t>
            </a:r>
            <a:r>
              <a:rPr dirty="0" sz="3300" spc="-150">
                <a:latin typeface="Calibri"/>
                <a:cs typeface="Calibri"/>
              </a:rPr>
              <a:t> </a:t>
            </a:r>
            <a:r>
              <a:rPr dirty="0" sz="3300" spc="-10">
                <a:latin typeface="Calibri"/>
                <a:cs typeface="Calibri"/>
              </a:rPr>
              <a:t>similitud </a:t>
            </a:r>
            <a:r>
              <a:rPr dirty="0" sz="3400" spc="-125">
                <a:latin typeface="Calibri"/>
                <a:cs typeface="Calibri"/>
              </a:rPr>
              <a:t>estándar(Jaccard)</a:t>
            </a:r>
            <a:r>
              <a:rPr dirty="0" sz="3400" spc="-45">
                <a:latin typeface="Calibri"/>
                <a:cs typeface="Calibri"/>
              </a:rPr>
              <a:t> </a:t>
            </a:r>
            <a:r>
              <a:rPr dirty="0" sz="3400" spc="-25">
                <a:latin typeface="Calibri"/>
                <a:cs typeface="Calibri"/>
              </a:rPr>
              <a:t>era </a:t>
            </a:r>
            <a:r>
              <a:rPr dirty="0" sz="3400" spc="-150">
                <a:latin typeface="Calibri"/>
                <a:cs typeface="Calibri"/>
              </a:rPr>
              <a:t>ineficaz</a:t>
            </a:r>
            <a:r>
              <a:rPr dirty="0" sz="3400" spc="-120">
                <a:latin typeface="Calibri"/>
                <a:cs typeface="Calibri"/>
              </a:rPr>
              <a:t> </a:t>
            </a:r>
            <a:r>
              <a:rPr dirty="0" sz="3400" spc="-240">
                <a:latin typeface="Calibri"/>
                <a:cs typeface="Calibri"/>
              </a:rPr>
              <a:t>para</a:t>
            </a:r>
            <a:r>
              <a:rPr dirty="0" sz="3400" spc="-40">
                <a:latin typeface="Calibri"/>
                <a:cs typeface="Calibri"/>
              </a:rPr>
              <a:t> </a:t>
            </a:r>
            <a:r>
              <a:rPr dirty="0" sz="3400" spc="-190">
                <a:latin typeface="Calibri"/>
                <a:cs typeface="Calibri"/>
              </a:rPr>
              <a:t>perfiles</a:t>
            </a:r>
            <a:r>
              <a:rPr dirty="0" sz="3400" spc="15">
                <a:latin typeface="Calibri"/>
                <a:cs typeface="Calibri"/>
              </a:rPr>
              <a:t> </a:t>
            </a:r>
            <a:r>
              <a:rPr dirty="0" sz="3400" spc="-185">
                <a:latin typeface="Calibri"/>
                <a:cs typeface="Calibri"/>
              </a:rPr>
              <a:t>con </a:t>
            </a:r>
            <a:r>
              <a:rPr dirty="0" sz="3250" spc="-145">
                <a:latin typeface="Calibri"/>
                <a:cs typeface="Calibri"/>
              </a:rPr>
              <a:t>pocos</a:t>
            </a:r>
            <a:r>
              <a:rPr dirty="0" sz="3250" spc="-45">
                <a:latin typeface="Calibri"/>
                <a:cs typeface="Calibri"/>
              </a:rPr>
              <a:t> </a:t>
            </a:r>
            <a:r>
              <a:rPr dirty="0" sz="3250" spc="-110">
                <a:latin typeface="Calibri"/>
                <a:cs typeface="Calibri"/>
              </a:rPr>
              <a:t>libros</a:t>
            </a:r>
            <a:r>
              <a:rPr dirty="0" sz="3250" spc="-25">
                <a:latin typeface="Calibri"/>
                <a:cs typeface="Calibri"/>
              </a:rPr>
              <a:t> </a:t>
            </a:r>
            <a:r>
              <a:rPr dirty="0" sz="3250" spc="-195">
                <a:latin typeface="Calibri"/>
                <a:cs typeface="Calibri"/>
              </a:rPr>
              <a:t>en</a:t>
            </a:r>
            <a:r>
              <a:rPr dirty="0" sz="3250" spc="-110">
                <a:latin typeface="Calibri"/>
                <a:cs typeface="Calibri"/>
              </a:rPr>
              <a:t> </a:t>
            </a:r>
            <a:r>
              <a:rPr dirty="0" sz="3250" spc="-10">
                <a:latin typeface="Calibri"/>
                <a:cs typeface="Calibri"/>
              </a:rPr>
              <a:t>común.</a:t>
            </a:r>
            <a:endParaRPr sz="3250">
              <a:latin typeface="Calibri"/>
              <a:cs typeface="Calibri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12348426" y="5887155"/>
            <a:ext cx="3859529" cy="1822450"/>
          </a:xfrm>
          <a:prstGeom prst="rect">
            <a:avLst/>
          </a:prstGeom>
        </p:spPr>
        <p:txBody>
          <a:bodyPr wrap="square" lIns="0" tIns="55880" rIns="0" bIns="0" rtlCol="0" vert="horz">
            <a:spAutoFit/>
          </a:bodyPr>
          <a:lstStyle/>
          <a:p>
            <a:pPr marL="15240" marR="5080" indent="-3175">
              <a:lnSpc>
                <a:spcPct val="90900"/>
              </a:lnSpc>
              <a:spcBef>
                <a:spcPts val="440"/>
              </a:spcBef>
            </a:pPr>
            <a:r>
              <a:rPr dirty="0" sz="3200">
                <a:latin typeface="Calibri"/>
                <a:cs typeface="Calibri"/>
              </a:rPr>
              <a:t>Falta</a:t>
            </a:r>
            <a:r>
              <a:rPr dirty="0" sz="3200" spc="-200">
                <a:latin typeface="Calibri"/>
                <a:cs typeface="Calibri"/>
              </a:rPr>
              <a:t> </a:t>
            </a:r>
            <a:r>
              <a:rPr dirty="0" sz="3200" spc="-45">
                <a:latin typeface="Calibri"/>
                <a:cs typeface="Calibri"/>
              </a:rPr>
              <a:t>de</a:t>
            </a:r>
            <a:r>
              <a:rPr dirty="0" sz="3200" spc="-220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Serendipia:</a:t>
            </a:r>
            <a:r>
              <a:rPr dirty="0" sz="3200" spc="-70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Las </a:t>
            </a:r>
            <a:r>
              <a:rPr dirty="0" sz="3100" spc="-55">
                <a:latin typeface="Calibri"/>
                <a:cs typeface="Calibri"/>
              </a:rPr>
              <a:t>recomendaciones</a:t>
            </a:r>
            <a:r>
              <a:rPr dirty="0" sz="3100" spc="-300">
                <a:latin typeface="Calibri"/>
                <a:cs typeface="Calibri"/>
              </a:rPr>
              <a:t> </a:t>
            </a:r>
            <a:r>
              <a:rPr dirty="0" sz="3100" spc="-20">
                <a:latin typeface="Calibri"/>
                <a:cs typeface="Calibri"/>
              </a:rPr>
              <a:t>eran </a:t>
            </a:r>
            <a:r>
              <a:rPr dirty="0" sz="3100" spc="-60">
                <a:latin typeface="Calibri"/>
                <a:cs typeface="Calibri"/>
              </a:rPr>
              <a:t>demasiado</a:t>
            </a:r>
            <a:r>
              <a:rPr dirty="0" sz="3100" spc="-114">
                <a:latin typeface="Calibri"/>
                <a:cs typeface="Calibri"/>
              </a:rPr>
              <a:t> </a:t>
            </a:r>
            <a:r>
              <a:rPr dirty="0" sz="3100" spc="-50">
                <a:latin typeface="Calibri"/>
                <a:cs typeface="Calibri"/>
              </a:rPr>
              <a:t>predecibles y </a:t>
            </a:r>
            <a:r>
              <a:rPr dirty="0" sz="3250" spc="-160">
                <a:latin typeface="Calibri"/>
                <a:cs typeface="Calibri"/>
              </a:rPr>
              <a:t>poco</a:t>
            </a:r>
            <a:r>
              <a:rPr dirty="0" sz="3250" spc="-55">
                <a:latin typeface="Calibri"/>
                <a:cs typeface="Calibri"/>
              </a:rPr>
              <a:t> </a:t>
            </a:r>
            <a:r>
              <a:rPr dirty="0" sz="3250" spc="-20">
                <a:latin typeface="Calibri"/>
                <a:cs typeface="Calibri"/>
              </a:rPr>
              <a:t>diversas.</a:t>
            </a:r>
            <a:endParaRPr sz="3250">
              <a:latin typeface="Calibri"/>
              <a:cs typeface="Calibri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13914870" y="8151912"/>
            <a:ext cx="3084195" cy="1337310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marL="12700" marR="2177415" indent="2540">
              <a:lnSpc>
                <a:spcPct val="135000"/>
              </a:lnSpc>
              <a:spcBef>
                <a:spcPts val="295"/>
              </a:spcBef>
            </a:pPr>
            <a:r>
              <a:rPr dirty="0" sz="1700" spc="-25">
                <a:latin typeface="Calibri"/>
                <a:cs typeface="Calibri"/>
              </a:rPr>
              <a:t>Title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block </a:t>
            </a:r>
            <a:r>
              <a:rPr dirty="0" sz="1600" spc="-10">
                <a:latin typeface="Calibri"/>
                <a:cs typeface="Calibri"/>
              </a:rPr>
              <a:t>Project Date:</a:t>
            </a:r>
            <a:endParaRPr sz="1600">
              <a:latin typeface="Calibri"/>
              <a:cs typeface="Calibri"/>
            </a:endParaRPr>
          </a:p>
          <a:p>
            <a:pPr marL="421640">
              <a:lnSpc>
                <a:spcPct val="100000"/>
              </a:lnSpc>
              <a:spcBef>
                <a:spcPts val="580"/>
              </a:spcBef>
              <a:tabLst>
                <a:tab pos="2751455" algn="l"/>
              </a:tabLst>
            </a:pPr>
            <a:r>
              <a:rPr dirty="0" sz="1300">
                <a:latin typeface="Calibri"/>
                <a:cs typeface="Calibri"/>
              </a:rPr>
              <a:t>PROJ.</a:t>
            </a:r>
            <a:r>
              <a:rPr dirty="0" sz="1300" spc="10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IO.2624</a:t>
            </a:r>
            <a:r>
              <a:rPr dirty="0" sz="1300" spc="320"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0E0E0E"/>
                </a:solidFill>
                <a:latin typeface="Calibri"/>
                <a:cs typeface="Calibri"/>
              </a:rPr>
              <a:t>AC</a:t>
            </a:r>
            <a:r>
              <a:rPr dirty="0" sz="1300" spc="22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601</a:t>
            </a:r>
            <a:r>
              <a:rPr dirty="0" sz="1300" spc="90"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31313"/>
                </a:solidFill>
                <a:latin typeface="Calibri"/>
                <a:cs typeface="Calibri"/>
              </a:rPr>
              <a:t>-</a:t>
            </a:r>
            <a:r>
              <a:rPr dirty="0" sz="1300" spc="105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dirty="0" sz="1300" spc="190">
                <a:latin typeface="Calibri"/>
                <a:cs typeface="Calibri"/>
              </a:rPr>
              <a:t>*“””°</a:t>
            </a:r>
            <a:r>
              <a:rPr dirty="0" sz="1300">
                <a:latin typeface="Calibri"/>
                <a:cs typeface="Calibri"/>
              </a:rPr>
              <a:t>	</a:t>
            </a:r>
            <a:r>
              <a:rPr dirty="0" sz="1300" spc="225">
                <a:latin typeface="Calibri"/>
                <a:cs typeface="Calibri"/>
              </a:rPr>
              <a:t>^”</a:t>
            </a:r>
            <a:r>
              <a:rPr dirty="0" sz="1300" spc="-50">
                <a:latin typeface="Calibri"/>
                <a:cs typeface="Calibri"/>
              </a:rPr>
              <a:t> </a:t>
            </a:r>
            <a:r>
              <a:rPr dirty="0" sz="1300" spc="125">
                <a:solidFill>
                  <a:srgbClr val="0E0E0E"/>
                </a:solidFill>
                <a:latin typeface="Calibri"/>
                <a:cs typeface="Calibri"/>
              </a:rPr>
              <a:t>°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" y="5930900"/>
            <a:ext cx="7988300" cy="35433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82100" y="5930900"/>
            <a:ext cx="7962900" cy="35433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4800" y="292100"/>
            <a:ext cx="3759200" cy="233680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220200" y="292100"/>
            <a:ext cx="7924800" cy="2336800"/>
          </a:xfrm>
          <a:prstGeom prst="rect">
            <a:avLst/>
          </a:prstGeom>
        </p:spPr>
      </p:pic>
      <p:sp>
        <p:nvSpPr>
          <p:cNvPr id="6" name="object 6" descr=""/>
          <p:cNvSpPr/>
          <p:nvPr/>
        </p:nvSpPr>
        <p:spPr>
          <a:xfrm>
            <a:off x="268816" y="283632"/>
            <a:ext cx="0" cy="9232900"/>
          </a:xfrm>
          <a:custGeom>
            <a:avLst/>
            <a:gdLst/>
            <a:ahLst/>
            <a:cxnLst/>
            <a:rect l="l" t="t" r="r" b="b"/>
            <a:pathLst>
              <a:path w="0" h="9232900">
                <a:moveTo>
                  <a:pt x="0" y="9232900"/>
                </a:moveTo>
                <a:lnTo>
                  <a:pt x="0" y="0"/>
                </a:lnTo>
              </a:path>
            </a:pathLst>
          </a:custGeom>
          <a:ln w="12700">
            <a:solidFill>
              <a:srgbClr val="70706B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7" name="object 7" descr=""/>
          <p:cNvGrpSpPr/>
          <p:nvPr/>
        </p:nvGrpSpPr>
        <p:grpSpPr>
          <a:xfrm>
            <a:off x="262466" y="283632"/>
            <a:ext cx="16891000" cy="9232900"/>
            <a:chOff x="262466" y="283632"/>
            <a:chExt cx="16891000" cy="9232900"/>
          </a:xfrm>
        </p:grpSpPr>
        <p:sp>
          <p:nvSpPr>
            <p:cNvPr id="8" name="object 8" descr=""/>
            <p:cNvSpPr/>
            <p:nvPr/>
          </p:nvSpPr>
          <p:spPr>
            <a:xfrm>
              <a:off x="17147121" y="283632"/>
              <a:ext cx="0" cy="9232900"/>
            </a:xfrm>
            <a:custGeom>
              <a:avLst/>
              <a:gdLst/>
              <a:ahLst/>
              <a:cxnLst/>
              <a:rect l="l" t="t" r="r" b="b"/>
              <a:pathLst>
                <a:path w="0" h="9232900">
                  <a:moveTo>
                    <a:pt x="0" y="92329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70706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262466" y="289982"/>
              <a:ext cx="16891000" cy="0"/>
            </a:xfrm>
            <a:custGeom>
              <a:avLst/>
              <a:gdLst/>
              <a:ahLst/>
              <a:cxnLst/>
              <a:rect l="l" t="t" r="r" b="b"/>
              <a:pathLst>
                <a:path w="16891000" h="0">
                  <a:moveTo>
                    <a:pt x="0" y="0"/>
                  </a:moveTo>
                  <a:lnTo>
                    <a:pt x="16891000" y="0"/>
                  </a:lnTo>
                </a:path>
              </a:pathLst>
            </a:custGeom>
            <a:ln w="12700">
              <a:solidFill>
                <a:srgbClr val="70706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262466" y="9510182"/>
              <a:ext cx="16891000" cy="0"/>
            </a:xfrm>
            <a:custGeom>
              <a:avLst/>
              <a:gdLst/>
              <a:ahLst/>
              <a:cxnLst/>
              <a:rect l="l" t="t" r="r" b="b"/>
              <a:pathLst>
                <a:path w="16891000" h="0">
                  <a:moveTo>
                    <a:pt x="0" y="0"/>
                  </a:moveTo>
                  <a:lnTo>
                    <a:pt x="16891000" y="0"/>
                  </a:lnTo>
                </a:path>
              </a:pathLst>
            </a:custGeom>
            <a:ln w="12700">
              <a:solidFill>
                <a:srgbClr val="70706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5245100" y="1111250"/>
              <a:ext cx="2806700" cy="0"/>
            </a:xfrm>
            <a:custGeom>
              <a:avLst/>
              <a:gdLst/>
              <a:ahLst/>
              <a:cxnLst/>
              <a:rect l="l" t="t" r="r" b="b"/>
              <a:pathLst>
                <a:path w="2806700" h="0">
                  <a:moveTo>
                    <a:pt x="0" y="0"/>
                  </a:moveTo>
                  <a:lnTo>
                    <a:pt x="2806700" y="0"/>
                  </a:lnTo>
                </a:path>
              </a:pathLst>
            </a:custGeom>
            <a:ln w="12700">
              <a:solidFill>
                <a:srgbClr val="8C8C8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2" name="object 12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029700" y="3441700"/>
            <a:ext cx="12700" cy="431800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029700" y="4940300"/>
            <a:ext cx="12700" cy="558800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029700" y="5613400"/>
            <a:ext cx="12700" cy="304800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029700" y="7848600"/>
            <a:ext cx="12700" cy="228600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385300" y="6121400"/>
            <a:ext cx="1511300" cy="393700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6129000" y="9499600"/>
            <a:ext cx="1206500" cy="127000"/>
          </a:xfrm>
          <a:prstGeom prst="rect">
            <a:avLst/>
          </a:prstGeom>
        </p:spPr>
      </p:pic>
      <p:pic>
        <p:nvPicPr>
          <p:cNvPr id="18" name="object 18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9029700" y="6985000"/>
            <a:ext cx="12700" cy="381000"/>
          </a:xfrm>
          <a:prstGeom prst="rect">
            <a:avLst/>
          </a:prstGeom>
        </p:spPr>
      </p:pic>
      <p:pic>
        <p:nvPicPr>
          <p:cNvPr id="19" name="object 19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0782300" y="7594600"/>
            <a:ext cx="3975100" cy="1257300"/>
          </a:xfrm>
          <a:prstGeom prst="rect">
            <a:avLst/>
          </a:prstGeom>
        </p:spPr>
      </p:pic>
      <p:sp>
        <p:nvSpPr>
          <p:cNvPr id="20" name="object 20" descr=""/>
          <p:cNvSpPr txBox="1"/>
          <p:nvPr/>
        </p:nvSpPr>
        <p:spPr>
          <a:xfrm>
            <a:off x="1491225" y="874888"/>
            <a:ext cx="2562225" cy="95694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100" spc="65">
                <a:solidFill>
                  <a:srgbClr val="2F2F2F"/>
                </a:solidFill>
                <a:latin typeface="Cambria"/>
                <a:cs typeface="Cambria"/>
              </a:rPr>
              <a:t>Desafío</a:t>
            </a:r>
            <a:endParaRPr sz="6100">
              <a:latin typeface="Cambria"/>
              <a:cs typeface="Cambria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4648970" y="874888"/>
            <a:ext cx="7999095" cy="956944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100" spc="-380" i="1">
                <a:solidFill>
                  <a:srgbClr val="333333"/>
                </a:solidFill>
                <a:latin typeface="Cambria"/>
                <a:cs typeface="Cambria"/>
              </a:rPr>
              <a:t>:</a:t>
            </a:r>
            <a:r>
              <a:rPr dirty="0" sz="6100" spc="350" i="1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dirty="0" sz="6100">
                <a:solidFill>
                  <a:srgbClr val="2F2F2F"/>
                </a:solidFill>
              </a:rPr>
              <a:t>Similitud</a:t>
            </a:r>
            <a:r>
              <a:rPr dirty="0" sz="6100" spc="440">
                <a:solidFill>
                  <a:srgbClr val="2F2F2F"/>
                </a:solidFill>
              </a:rPr>
              <a:t> </a:t>
            </a:r>
            <a:r>
              <a:rPr dirty="0" sz="6100" spc="-70">
                <a:solidFill>
                  <a:srgbClr val="2A2A2A"/>
                </a:solidFill>
              </a:rPr>
              <a:t>Item-To-</a:t>
            </a:r>
            <a:r>
              <a:rPr dirty="0" sz="6100" spc="-20">
                <a:solidFill>
                  <a:srgbClr val="2A2A2A"/>
                </a:solidFill>
              </a:rPr>
              <a:t>Item</a:t>
            </a:r>
            <a:endParaRPr sz="6100">
              <a:latin typeface="Cambria"/>
              <a:cs typeface="Cambria"/>
            </a:endParaRPr>
          </a:p>
        </p:txBody>
      </p:sp>
      <p:graphicFrame>
        <p:nvGraphicFramePr>
          <p:cNvPr id="22" name="object 22" descr=""/>
          <p:cNvGraphicFramePr>
            <a:graphicFrameLocks noGrp="1"/>
          </p:cNvGraphicFramePr>
          <p:nvPr/>
        </p:nvGraphicFramePr>
        <p:xfrm>
          <a:off x="1316567" y="2023532"/>
          <a:ext cx="14859000" cy="71367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065645"/>
                <a:gridCol w="626745"/>
                <a:gridCol w="279400"/>
                <a:gridCol w="381000"/>
                <a:gridCol w="410845"/>
                <a:gridCol w="326390"/>
                <a:gridCol w="267334"/>
                <a:gridCol w="538479"/>
                <a:gridCol w="1092834"/>
                <a:gridCol w="1092834"/>
                <a:gridCol w="241934"/>
                <a:gridCol w="491490"/>
                <a:gridCol w="504190"/>
                <a:gridCol w="237490"/>
                <a:gridCol w="1219834"/>
              </a:tblGrid>
              <a:tr h="127000">
                <a:tc rowSpan="3">
                  <a:txBody>
                    <a:bodyPr/>
                    <a:lstStyle/>
                    <a:p>
                      <a:pPr marL="18605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dirty="0" sz="3650" spc="-10">
                          <a:solidFill>
                            <a:srgbClr val="A15241"/>
                          </a:solidFill>
                          <a:latin typeface="Cambria"/>
                          <a:cs typeface="Cambria"/>
                        </a:rPr>
                        <a:t>Problema</a:t>
                      </a:r>
                      <a:endParaRPr sz="3650">
                        <a:latin typeface="Cambria"/>
                        <a:cs typeface="Cambria"/>
                      </a:endParaRPr>
                    </a:p>
                  </a:txBody>
                  <a:tcPr marL="0" marR="0" marB="0" marT="14604">
                    <a:lnL w="12700">
                      <a:solidFill>
                        <a:srgbClr val="836054"/>
                      </a:solidFill>
                      <a:prstDash val="solid"/>
                    </a:lnL>
                    <a:lnR w="12700">
                      <a:solidFill>
                        <a:srgbClr val="836054"/>
                      </a:solidFill>
                      <a:prstDash val="solid"/>
                    </a:lnR>
                    <a:lnT w="12700">
                      <a:solidFill>
                        <a:srgbClr val="836054"/>
                      </a:solidFill>
                      <a:prstDash val="solid"/>
                    </a:lnT>
                    <a:lnB w="12700">
                      <a:solidFill>
                        <a:srgbClr val="836054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836054"/>
                      </a:solidFill>
                      <a:prstDash val="solid"/>
                    </a:lnL>
                    <a:lnR w="12700">
                      <a:solidFill>
                        <a:srgbClr val="836054"/>
                      </a:solidFill>
                      <a:prstDash val="solid"/>
                    </a:lnR>
                    <a:lnT w="12700">
                      <a:solidFill>
                        <a:srgbClr val="836054"/>
                      </a:solidFill>
                      <a:prstDash val="solid"/>
                    </a:lnT>
                    <a:lnB w="12700">
                      <a:solidFill>
                        <a:srgbClr val="836054"/>
                      </a:solidFill>
                      <a:prstDash val="solid"/>
                    </a:lnB>
                  </a:tcPr>
                </a:tc>
                <a:tc gridSpan="2"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836054"/>
                      </a:solidFill>
                      <a:prstDash val="solid"/>
                    </a:lnL>
                    <a:lnR w="12700">
                      <a:solidFill>
                        <a:srgbClr val="836054"/>
                      </a:solidFill>
                      <a:prstDash val="solid"/>
                    </a:lnR>
                    <a:lnT w="12700">
                      <a:solidFill>
                        <a:srgbClr val="836054"/>
                      </a:solidFill>
                      <a:prstDash val="solid"/>
                    </a:lnT>
                    <a:lnB w="12700">
                      <a:solidFill>
                        <a:srgbClr val="836054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836054"/>
                      </a:solidFill>
                      <a:prstDash val="solid"/>
                    </a:lnL>
                    <a:lnR w="12700">
                      <a:solidFill>
                        <a:srgbClr val="836054"/>
                      </a:solidFill>
                      <a:prstDash val="solid"/>
                    </a:lnR>
                    <a:lnT w="12700">
                      <a:solidFill>
                        <a:srgbClr val="836054"/>
                      </a:solidFill>
                      <a:prstDash val="solid"/>
                    </a:lnT>
                    <a:lnB w="12700">
                      <a:solidFill>
                        <a:srgbClr val="836054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6"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836054"/>
                      </a:solidFill>
                      <a:prstDash val="solid"/>
                    </a:lnL>
                    <a:lnR w="12700">
                      <a:solidFill>
                        <a:srgbClr val="836054"/>
                      </a:solidFill>
                      <a:prstDash val="solid"/>
                    </a:lnR>
                    <a:lnT w="12700">
                      <a:solidFill>
                        <a:srgbClr val="836054"/>
                      </a:solidFill>
                      <a:prstDash val="solid"/>
                    </a:lnT>
                    <a:lnB w="12700">
                      <a:solidFill>
                        <a:srgbClr val="836054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836054"/>
                      </a:solidFill>
                      <a:prstDash val="solid"/>
                    </a:lnL>
                    <a:lnR w="12700">
                      <a:solidFill>
                        <a:srgbClr val="836054"/>
                      </a:solidFill>
                      <a:prstDash val="solid"/>
                    </a:lnR>
                    <a:lnT w="12700">
                      <a:solidFill>
                        <a:srgbClr val="836054"/>
                      </a:solidFill>
                      <a:prstDash val="solid"/>
                    </a:lnT>
                    <a:lnB w="12700">
                      <a:solidFill>
                        <a:srgbClr val="83605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836054"/>
                      </a:solidFill>
                      <a:prstDash val="solid"/>
                    </a:lnL>
                    <a:lnR w="12700">
                      <a:solidFill>
                        <a:srgbClr val="836054"/>
                      </a:solidFill>
                      <a:prstDash val="solid"/>
                    </a:lnR>
                    <a:lnT w="12700">
                      <a:solidFill>
                        <a:srgbClr val="836054"/>
                      </a:solidFill>
                      <a:prstDash val="solid"/>
                    </a:lnT>
                    <a:lnB w="12700">
                      <a:solidFill>
                        <a:srgbClr val="83605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836054"/>
                      </a:solidFill>
                      <a:prstDash val="solid"/>
                    </a:lnL>
                    <a:lnR w="12700">
                      <a:solidFill>
                        <a:srgbClr val="836054"/>
                      </a:solidFill>
                      <a:prstDash val="solid"/>
                    </a:lnR>
                    <a:lnT w="12700">
                      <a:solidFill>
                        <a:srgbClr val="836054"/>
                      </a:solidFill>
                      <a:prstDash val="solid"/>
                    </a:lnT>
                    <a:lnB w="12700">
                      <a:solidFill>
                        <a:srgbClr val="836054"/>
                      </a:solidFill>
                      <a:prstDash val="solid"/>
                    </a:lnB>
                  </a:tcPr>
                </a:tc>
              </a:tr>
              <a:tr h="17335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4604">
                    <a:lnL w="12700">
                      <a:solidFill>
                        <a:srgbClr val="836054"/>
                      </a:solidFill>
                      <a:prstDash val="solid"/>
                    </a:lnL>
                    <a:lnR w="12700">
                      <a:solidFill>
                        <a:srgbClr val="836054"/>
                      </a:solidFill>
                      <a:prstDash val="solid"/>
                    </a:lnR>
                    <a:lnT w="12700">
                      <a:solidFill>
                        <a:srgbClr val="836054"/>
                      </a:solidFill>
                      <a:prstDash val="solid"/>
                    </a:lnT>
                    <a:lnB w="12700">
                      <a:solidFill>
                        <a:srgbClr val="836054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836054"/>
                      </a:solidFill>
                      <a:prstDash val="solid"/>
                    </a:lnL>
                    <a:lnR w="12700">
                      <a:solidFill>
                        <a:srgbClr val="836054"/>
                      </a:solidFill>
                      <a:prstDash val="solid"/>
                    </a:lnR>
                    <a:lnT w="12700">
                      <a:solidFill>
                        <a:srgbClr val="836054"/>
                      </a:solidFill>
                      <a:prstDash val="solid"/>
                    </a:lnT>
                    <a:lnB w="12700">
                      <a:solidFill>
                        <a:srgbClr val="836054"/>
                      </a:solidFill>
                      <a:prstDash val="soli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836054"/>
                      </a:solidFill>
                      <a:prstDash val="solid"/>
                    </a:lnL>
                    <a:lnR w="12700">
                      <a:solidFill>
                        <a:srgbClr val="836054"/>
                      </a:solidFill>
                      <a:prstDash val="solid"/>
                    </a:lnR>
                    <a:lnT w="12700">
                      <a:solidFill>
                        <a:srgbClr val="836054"/>
                      </a:solidFill>
                      <a:prstDash val="solid"/>
                    </a:lnT>
                    <a:lnB w="12700">
                      <a:solidFill>
                        <a:srgbClr val="836054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836054"/>
                      </a:solidFill>
                      <a:prstDash val="solid"/>
                    </a:lnL>
                    <a:lnR w="12700">
                      <a:solidFill>
                        <a:srgbClr val="836054"/>
                      </a:solidFill>
                      <a:prstDash val="solid"/>
                    </a:lnR>
                    <a:lnT w="12700">
                      <a:solidFill>
                        <a:srgbClr val="836054"/>
                      </a:solidFill>
                      <a:prstDash val="solid"/>
                    </a:lnT>
                    <a:lnB w="12700">
                      <a:solidFill>
                        <a:srgbClr val="836054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6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836054"/>
                      </a:solidFill>
                      <a:prstDash val="solid"/>
                    </a:lnL>
                    <a:lnR w="12700">
                      <a:solidFill>
                        <a:srgbClr val="836054"/>
                      </a:solidFill>
                      <a:prstDash val="solid"/>
                    </a:lnR>
                    <a:lnT w="12700">
                      <a:solidFill>
                        <a:srgbClr val="836054"/>
                      </a:solidFill>
                      <a:prstDash val="solid"/>
                    </a:lnT>
                    <a:lnB w="12700">
                      <a:solidFill>
                        <a:srgbClr val="836054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836054"/>
                      </a:solidFill>
                      <a:prstDash val="solid"/>
                    </a:lnL>
                    <a:lnR w="12700">
                      <a:solidFill>
                        <a:srgbClr val="836054"/>
                      </a:solidFill>
                      <a:prstDash val="solid"/>
                    </a:lnR>
                    <a:lnT w="12700">
                      <a:solidFill>
                        <a:srgbClr val="836054"/>
                      </a:solidFill>
                      <a:prstDash val="solid"/>
                    </a:lnT>
                    <a:lnB w="12700">
                      <a:solidFill>
                        <a:srgbClr val="836054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836054"/>
                      </a:solidFill>
                      <a:prstDash val="solid"/>
                    </a:lnL>
                    <a:lnR w="12700">
                      <a:solidFill>
                        <a:srgbClr val="836054"/>
                      </a:solidFill>
                      <a:prstDash val="solid"/>
                    </a:lnR>
                    <a:lnT w="12700">
                      <a:solidFill>
                        <a:srgbClr val="836054"/>
                      </a:solidFill>
                      <a:prstDash val="solid"/>
                    </a:lnT>
                    <a:lnB w="12700">
                      <a:solidFill>
                        <a:srgbClr val="83605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1465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4604">
                    <a:lnL w="12700">
                      <a:solidFill>
                        <a:srgbClr val="836054"/>
                      </a:solidFill>
                      <a:prstDash val="solid"/>
                    </a:lnL>
                    <a:lnR w="12700">
                      <a:solidFill>
                        <a:srgbClr val="836054"/>
                      </a:solidFill>
                      <a:prstDash val="solid"/>
                    </a:lnR>
                    <a:lnT w="12700">
                      <a:solidFill>
                        <a:srgbClr val="836054"/>
                      </a:solidFill>
                      <a:prstDash val="solid"/>
                    </a:lnT>
                    <a:lnB w="12700">
                      <a:solidFill>
                        <a:srgbClr val="836054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836054"/>
                      </a:solidFill>
                      <a:prstDash val="solid"/>
                    </a:lnL>
                    <a:lnR w="12700">
                      <a:solidFill>
                        <a:srgbClr val="836054"/>
                      </a:solidFill>
                      <a:prstDash val="solid"/>
                    </a:lnR>
                    <a:lnT w="12700">
                      <a:solidFill>
                        <a:srgbClr val="836054"/>
                      </a:solidFill>
                      <a:prstDash val="solid"/>
                    </a:lnT>
                    <a:lnB w="12700">
                      <a:solidFill>
                        <a:srgbClr val="83605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836054"/>
                      </a:solidFill>
                      <a:prstDash val="solid"/>
                    </a:lnL>
                    <a:lnR w="12700">
                      <a:solidFill>
                        <a:srgbClr val="836054"/>
                      </a:solidFill>
                      <a:prstDash val="solid"/>
                    </a:lnR>
                    <a:lnT w="12700">
                      <a:solidFill>
                        <a:srgbClr val="836054"/>
                      </a:solidFill>
                      <a:prstDash val="solid"/>
                    </a:lnT>
                    <a:lnB w="12700">
                      <a:solidFill>
                        <a:srgbClr val="836054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836054"/>
                      </a:solidFill>
                      <a:prstDash val="solid"/>
                    </a:lnL>
                    <a:lnR w="12700">
                      <a:solidFill>
                        <a:srgbClr val="836054"/>
                      </a:solidFill>
                      <a:prstDash val="solid"/>
                    </a:lnR>
                    <a:lnT w="12700">
                      <a:solidFill>
                        <a:srgbClr val="836054"/>
                      </a:solidFill>
                      <a:prstDash val="solid"/>
                    </a:lnT>
                    <a:lnB w="12700">
                      <a:solidFill>
                        <a:srgbClr val="83605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836054"/>
                      </a:solidFill>
                      <a:prstDash val="solid"/>
                    </a:lnL>
                    <a:lnR w="12700">
                      <a:solidFill>
                        <a:srgbClr val="836054"/>
                      </a:solidFill>
                      <a:prstDash val="solid"/>
                    </a:lnR>
                    <a:lnT w="12700">
                      <a:solidFill>
                        <a:srgbClr val="836054"/>
                      </a:solidFill>
                      <a:prstDash val="solid"/>
                    </a:lnT>
                    <a:lnB w="12700">
                      <a:solidFill>
                        <a:srgbClr val="83605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836054"/>
                      </a:solidFill>
                      <a:prstDash val="solid"/>
                    </a:lnL>
                    <a:lnR w="12700">
                      <a:solidFill>
                        <a:srgbClr val="836054"/>
                      </a:solidFill>
                      <a:prstDash val="solid"/>
                    </a:lnR>
                    <a:lnT w="12700">
                      <a:solidFill>
                        <a:srgbClr val="836054"/>
                      </a:solidFill>
                      <a:prstDash val="solid"/>
                    </a:lnT>
                    <a:lnB w="12700">
                      <a:solidFill>
                        <a:srgbClr val="83605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836054"/>
                      </a:solidFill>
                      <a:prstDash val="solid"/>
                    </a:lnL>
                    <a:lnR w="12700">
                      <a:solidFill>
                        <a:srgbClr val="836054"/>
                      </a:solidFill>
                      <a:prstDash val="solid"/>
                    </a:lnR>
                    <a:lnT w="12700">
                      <a:solidFill>
                        <a:srgbClr val="836054"/>
                      </a:solidFill>
                      <a:prstDash val="solid"/>
                    </a:lnT>
                    <a:lnB w="12700">
                      <a:solidFill>
                        <a:srgbClr val="83605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836054"/>
                      </a:solidFill>
                      <a:prstDash val="solid"/>
                    </a:lnL>
                    <a:lnR w="12700">
                      <a:solidFill>
                        <a:srgbClr val="836054"/>
                      </a:solidFill>
                      <a:prstDash val="solid"/>
                    </a:lnR>
                    <a:lnT w="12700">
                      <a:solidFill>
                        <a:srgbClr val="836054"/>
                      </a:solidFill>
                      <a:prstDash val="solid"/>
                    </a:lnT>
                    <a:lnB w="12700">
                      <a:solidFill>
                        <a:srgbClr val="83605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836054"/>
                      </a:solidFill>
                      <a:prstDash val="solid"/>
                    </a:lnL>
                    <a:lnR w="12700">
                      <a:solidFill>
                        <a:srgbClr val="836054"/>
                      </a:solidFill>
                      <a:prstDash val="solid"/>
                    </a:lnR>
                    <a:lnT w="12700">
                      <a:solidFill>
                        <a:srgbClr val="836054"/>
                      </a:solidFill>
                      <a:prstDash val="solid"/>
                    </a:lnT>
                    <a:lnB w="12700">
                      <a:solidFill>
                        <a:srgbClr val="83605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836054"/>
                      </a:solidFill>
                      <a:prstDash val="solid"/>
                    </a:lnL>
                    <a:lnR w="12700">
                      <a:solidFill>
                        <a:srgbClr val="836054"/>
                      </a:solidFill>
                      <a:prstDash val="solid"/>
                    </a:lnR>
                    <a:lnT w="12700">
                      <a:solidFill>
                        <a:srgbClr val="836054"/>
                      </a:solidFill>
                      <a:prstDash val="solid"/>
                    </a:lnT>
                    <a:lnB w="12700">
                      <a:solidFill>
                        <a:srgbClr val="836054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836054"/>
                      </a:solidFill>
                      <a:prstDash val="solid"/>
                    </a:lnL>
                    <a:lnR w="12700">
                      <a:solidFill>
                        <a:srgbClr val="836054"/>
                      </a:solidFill>
                      <a:prstDash val="solid"/>
                    </a:lnR>
                    <a:lnT w="12700">
                      <a:solidFill>
                        <a:srgbClr val="836054"/>
                      </a:solidFill>
                      <a:prstDash val="solid"/>
                    </a:lnT>
                    <a:lnB w="12700">
                      <a:solidFill>
                        <a:srgbClr val="83605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836054"/>
                      </a:solidFill>
                      <a:prstDash val="solid"/>
                    </a:lnL>
                    <a:lnR w="12700">
                      <a:solidFill>
                        <a:srgbClr val="836054"/>
                      </a:solidFill>
                      <a:prstDash val="solid"/>
                    </a:lnR>
                    <a:lnT w="12700">
                      <a:solidFill>
                        <a:srgbClr val="836054"/>
                      </a:solidFill>
                      <a:prstDash val="solid"/>
                    </a:lnT>
                    <a:lnB w="12700">
                      <a:solidFill>
                        <a:srgbClr val="836054"/>
                      </a:solidFill>
                      <a:prstDash val="solid"/>
                    </a:lnB>
                  </a:tcPr>
                </a:tc>
              </a:tr>
              <a:tr h="6421755">
                <a:tc>
                  <a:txBody>
                    <a:bodyPr/>
                    <a:lstStyle/>
                    <a:p>
                      <a:pPr marL="203200" marR="591185" indent="-10795">
                        <a:lnSpc>
                          <a:spcPts val="3200"/>
                        </a:lnSpc>
                        <a:spcBef>
                          <a:spcPts val="1070"/>
                        </a:spcBef>
                      </a:pPr>
                      <a:r>
                        <a:rPr dirty="0" sz="3100" spc="-165">
                          <a:latin typeface="Calibri"/>
                          <a:cs typeface="Calibri"/>
                        </a:rPr>
                        <a:t>Inicialmente,</a:t>
                      </a:r>
                      <a:r>
                        <a:rPr dirty="0" sz="3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100" spc="-114">
                          <a:latin typeface="Calibri"/>
                          <a:cs typeface="Calibri"/>
                        </a:rPr>
                        <a:t>los</a:t>
                      </a:r>
                      <a:r>
                        <a:rPr dirty="0" sz="3100" spc="-1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100" spc="-150">
                          <a:latin typeface="Calibri"/>
                          <a:cs typeface="Calibri"/>
                        </a:rPr>
                        <a:t>libros</a:t>
                      </a:r>
                      <a:r>
                        <a:rPr dirty="0" sz="31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100" spc="-195">
                          <a:latin typeface="Calibri"/>
                          <a:cs typeface="Calibri"/>
                        </a:rPr>
                        <a:t>eran</a:t>
                      </a:r>
                      <a:r>
                        <a:rPr dirty="0" sz="3100" spc="-9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100" spc="160">
                          <a:latin typeface="Calibri"/>
                          <a:cs typeface="Calibri"/>
                        </a:rPr>
                        <a:t>rdf:</a:t>
                      </a:r>
                      <a:r>
                        <a:rPr dirty="0" sz="3100" spc="-2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100" spc="-105">
                          <a:latin typeface="Calibri"/>
                          <a:cs typeface="Calibri"/>
                        </a:rPr>
                        <a:t>type</a:t>
                      </a:r>
                      <a:r>
                        <a:rPr dirty="0" sz="3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100" spc="-200">
                          <a:latin typeface="Calibri"/>
                          <a:cs typeface="Calibri"/>
                        </a:rPr>
                        <a:t>de</a:t>
                      </a:r>
                      <a:r>
                        <a:rPr dirty="0" sz="3100" spc="-17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100" spc="-25">
                          <a:latin typeface="Calibri"/>
                          <a:cs typeface="Calibri"/>
                        </a:rPr>
                        <a:t>los </a:t>
                      </a:r>
                      <a:r>
                        <a:rPr dirty="0" sz="3100" spc="-75">
                          <a:latin typeface="Calibri"/>
                          <a:cs typeface="Calibri"/>
                        </a:rPr>
                        <a:t>géneros.</a:t>
                      </a:r>
                      <a:endParaRPr sz="31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  <a:p>
                      <a:pPr marL="196215" marR="273685" indent="-3810">
                        <a:lnSpc>
                          <a:spcPts val="3200"/>
                        </a:lnSpc>
                      </a:pPr>
                      <a:r>
                        <a:rPr dirty="0" sz="3100" spc="-160">
                          <a:latin typeface="Calibri"/>
                          <a:cs typeface="Calibri"/>
                        </a:rPr>
                        <a:t>Esto </a:t>
                      </a:r>
                      <a:r>
                        <a:rPr dirty="0" sz="3100" spc="-165">
                          <a:latin typeface="Calibri"/>
                          <a:cs typeface="Calibri"/>
                        </a:rPr>
                        <a:t>impedía</a:t>
                      </a:r>
                      <a:r>
                        <a:rPr dirty="0" sz="3100" spc="-1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100" spc="-195">
                          <a:latin typeface="Calibri"/>
                          <a:cs typeface="Calibri"/>
                        </a:rPr>
                        <a:t>que</a:t>
                      </a:r>
                      <a:r>
                        <a:rPr dirty="0" sz="3100" spc="-1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100" spc="-25">
                          <a:latin typeface="Calibri"/>
                          <a:cs typeface="Calibri"/>
                        </a:rPr>
                        <a:t>el</a:t>
                      </a:r>
                      <a:r>
                        <a:rPr dirty="0" sz="3100" spc="-30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100" spc="-190">
                          <a:latin typeface="Calibri"/>
                          <a:cs typeface="Calibri"/>
                        </a:rPr>
                        <a:t>algoritmo</a:t>
                      </a:r>
                      <a:r>
                        <a:rPr dirty="0" sz="31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100" spc="-150">
                          <a:latin typeface="Calibri"/>
                          <a:cs typeface="Calibri"/>
                        </a:rPr>
                        <a:t>de</a:t>
                      </a:r>
                      <a:r>
                        <a:rPr dirty="0" sz="3100" spc="-1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100" spc="-10">
                          <a:latin typeface="Calibri"/>
                          <a:cs typeface="Calibri"/>
                        </a:rPr>
                        <a:t>similitud </a:t>
                      </a:r>
                      <a:r>
                        <a:rPr dirty="0" sz="3100" spc="-200">
                          <a:latin typeface="Calibri"/>
                          <a:cs typeface="Calibri"/>
                        </a:rPr>
                        <a:t>navegara</a:t>
                      </a:r>
                      <a:r>
                        <a:rPr dirty="0" sz="3100" spc="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100" spc="-215">
                          <a:latin typeface="Calibri"/>
                          <a:cs typeface="Calibri"/>
                        </a:rPr>
                        <a:t>correctamente</a:t>
                      </a:r>
                      <a:r>
                        <a:rPr dirty="0" sz="3100" spc="1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100" spc="-190">
                          <a:latin typeface="Calibri"/>
                          <a:cs typeface="Calibri"/>
                        </a:rPr>
                        <a:t>desde</a:t>
                      </a:r>
                      <a:r>
                        <a:rPr dirty="0" sz="3100" spc="-8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100" spc="-229">
                          <a:latin typeface="Calibri"/>
                          <a:cs typeface="Calibri"/>
                        </a:rPr>
                        <a:t>un</a:t>
                      </a:r>
                      <a:r>
                        <a:rPr dirty="0" sz="3100" spc="-8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100" spc="-229">
                          <a:latin typeface="Calibri"/>
                          <a:cs typeface="Calibri"/>
                        </a:rPr>
                        <a:t>género</a:t>
                      </a:r>
                      <a:r>
                        <a:rPr dirty="0" sz="3100" spc="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100" spc="-200">
                          <a:latin typeface="Calibri"/>
                          <a:cs typeface="Calibri"/>
                        </a:rPr>
                        <a:t>a </a:t>
                      </a:r>
                      <a:r>
                        <a:rPr dirty="0" sz="3100" spc="-25">
                          <a:latin typeface="Calibri"/>
                          <a:cs typeface="Calibri"/>
                        </a:rPr>
                        <a:t>los </a:t>
                      </a:r>
                      <a:r>
                        <a:rPr dirty="0" sz="3100" spc="-150">
                          <a:latin typeface="Calibri"/>
                          <a:cs typeface="Calibri"/>
                        </a:rPr>
                        <a:t>libros</a:t>
                      </a:r>
                      <a:r>
                        <a:rPr dirty="0" sz="3100" spc="-8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100" spc="-150">
                          <a:latin typeface="Calibri"/>
                          <a:cs typeface="Calibri"/>
                        </a:rPr>
                        <a:t>asociados</a:t>
                      </a:r>
                      <a:r>
                        <a:rPr dirty="0" sz="3100" spc="7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100" spc="-55">
                          <a:latin typeface="Calibri"/>
                          <a:cs typeface="Calibri"/>
                        </a:rPr>
                        <a:t>al</a:t>
                      </a:r>
                      <a:r>
                        <a:rPr dirty="0" sz="3100" spc="-3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100" spc="-220">
                          <a:latin typeface="Calibri"/>
                          <a:cs typeface="Calibri"/>
                        </a:rPr>
                        <a:t>recorrer</a:t>
                      </a:r>
                      <a:r>
                        <a:rPr dirty="0" sz="3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100" spc="-55">
                          <a:latin typeface="Calibri"/>
                          <a:cs typeface="Calibri"/>
                        </a:rPr>
                        <a:t>ía</a:t>
                      </a:r>
                      <a:r>
                        <a:rPr dirty="0" sz="3100" spc="-2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100" spc="-50">
                          <a:latin typeface="Calibri"/>
                          <a:cs typeface="Calibri"/>
                        </a:rPr>
                        <a:t>jerarquía.</a:t>
                      </a:r>
                      <a:endParaRPr sz="31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345"/>
                        </a:spcBef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  <a:p>
                      <a:pPr marL="364490">
                        <a:lnSpc>
                          <a:spcPct val="100000"/>
                        </a:lnSpc>
                      </a:pPr>
                      <a:r>
                        <a:rPr dirty="0" sz="3100" spc="90">
                          <a:solidFill>
                            <a:srgbClr val="A85B46"/>
                          </a:solidFill>
                          <a:latin typeface="Cambria"/>
                          <a:cs typeface="Cambria"/>
                        </a:rPr>
                        <a:t>Antes</a:t>
                      </a:r>
                      <a:endParaRPr sz="3100">
                        <a:latin typeface="Cambria"/>
                        <a:cs typeface="Cambr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15"/>
                        </a:spcBef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  <a:p>
                      <a:pPr marL="4697730" marR="1392555" indent="-1737360">
                        <a:lnSpc>
                          <a:spcPct val="100000"/>
                        </a:lnSpc>
                        <a:spcBef>
                          <a:spcPts val="5"/>
                        </a:spcBef>
                        <a:tabLst>
                          <a:tab pos="4799330" algn="l"/>
                        </a:tabLst>
                      </a:pPr>
                      <a:r>
                        <a:rPr dirty="0" sz="2300" spc="120">
                          <a:latin typeface="Calibri"/>
                          <a:cs typeface="Calibri"/>
                        </a:rPr>
                        <a:t>rdf:</a:t>
                      </a:r>
                      <a:r>
                        <a:rPr dirty="0" sz="2300" spc="-229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00" spc="-20">
                          <a:latin typeface="Calibri"/>
                          <a:cs typeface="Calibri"/>
                        </a:rPr>
                        <a:t>type</a:t>
                      </a:r>
                      <a:r>
                        <a:rPr dirty="0" sz="2300">
                          <a:latin typeface="Calibri"/>
                          <a:cs typeface="Calibri"/>
                        </a:rPr>
                        <a:t>		</a:t>
                      </a:r>
                      <a:r>
                        <a:rPr dirty="0" sz="2300" spc="-10">
                          <a:latin typeface="Calibri"/>
                          <a:cs typeface="Calibri"/>
                        </a:rPr>
                        <a:t>Novela </a:t>
                      </a:r>
                      <a:r>
                        <a:rPr dirty="0" sz="2300" spc="-70">
                          <a:latin typeface="Calibri"/>
                          <a:cs typeface="Calibri"/>
                        </a:rPr>
                        <a:t>Policíaca</a:t>
                      </a:r>
                      <a:endParaRPr sz="2300">
                        <a:latin typeface="Calibri"/>
                        <a:cs typeface="Calibri"/>
                      </a:endParaRPr>
                    </a:p>
                  </a:txBody>
                  <a:tcPr marL="0" marR="0" marB="0" marT="135890">
                    <a:lnL w="12700">
                      <a:solidFill>
                        <a:srgbClr val="836054"/>
                      </a:solidFill>
                      <a:prstDash val="solid"/>
                    </a:lnL>
                    <a:lnR w="12700">
                      <a:solidFill>
                        <a:srgbClr val="836054"/>
                      </a:solidFill>
                      <a:prstDash val="solid"/>
                    </a:lnR>
                    <a:lnT w="12700">
                      <a:solidFill>
                        <a:srgbClr val="836054"/>
                      </a:solidFill>
                      <a:prstDash val="solid"/>
                    </a:lnT>
                    <a:lnB w="12700">
                      <a:solidFill>
                        <a:srgbClr val="836054"/>
                      </a:solidFill>
                      <a:prstDash val="solid"/>
                    </a:lnB>
                  </a:tcPr>
                </a:tc>
                <a:tc gridSpan="14">
                  <a:txBody>
                    <a:bodyPr/>
                    <a:lstStyle/>
                    <a:p>
                      <a:pPr marL="825500" marR="1245235" indent="-2540">
                        <a:lnSpc>
                          <a:spcPts val="3200"/>
                        </a:lnSpc>
                        <a:spcBef>
                          <a:spcPts val="1070"/>
                        </a:spcBef>
                      </a:pPr>
                      <a:r>
                        <a:rPr dirty="0" sz="3100" spc="-195">
                          <a:latin typeface="Calibri"/>
                          <a:cs typeface="Calibri"/>
                        </a:rPr>
                        <a:t>Redefinimos</a:t>
                      </a:r>
                      <a:r>
                        <a:rPr dirty="0" sz="3100" spc="8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100" spc="-55">
                          <a:latin typeface="Calibri"/>
                          <a:cs typeface="Calibri"/>
                        </a:rPr>
                        <a:t>la</a:t>
                      </a:r>
                      <a:r>
                        <a:rPr dirty="0" sz="3100" spc="-19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100" spc="-185">
                          <a:latin typeface="Calibri"/>
                          <a:cs typeface="Calibri"/>
                        </a:rPr>
                        <a:t>estructura</a:t>
                      </a:r>
                      <a:r>
                        <a:rPr dirty="0" sz="3100" spc="-90">
                          <a:latin typeface="Calibri"/>
                          <a:cs typeface="Calibri"/>
                        </a:rPr>
                        <a:t> del</a:t>
                      </a:r>
                      <a:r>
                        <a:rPr dirty="0" sz="3100" spc="-19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100" spc="-210">
                          <a:latin typeface="Calibri"/>
                          <a:cs typeface="Calibri"/>
                        </a:rPr>
                        <a:t>grafo</a:t>
                      </a:r>
                      <a:r>
                        <a:rPr dirty="0" sz="3100" spc="-18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100" spc="-75">
                          <a:latin typeface="Calibri"/>
                          <a:cs typeface="Calibri"/>
                        </a:rPr>
                        <a:t>para </a:t>
                      </a:r>
                      <a:r>
                        <a:rPr dirty="0" sz="3100" spc="-175">
                          <a:latin typeface="Calibri"/>
                          <a:cs typeface="Calibri"/>
                        </a:rPr>
                        <a:t>desacopíar</a:t>
                      </a:r>
                      <a:r>
                        <a:rPr dirty="0" sz="3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100" spc="-114">
                          <a:latin typeface="Calibri"/>
                          <a:cs typeface="Calibri"/>
                        </a:rPr>
                        <a:t>los</a:t>
                      </a:r>
                      <a:r>
                        <a:rPr dirty="0" sz="3100" spc="-1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100" spc="-140">
                          <a:latin typeface="Calibri"/>
                          <a:cs typeface="Calibri"/>
                        </a:rPr>
                        <a:t>libros</a:t>
                      </a:r>
                      <a:r>
                        <a:rPr dirty="0" sz="31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100" spc="-200">
                          <a:latin typeface="Calibri"/>
                          <a:cs typeface="Calibri"/>
                        </a:rPr>
                        <a:t>de</a:t>
                      </a:r>
                      <a:r>
                        <a:rPr dirty="0" sz="3100" spc="-17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100" spc="-120">
                          <a:latin typeface="Calibri"/>
                          <a:cs typeface="Calibri"/>
                        </a:rPr>
                        <a:t>los</a:t>
                      </a:r>
                      <a:r>
                        <a:rPr dirty="0" sz="3100" spc="-8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100" spc="-60">
                          <a:latin typeface="Calibri"/>
                          <a:cs typeface="Calibri"/>
                        </a:rPr>
                        <a:t>géneros.</a:t>
                      </a:r>
                      <a:endParaRPr sz="3100">
                        <a:latin typeface="Calibri"/>
                        <a:cs typeface="Calibri"/>
                      </a:endParaRPr>
                    </a:p>
                    <a:p>
                      <a:pPr marL="825500">
                        <a:lnSpc>
                          <a:spcPts val="3435"/>
                        </a:lnSpc>
                        <a:spcBef>
                          <a:spcPts val="1160"/>
                        </a:spcBef>
                      </a:pPr>
                      <a:r>
                        <a:rPr dirty="0" sz="3100" spc="-210">
                          <a:latin typeface="Calibri"/>
                          <a:cs typeface="Calibri"/>
                        </a:rPr>
                        <a:t>Creamos</a:t>
                      </a:r>
                      <a:r>
                        <a:rPr dirty="0" sz="3100" spc="-8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100" spc="-150">
                          <a:latin typeface="Calibri"/>
                          <a:cs typeface="Calibri"/>
                        </a:rPr>
                        <a:t>una</a:t>
                      </a:r>
                      <a:r>
                        <a:rPr dirty="0" sz="3100" spc="-2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100" spc="-204">
                          <a:latin typeface="Calibri"/>
                          <a:cs typeface="Calibri"/>
                        </a:rPr>
                        <a:t>nueva</a:t>
                      </a:r>
                      <a:r>
                        <a:rPr dirty="0" sz="3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100" spc="-145">
                          <a:latin typeface="Calibri"/>
                          <a:cs typeface="Calibri"/>
                        </a:rPr>
                        <a:t>clase</a:t>
                      </a:r>
                      <a:r>
                        <a:rPr dirty="0" sz="3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100" spc="110">
                          <a:latin typeface="Calibri"/>
                          <a:cs typeface="Calibri"/>
                        </a:rPr>
                        <a:t>Librosxxi.</a:t>
                      </a:r>
                      <a:r>
                        <a:rPr dirty="0" sz="3100" spc="-8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100" spc="-110">
                          <a:latin typeface="Calibri"/>
                          <a:cs typeface="Calibri"/>
                        </a:rPr>
                        <a:t>Los</a:t>
                      </a:r>
                      <a:r>
                        <a:rPr dirty="0" sz="3100" spc="-2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100" spc="-10">
                          <a:latin typeface="Calibri"/>
                          <a:cs typeface="Calibri"/>
                        </a:rPr>
                        <a:t>libros</a:t>
                      </a:r>
                      <a:endParaRPr sz="3100">
                        <a:latin typeface="Calibri"/>
                        <a:cs typeface="Calibri"/>
                      </a:endParaRPr>
                    </a:p>
                    <a:p>
                      <a:pPr marL="633095">
                        <a:lnSpc>
                          <a:spcPts val="3435"/>
                        </a:lnSpc>
                        <a:tabLst>
                          <a:tab pos="828675" algn="l"/>
                        </a:tabLst>
                      </a:pPr>
                      <a:r>
                        <a:rPr dirty="0" sz="3100" spc="-670">
                          <a:solidFill>
                            <a:srgbClr val="8C9C93"/>
                          </a:solidFill>
                          <a:latin typeface="Calibri"/>
                          <a:cs typeface="Calibri"/>
                        </a:rPr>
                        <a:t>,</a:t>
                      </a:r>
                      <a:r>
                        <a:rPr dirty="0" sz="3100">
                          <a:solidFill>
                            <a:srgbClr val="8C9C93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3100" spc="-204">
                          <a:latin typeface="Calibri"/>
                          <a:cs typeface="Calibri"/>
                        </a:rPr>
                        <a:t>son</a:t>
                      </a:r>
                      <a:r>
                        <a:rPr dirty="0" sz="3100" spc="-1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100" spc="-185">
                          <a:latin typeface="Calibri"/>
                          <a:cs typeface="Calibri"/>
                        </a:rPr>
                        <a:t>ahora</a:t>
                      </a:r>
                      <a:r>
                        <a:rPr dirty="0" sz="31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100" spc="160">
                          <a:latin typeface="Calibri"/>
                          <a:cs typeface="Calibri"/>
                        </a:rPr>
                        <a:t>rdf:</a:t>
                      </a:r>
                      <a:r>
                        <a:rPr dirty="0" sz="3100" spc="-2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100" spc="-105">
                          <a:latin typeface="Calibri"/>
                          <a:cs typeface="Calibri"/>
                        </a:rPr>
                        <a:t>type</a:t>
                      </a:r>
                      <a:r>
                        <a:rPr dirty="0" sz="3100" spc="-1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100" spc="-150">
                          <a:latin typeface="Calibri"/>
                          <a:cs typeface="Calibri"/>
                        </a:rPr>
                        <a:t>de</a:t>
                      </a:r>
                      <a:r>
                        <a:rPr dirty="0" sz="3100" spc="-204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100" spc="-10">
                          <a:latin typeface="Calibri"/>
                          <a:cs typeface="Calibri"/>
                        </a:rPr>
                        <a:t>L1brosxxi.</a:t>
                      </a:r>
                      <a:endParaRPr sz="3100">
                        <a:latin typeface="Calibri"/>
                        <a:cs typeface="Calibri"/>
                      </a:endParaRPr>
                    </a:p>
                    <a:p>
                      <a:pPr marL="814069" marR="31115" indent="8890">
                        <a:lnSpc>
                          <a:spcPts val="3150"/>
                        </a:lnSpc>
                        <a:spcBef>
                          <a:spcPts val="1760"/>
                        </a:spcBef>
                      </a:pPr>
                      <a:r>
                        <a:rPr dirty="0" sz="3100" spc="-204">
                          <a:latin typeface="Calibri"/>
                          <a:cs typeface="Calibri"/>
                        </a:rPr>
                        <a:t>Estabtecimos</a:t>
                      </a:r>
                      <a:r>
                        <a:rPr dirty="0" sz="3100" spc="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100" spc="-150">
                          <a:latin typeface="Calibri"/>
                          <a:cs typeface="Calibri"/>
                        </a:rPr>
                        <a:t>una</a:t>
                      </a:r>
                      <a:r>
                        <a:rPr dirty="0" sz="3100" spc="-2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100" spc="-204">
                          <a:latin typeface="Calibri"/>
                          <a:cs typeface="Calibri"/>
                        </a:rPr>
                        <a:t>nueva</a:t>
                      </a:r>
                      <a:r>
                        <a:rPr dirty="0" sz="31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100" spc="-175">
                          <a:latin typeface="Calibri"/>
                          <a:cs typeface="Calibri"/>
                        </a:rPr>
                        <a:t>propiedad</a:t>
                      </a:r>
                      <a:r>
                        <a:rPr dirty="0" sz="3100" spc="2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100" spc="-95">
                          <a:latin typeface="Calibri"/>
                          <a:cs typeface="Calibri"/>
                        </a:rPr>
                        <a:t>tieneGenerc </a:t>
                      </a:r>
                      <a:r>
                        <a:rPr dirty="0" sz="3100" spc="-160">
                          <a:latin typeface="Calibri"/>
                          <a:cs typeface="Calibri"/>
                        </a:rPr>
                        <a:t>con</a:t>
                      </a:r>
                      <a:r>
                        <a:rPr dirty="0" sz="3100" spc="-1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100" spc="-204">
                          <a:latin typeface="Calibri"/>
                          <a:cs typeface="Calibri"/>
                        </a:rPr>
                        <a:t>dominio</a:t>
                      </a:r>
                      <a:r>
                        <a:rPr dirty="0" sz="3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100" spc="125">
                          <a:latin typeface="Calibri"/>
                          <a:cs typeface="Calibri"/>
                        </a:rPr>
                        <a:t>Librosxxi</a:t>
                      </a:r>
                      <a:r>
                        <a:rPr dirty="0" sz="3100" spc="9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100" spc="-140">
                          <a:latin typeface="Calibri"/>
                          <a:cs typeface="Calibri"/>
                        </a:rPr>
                        <a:t>y</a:t>
                      </a:r>
                      <a:r>
                        <a:rPr dirty="0" sz="3100" spc="-2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100" spc="-200">
                          <a:latin typeface="Calibri"/>
                          <a:cs typeface="Calibri"/>
                        </a:rPr>
                        <a:t>rango</a:t>
                      </a:r>
                      <a:r>
                        <a:rPr dirty="0" sz="3100" spc="-7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100" spc="-30">
                          <a:latin typeface="Calibri"/>
                          <a:cs typeface="Calibri"/>
                        </a:rPr>
                        <a:t>Géneros.</a:t>
                      </a:r>
                      <a:endParaRPr sz="31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505"/>
                        </a:spcBef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  <a:p>
                      <a:pPr algn="ctr" marL="3730625">
                        <a:lnSpc>
                          <a:spcPct val="100000"/>
                        </a:lnSpc>
                      </a:pPr>
                      <a:r>
                        <a:rPr dirty="0" sz="2300" spc="-10">
                          <a:latin typeface="Calibri"/>
                          <a:cs typeface="Calibri"/>
                        </a:rPr>
                        <a:t>Librosxxi</a:t>
                      </a:r>
                      <a:endParaRPr sz="2300">
                        <a:latin typeface="Calibri"/>
                        <a:cs typeface="Calibri"/>
                      </a:endParaRPr>
                    </a:p>
                    <a:p>
                      <a:pPr algn="ctr" marR="47625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dirty="0" sz="2350" spc="70">
                          <a:latin typeface="Calibri"/>
                          <a:cs typeface="Calibri"/>
                        </a:rPr>
                        <a:t>rdf:</a:t>
                      </a:r>
                      <a:r>
                        <a:rPr dirty="0" sz="2350" spc="-204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 spc="-20">
                          <a:latin typeface="Calibri"/>
                          <a:cs typeface="Calibri"/>
                        </a:rPr>
                        <a:t>type</a:t>
                      </a:r>
                      <a:endParaRPr sz="2350">
                        <a:latin typeface="Calibri"/>
                        <a:cs typeface="Calibri"/>
                      </a:endParaRPr>
                    </a:p>
                  </a:txBody>
                  <a:tcPr marL="0" marR="0" marB="0" marT="135890">
                    <a:lnL w="12700">
                      <a:solidFill>
                        <a:srgbClr val="836054"/>
                      </a:solidFill>
                      <a:prstDash val="solid"/>
                    </a:lnL>
                    <a:lnR w="12700">
                      <a:solidFill>
                        <a:srgbClr val="836054"/>
                      </a:solidFill>
                      <a:prstDash val="solid"/>
                    </a:lnR>
                    <a:lnT w="12700">
                      <a:solidFill>
                        <a:srgbClr val="836054"/>
                      </a:solidFill>
                      <a:prstDash val="solid"/>
                    </a:lnT>
                    <a:lnB w="12700">
                      <a:solidFill>
                        <a:srgbClr val="83605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7800" y="4597400"/>
            <a:ext cx="5918200" cy="37338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2800" y="2120900"/>
            <a:ext cx="7759700" cy="381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02700" y="1397000"/>
            <a:ext cx="7962900" cy="114300"/>
          </a:xfrm>
          <a:prstGeom prst="rect">
            <a:avLst/>
          </a:prstGeom>
        </p:spPr>
      </p:pic>
      <p:sp>
        <p:nvSpPr>
          <p:cNvPr id="5" name="object 5" descr=""/>
          <p:cNvSpPr/>
          <p:nvPr/>
        </p:nvSpPr>
        <p:spPr>
          <a:xfrm>
            <a:off x="230716" y="241300"/>
            <a:ext cx="0" cy="9330690"/>
          </a:xfrm>
          <a:custGeom>
            <a:avLst/>
            <a:gdLst/>
            <a:ahLst/>
            <a:cxnLst/>
            <a:rect l="l" t="t" r="r" b="b"/>
            <a:pathLst>
              <a:path w="0" h="9330690">
                <a:moveTo>
                  <a:pt x="0" y="9330267"/>
                </a:moveTo>
                <a:lnTo>
                  <a:pt x="0" y="0"/>
                </a:lnTo>
              </a:path>
            </a:pathLst>
          </a:custGeom>
          <a:ln w="12700">
            <a:solidFill>
              <a:srgbClr val="182838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" name="object 6" descr=""/>
          <p:cNvGrpSpPr/>
          <p:nvPr/>
        </p:nvGrpSpPr>
        <p:grpSpPr>
          <a:xfrm>
            <a:off x="224366" y="241300"/>
            <a:ext cx="16971645" cy="9182100"/>
            <a:chOff x="224366" y="241300"/>
            <a:chExt cx="16971645" cy="9182100"/>
          </a:xfrm>
        </p:grpSpPr>
        <p:sp>
          <p:nvSpPr>
            <p:cNvPr id="7" name="object 7" descr=""/>
            <p:cNvSpPr/>
            <p:nvPr/>
          </p:nvSpPr>
          <p:spPr>
            <a:xfrm>
              <a:off x="17189450" y="241300"/>
              <a:ext cx="0" cy="9182100"/>
            </a:xfrm>
            <a:custGeom>
              <a:avLst/>
              <a:gdLst/>
              <a:ahLst/>
              <a:cxnLst/>
              <a:rect l="l" t="t" r="r" b="b"/>
              <a:pathLst>
                <a:path w="0" h="9182100">
                  <a:moveTo>
                    <a:pt x="0" y="91821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18283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224366" y="247650"/>
              <a:ext cx="16971645" cy="0"/>
            </a:xfrm>
            <a:custGeom>
              <a:avLst/>
              <a:gdLst/>
              <a:ahLst/>
              <a:cxnLst/>
              <a:rect l="l" t="t" r="r" b="b"/>
              <a:pathLst>
                <a:path w="16971645" h="0">
                  <a:moveTo>
                    <a:pt x="0" y="0"/>
                  </a:moveTo>
                  <a:lnTo>
                    <a:pt x="16971434" y="0"/>
                  </a:lnTo>
                </a:path>
              </a:pathLst>
            </a:custGeom>
            <a:ln w="12700">
              <a:solidFill>
                <a:srgbClr val="18283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/>
          <p:nvPr/>
        </p:nvSpPr>
        <p:spPr>
          <a:xfrm>
            <a:off x="224366" y="9565216"/>
            <a:ext cx="15777844" cy="0"/>
          </a:xfrm>
          <a:custGeom>
            <a:avLst/>
            <a:gdLst/>
            <a:ahLst/>
            <a:cxnLst/>
            <a:rect l="l" t="t" r="r" b="b"/>
            <a:pathLst>
              <a:path w="15777844" h="0">
                <a:moveTo>
                  <a:pt x="0" y="0"/>
                </a:moveTo>
                <a:lnTo>
                  <a:pt x="15777634" y="0"/>
                </a:lnTo>
              </a:path>
            </a:pathLst>
          </a:custGeom>
          <a:ln w="12700">
            <a:solidFill>
              <a:srgbClr val="18283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812800" y="1397000"/>
            <a:ext cx="7759700" cy="114300"/>
          </a:xfrm>
          <a:custGeom>
            <a:avLst/>
            <a:gdLst/>
            <a:ahLst/>
            <a:cxnLst/>
            <a:rect l="l" t="t" r="r" b="b"/>
            <a:pathLst>
              <a:path w="7759700" h="114300">
                <a:moveTo>
                  <a:pt x="0" y="0"/>
                </a:moveTo>
                <a:lnTo>
                  <a:pt x="7759700" y="0"/>
                </a:lnTo>
                <a:lnTo>
                  <a:pt x="77597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solidFill>
            <a:srgbClr val="B856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8890000" y="2133600"/>
            <a:ext cx="7988300" cy="0"/>
          </a:xfrm>
          <a:custGeom>
            <a:avLst/>
            <a:gdLst/>
            <a:ahLst/>
            <a:cxnLst/>
            <a:rect l="l" t="t" r="r" b="b"/>
            <a:pathLst>
              <a:path w="7988300" h="0">
                <a:moveTo>
                  <a:pt x="0" y="0"/>
                </a:moveTo>
                <a:lnTo>
                  <a:pt x="7988300" y="0"/>
                </a:lnTo>
              </a:path>
            </a:pathLst>
          </a:custGeom>
          <a:ln w="50800">
            <a:solidFill>
              <a:srgbClr val="8A8A8A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2" name="object 12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836400" y="8267700"/>
            <a:ext cx="5346700" cy="1257300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182100" y="4851400"/>
            <a:ext cx="4584700" cy="3048000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08100" y="63500"/>
            <a:ext cx="25400" cy="152400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356100" y="63500"/>
            <a:ext cx="25400" cy="152400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724900" y="0"/>
            <a:ext cx="25400" cy="215900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724900" y="9563100"/>
            <a:ext cx="25400" cy="190500"/>
          </a:xfrm>
          <a:prstGeom prst="rect">
            <a:avLst/>
          </a:prstGeom>
        </p:spPr>
      </p:pic>
      <p:pic>
        <p:nvPicPr>
          <p:cNvPr id="18" name="object 18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3093700" y="63500"/>
            <a:ext cx="25400" cy="152400"/>
          </a:xfrm>
          <a:prstGeom prst="rect">
            <a:avLst/>
          </a:prstGeom>
        </p:spPr>
      </p:pic>
      <p:pic>
        <p:nvPicPr>
          <p:cNvPr id="19" name="object 19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6141700" y="63500"/>
            <a:ext cx="25400" cy="152400"/>
          </a:xfrm>
          <a:prstGeom prst="rect">
            <a:avLst/>
          </a:prstGeom>
        </p:spPr>
      </p:pic>
      <p:pic>
        <p:nvPicPr>
          <p:cNvPr id="20" name="object 20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4566900" y="7696200"/>
            <a:ext cx="215900" cy="139700"/>
          </a:xfrm>
          <a:prstGeom prst="rect">
            <a:avLst/>
          </a:prstGeom>
        </p:spPr>
      </p:pic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940740" y="321733"/>
            <a:ext cx="8693150" cy="850900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5400" spc="-25">
                <a:solidFill>
                  <a:srgbClr val="333333"/>
                </a:solidFill>
                <a:latin typeface="Times New Roman"/>
                <a:cs typeface="Times New Roman"/>
              </a:rPr>
              <a:t>Desafío</a:t>
            </a:r>
            <a:r>
              <a:rPr dirty="0" sz="5400" spc="-29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5400" spc="-100">
                <a:solidFill>
                  <a:srgbClr val="383838"/>
                </a:solidFill>
                <a:latin typeface="Times New Roman"/>
                <a:cs typeface="Times New Roman"/>
              </a:rPr>
              <a:t>2:</a:t>
            </a:r>
            <a:r>
              <a:rPr dirty="0" sz="5400" spc="-235">
                <a:solidFill>
                  <a:srgbClr val="383838"/>
                </a:solidFill>
                <a:latin typeface="Times New Roman"/>
                <a:cs typeface="Times New Roman"/>
              </a:rPr>
              <a:t> </a:t>
            </a:r>
            <a:r>
              <a:rPr dirty="0" sz="5400">
                <a:solidFill>
                  <a:srgbClr val="282828"/>
                </a:solidFill>
                <a:latin typeface="Times New Roman"/>
                <a:cs typeface="Times New Roman"/>
              </a:rPr>
              <a:t>Filtrado</a:t>
            </a:r>
            <a:r>
              <a:rPr dirty="0" sz="5400" spc="-27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dirty="0" sz="5400" spc="-80">
                <a:solidFill>
                  <a:srgbClr val="282828"/>
                </a:solidFill>
                <a:latin typeface="Times New Roman"/>
                <a:cs typeface="Times New Roman"/>
              </a:rPr>
              <a:t>Colaborativo</a:t>
            </a:r>
            <a:endParaRPr sz="5400">
              <a:latin typeface="Times New Roman"/>
              <a:cs typeface="Times New Roman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9016355" y="1473200"/>
            <a:ext cx="1732914" cy="596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750" spc="-35">
                <a:latin typeface="Cambria"/>
                <a:cs typeface="Cambria"/>
              </a:rPr>
              <a:t>Solución</a:t>
            </a:r>
            <a:endParaRPr sz="3750">
              <a:latin typeface="Cambria"/>
              <a:cs typeface="Cambria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924182" y="1473200"/>
            <a:ext cx="7509509" cy="27514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750" spc="-10">
                <a:latin typeface="Cambria"/>
                <a:cs typeface="Cambria"/>
              </a:rPr>
              <a:t>Problema</a:t>
            </a:r>
            <a:endParaRPr sz="3750">
              <a:latin typeface="Cambria"/>
              <a:cs typeface="Cambria"/>
            </a:endParaRPr>
          </a:p>
          <a:p>
            <a:pPr marL="12700" marR="5080" indent="635">
              <a:lnSpc>
                <a:spcPct val="95400"/>
              </a:lnSpc>
              <a:spcBef>
                <a:spcPts val="2140"/>
              </a:spcBef>
            </a:pPr>
            <a:r>
              <a:rPr dirty="0" sz="2550" spc="90">
                <a:latin typeface="Calibri"/>
                <a:cs typeface="Calibri"/>
              </a:rPr>
              <a:t>La</a:t>
            </a:r>
            <a:r>
              <a:rPr dirty="0" sz="2550" spc="-160">
                <a:latin typeface="Calibri"/>
                <a:cs typeface="Calibri"/>
              </a:rPr>
              <a:t> </a:t>
            </a:r>
            <a:r>
              <a:rPr dirty="0" sz="2550" spc="-10">
                <a:latin typeface="Calibri"/>
                <a:cs typeface="Calibri"/>
              </a:rPr>
              <a:t>similitud</a:t>
            </a:r>
            <a:r>
              <a:rPr dirty="0" sz="2550" spc="-135">
                <a:latin typeface="Calibri"/>
                <a:cs typeface="Calibri"/>
              </a:rPr>
              <a:t> </a:t>
            </a:r>
            <a:r>
              <a:rPr dirty="0" sz="2550" spc="-55">
                <a:latin typeface="Calibri"/>
                <a:cs typeface="Calibri"/>
              </a:rPr>
              <a:t>entre</a:t>
            </a:r>
            <a:r>
              <a:rPr dirty="0" sz="2550" spc="-90">
                <a:latin typeface="Calibri"/>
                <a:cs typeface="Calibri"/>
              </a:rPr>
              <a:t> </a:t>
            </a:r>
            <a:r>
              <a:rPr dirty="0" sz="2550">
                <a:latin typeface="Calibri"/>
                <a:cs typeface="Calibri"/>
              </a:rPr>
              <a:t>usuarios</a:t>
            </a:r>
            <a:r>
              <a:rPr dirty="0" sz="2550" spc="-40">
                <a:latin typeface="Calibri"/>
                <a:cs typeface="Calibri"/>
              </a:rPr>
              <a:t> </a:t>
            </a:r>
            <a:r>
              <a:rPr dirty="0" sz="2550" spc="-10">
                <a:latin typeface="Calibri"/>
                <a:cs typeface="Calibri"/>
              </a:rPr>
              <a:t>se</a:t>
            </a:r>
            <a:r>
              <a:rPr dirty="0" sz="2550" spc="-170">
                <a:latin typeface="Calibri"/>
                <a:cs typeface="Calibri"/>
              </a:rPr>
              <a:t> </a:t>
            </a:r>
            <a:r>
              <a:rPr dirty="0" sz="2550">
                <a:latin typeface="Calibri"/>
                <a:cs typeface="Calibri"/>
              </a:rPr>
              <a:t>calculaba</a:t>
            </a:r>
            <a:r>
              <a:rPr dirty="0" sz="2550" spc="-80">
                <a:latin typeface="Calibri"/>
                <a:cs typeface="Calibri"/>
              </a:rPr>
              <a:t> </a:t>
            </a:r>
            <a:r>
              <a:rPr dirty="0" sz="2550" spc="-10">
                <a:latin typeface="Calibri"/>
                <a:cs typeface="Calibri"/>
              </a:rPr>
              <a:t>con</a:t>
            </a:r>
            <a:r>
              <a:rPr dirty="0" sz="2550" spc="-120">
                <a:latin typeface="Calibri"/>
                <a:cs typeface="Calibri"/>
              </a:rPr>
              <a:t> </a:t>
            </a:r>
            <a:r>
              <a:rPr dirty="0" sz="2550">
                <a:latin typeface="Calibri"/>
                <a:cs typeface="Calibri"/>
              </a:rPr>
              <a:t>la</a:t>
            </a:r>
            <a:r>
              <a:rPr dirty="0" sz="2550" spc="-145">
                <a:latin typeface="Calibri"/>
                <a:cs typeface="Calibri"/>
              </a:rPr>
              <a:t> </a:t>
            </a:r>
            <a:r>
              <a:rPr dirty="0" sz="2550" spc="-10">
                <a:latin typeface="Calibri"/>
                <a:cs typeface="Calibri"/>
              </a:rPr>
              <a:t>métrica</a:t>
            </a:r>
            <a:r>
              <a:rPr dirty="0" sz="2550" spc="-25">
                <a:latin typeface="Calibri"/>
                <a:cs typeface="Calibri"/>
              </a:rPr>
              <a:t> de </a:t>
            </a:r>
            <a:r>
              <a:rPr dirty="0" sz="2550">
                <a:latin typeface="Calibri"/>
                <a:cs typeface="Calibri"/>
              </a:rPr>
              <a:t>Jaccard.</a:t>
            </a:r>
            <a:r>
              <a:rPr dirty="0" sz="2550" spc="-110">
                <a:latin typeface="Calibri"/>
                <a:cs typeface="Calibri"/>
              </a:rPr>
              <a:t> </a:t>
            </a:r>
            <a:r>
              <a:rPr dirty="0" sz="2550" spc="-40">
                <a:latin typeface="Calibri"/>
                <a:cs typeface="Calibri"/>
              </a:rPr>
              <a:t>Para</a:t>
            </a:r>
            <a:r>
              <a:rPr dirty="0" sz="2550" spc="-100">
                <a:latin typeface="Calibri"/>
                <a:cs typeface="Calibri"/>
              </a:rPr>
              <a:t> </a:t>
            </a:r>
            <a:r>
              <a:rPr dirty="0" sz="2550" spc="-25">
                <a:latin typeface="Calibri"/>
                <a:cs typeface="Calibri"/>
              </a:rPr>
              <a:t>perfiles</a:t>
            </a:r>
            <a:r>
              <a:rPr dirty="0" sz="2550" spc="-90">
                <a:latin typeface="Calibri"/>
                <a:cs typeface="Calibri"/>
              </a:rPr>
              <a:t> </a:t>
            </a:r>
            <a:r>
              <a:rPr dirty="0" sz="2550" spc="-10">
                <a:latin typeface="Calibri"/>
                <a:cs typeface="Calibri"/>
              </a:rPr>
              <a:t>con</a:t>
            </a:r>
            <a:r>
              <a:rPr dirty="0" sz="2550" spc="-120">
                <a:latin typeface="Calibri"/>
                <a:cs typeface="Calibri"/>
              </a:rPr>
              <a:t> </a:t>
            </a:r>
            <a:r>
              <a:rPr dirty="0" sz="2550">
                <a:latin typeface="Calibri"/>
                <a:cs typeface="Calibri"/>
              </a:rPr>
              <a:t>baja</a:t>
            </a:r>
            <a:r>
              <a:rPr dirty="0" sz="2550" spc="-114">
                <a:latin typeface="Calibri"/>
                <a:cs typeface="Calibri"/>
              </a:rPr>
              <a:t> </a:t>
            </a:r>
            <a:r>
              <a:rPr dirty="0" sz="2550" spc="-10">
                <a:latin typeface="Calibri"/>
                <a:cs typeface="Calibri"/>
              </a:rPr>
              <a:t>superposición</a:t>
            </a:r>
            <a:r>
              <a:rPr dirty="0" sz="2550" spc="75">
                <a:latin typeface="Calibri"/>
                <a:cs typeface="Calibri"/>
              </a:rPr>
              <a:t> </a:t>
            </a:r>
            <a:r>
              <a:rPr dirty="0" sz="2550" spc="-25">
                <a:latin typeface="Calibri"/>
                <a:cs typeface="Calibri"/>
              </a:rPr>
              <a:t>de</a:t>
            </a:r>
            <a:r>
              <a:rPr dirty="0" sz="2550" spc="-155">
                <a:latin typeface="Calibri"/>
                <a:cs typeface="Calibri"/>
              </a:rPr>
              <a:t> </a:t>
            </a:r>
            <a:r>
              <a:rPr dirty="0" sz="2550" spc="-10">
                <a:latin typeface="Calibri"/>
                <a:cs typeface="Calibri"/>
              </a:rPr>
              <a:t>libros</a:t>
            </a:r>
            <a:r>
              <a:rPr dirty="0" sz="2550" spc="-70">
                <a:latin typeface="Calibri"/>
                <a:cs typeface="Calibri"/>
              </a:rPr>
              <a:t> </a:t>
            </a:r>
            <a:r>
              <a:rPr dirty="0" sz="2550" spc="-25">
                <a:latin typeface="Calibri"/>
                <a:cs typeface="Calibri"/>
              </a:rPr>
              <a:t>(un </a:t>
            </a:r>
            <a:r>
              <a:rPr dirty="0" sz="2700" spc="-95">
                <a:latin typeface="Calibri"/>
                <a:cs typeface="Calibri"/>
              </a:rPr>
              <a:t>escenario</a:t>
            </a:r>
            <a:r>
              <a:rPr dirty="0" sz="2700" spc="55">
                <a:latin typeface="Calibri"/>
                <a:cs typeface="Calibri"/>
              </a:rPr>
              <a:t> </a:t>
            </a:r>
            <a:r>
              <a:rPr dirty="0" sz="2700" spc="-114">
                <a:latin typeface="Calibri"/>
                <a:cs typeface="Calibri"/>
              </a:rPr>
              <a:t>común),</a:t>
            </a:r>
            <a:r>
              <a:rPr dirty="0" sz="2700" spc="-45">
                <a:latin typeface="Calibri"/>
                <a:cs typeface="Calibri"/>
              </a:rPr>
              <a:t> </a:t>
            </a:r>
            <a:r>
              <a:rPr dirty="0" sz="2700" spc="-110">
                <a:latin typeface="Calibri"/>
                <a:cs typeface="Calibri"/>
              </a:rPr>
              <a:t>esta</a:t>
            </a:r>
            <a:r>
              <a:rPr dirty="0" sz="2700" spc="-70">
                <a:latin typeface="Calibri"/>
                <a:cs typeface="Calibri"/>
              </a:rPr>
              <a:t> </a:t>
            </a:r>
            <a:r>
              <a:rPr dirty="0" sz="2700" spc="-105">
                <a:latin typeface="Calibri"/>
                <a:cs typeface="Calibri"/>
              </a:rPr>
              <a:t>métrica</a:t>
            </a:r>
            <a:r>
              <a:rPr dirty="0" sz="2700" spc="-65">
                <a:latin typeface="Calibri"/>
                <a:cs typeface="Calibri"/>
              </a:rPr>
              <a:t> </a:t>
            </a:r>
            <a:r>
              <a:rPr dirty="0" sz="2700" spc="-100">
                <a:latin typeface="Calibri"/>
                <a:cs typeface="Calibri"/>
              </a:rPr>
              <a:t>arrojaba</a:t>
            </a:r>
            <a:r>
              <a:rPr dirty="0" sz="2700" spc="40">
                <a:latin typeface="Calibri"/>
                <a:cs typeface="Calibri"/>
              </a:rPr>
              <a:t> </a:t>
            </a:r>
            <a:r>
              <a:rPr dirty="0" sz="2700" spc="-100">
                <a:latin typeface="Calibri"/>
                <a:cs typeface="Calibri"/>
              </a:rPr>
              <a:t>valores</a:t>
            </a:r>
            <a:r>
              <a:rPr dirty="0" sz="2700" spc="-60">
                <a:latin typeface="Calibri"/>
                <a:cs typeface="Calibri"/>
              </a:rPr>
              <a:t> </a:t>
            </a:r>
            <a:r>
              <a:rPr dirty="0" sz="2700" spc="-25">
                <a:latin typeface="Calibri"/>
                <a:cs typeface="Calibri"/>
              </a:rPr>
              <a:t>de </a:t>
            </a:r>
            <a:r>
              <a:rPr dirty="0" sz="2600" spc="-20">
                <a:latin typeface="Calibri"/>
                <a:cs typeface="Calibri"/>
              </a:rPr>
              <a:t>similitud</a:t>
            </a:r>
            <a:r>
              <a:rPr dirty="0" sz="2600" spc="-75">
                <a:latin typeface="Calibri"/>
                <a:cs typeface="Calibri"/>
              </a:rPr>
              <a:t> </a:t>
            </a:r>
            <a:r>
              <a:rPr dirty="0" sz="2600" spc="-45">
                <a:latin typeface="Calibri"/>
                <a:cs typeface="Calibri"/>
              </a:rPr>
              <a:t>demasiado</a:t>
            </a:r>
            <a:r>
              <a:rPr dirty="0" sz="2600" spc="75">
                <a:latin typeface="Calibri"/>
                <a:cs typeface="Calibri"/>
              </a:rPr>
              <a:t> </a:t>
            </a:r>
            <a:r>
              <a:rPr dirty="0" sz="2600" spc="-40">
                <a:latin typeface="Calibri"/>
                <a:cs typeface="Calibri"/>
              </a:rPr>
              <a:t>bajos,</a:t>
            </a:r>
            <a:r>
              <a:rPr dirty="0" sz="2600" spc="-105">
                <a:latin typeface="Calibri"/>
                <a:cs typeface="Calibri"/>
              </a:rPr>
              <a:t> </a:t>
            </a:r>
            <a:r>
              <a:rPr dirty="0" sz="2600" spc="-35">
                <a:latin typeface="Calibri"/>
                <a:cs typeface="Calibri"/>
              </a:rPr>
              <a:t>dificultando </a:t>
            </a:r>
            <a:r>
              <a:rPr dirty="0" sz="2600">
                <a:latin typeface="Calibri"/>
                <a:cs typeface="Calibri"/>
              </a:rPr>
              <a:t>la</a:t>
            </a:r>
            <a:r>
              <a:rPr dirty="0" sz="2600" spc="-95">
                <a:latin typeface="Calibri"/>
                <a:cs typeface="Calibri"/>
              </a:rPr>
              <a:t> </a:t>
            </a:r>
            <a:r>
              <a:rPr dirty="0" sz="2600" spc="-70">
                <a:latin typeface="Calibri"/>
                <a:cs typeface="Calibri"/>
              </a:rPr>
              <a:t>generación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de </a:t>
            </a:r>
            <a:r>
              <a:rPr dirty="0" sz="2550" spc="-10">
                <a:latin typeface="Calibri"/>
                <a:cs typeface="Calibri"/>
              </a:rPr>
              <a:t>recomendaciones.</a:t>
            </a:r>
            <a:endParaRPr sz="2550">
              <a:latin typeface="Calibri"/>
              <a:cs typeface="Calibri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2620982" y="6089650"/>
            <a:ext cx="1410335" cy="755650"/>
          </a:xfrm>
          <a:prstGeom prst="rect">
            <a:avLst/>
          </a:prstGeom>
        </p:spPr>
        <p:txBody>
          <a:bodyPr wrap="square" lIns="0" tIns="50800" rIns="0" bIns="0" rtlCol="0" vert="horz">
            <a:spAutoFit/>
          </a:bodyPr>
          <a:lstStyle/>
          <a:p>
            <a:pPr marL="12700" marR="5080" indent="120650">
              <a:lnSpc>
                <a:spcPts val="2750"/>
              </a:lnSpc>
              <a:spcBef>
                <a:spcPts val="400"/>
              </a:spcBef>
            </a:pPr>
            <a:r>
              <a:rPr dirty="0" sz="2500" spc="-95">
                <a:latin typeface="Calibri"/>
                <a:cs typeface="Calibri"/>
              </a:rPr>
              <a:t>Usuario</a:t>
            </a:r>
            <a:r>
              <a:rPr dirty="0" sz="2500" spc="-20">
                <a:latin typeface="Calibri"/>
                <a:cs typeface="Calibri"/>
              </a:rPr>
              <a:t> </a:t>
            </a:r>
            <a:r>
              <a:rPr dirty="0" sz="2500" spc="-50">
                <a:latin typeface="Calibri"/>
                <a:cs typeface="Calibri"/>
              </a:rPr>
              <a:t>A </a:t>
            </a:r>
            <a:r>
              <a:rPr dirty="0" sz="2500" spc="-170">
                <a:latin typeface="Calibri"/>
                <a:cs typeface="Calibri"/>
              </a:rPr>
              <a:t>(100</a:t>
            </a:r>
            <a:r>
              <a:rPr dirty="0" sz="2500" spc="-10">
                <a:latin typeface="Calibri"/>
                <a:cs typeface="Calibri"/>
              </a:rPr>
              <a:t> </a:t>
            </a:r>
            <a:r>
              <a:rPr dirty="0" sz="2500" spc="-70">
                <a:latin typeface="Calibri"/>
                <a:cs typeface="Calibri"/>
              </a:rPr>
              <a:t>Libros)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5525006" y="6107288"/>
            <a:ext cx="1195705" cy="728345"/>
          </a:xfrm>
          <a:prstGeom prst="rect">
            <a:avLst/>
          </a:prstGeom>
        </p:spPr>
        <p:txBody>
          <a:bodyPr wrap="square" lIns="0" tIns="38100" rIns="0" bIns="0" rtlCol="0" vert="horz">
            <a:spAutoFit/>
          </a:bodyPr>
          <a:lstStyle/>
          <a:p>
            <a:pPr marL="43180" marR="5080" indent="-31115">
              <a:lnSpc>
                <a:spcPts val="2700"/>
              </a:lnSpc>
              <a:spcBef>
                <a:spcPts val="300"/>
              </a:spcBef>
            </a:pPr>
            <a:r>
              <a:rPr dirty="0" sz="2350" spc="-10">
                <a:latin typeface="Calibri"/>
                <a:cs typeface="Calibri"/>
              </a:rPr>
              <a:t>Usuario</a:t>
            </a:r>
            <a:r>
              <a:rPr dirty="0" sz="2350" spc="-114">
                <a:latin typeface="Calibri"/>
                <a:cs typeface="Calibri"/>
              </a:rPr>
              <a:t> </a:t>
            </a:r>
            <a:r>
              <a:rPr dirty="0" sz="2350" spc="75">
                <a:latin typeface="Calibri"/>
                <a:cs typeface="Calibri"/>
              </a:rPr>
              <a:t>B </a:t>
            </a:r>
            <a:r>
              <a:rPr dirty="0" sz="2350" spc="-40">
                <a:latin typeface="Calibri"/>
                <a:cs typeface="Calibri"/>
              </a:rPr>
              <a:t>(5</a:t>
            </a:r>
            <a:r>
              <a:rPr dirty="0" sz="2350" spc="-120">
                <a:latin typeface="Calibri"/>
                <a:cs typeface="Calibri"/>
              </a:rPr>
              <a:t> </a:t>
            </a:r>
            <a:r>
              <a:rPr dirty="0" sz="2350" spc="-10">
                <a:latin typeface="Calibri"/>
                <a:cs typeface="Calibri"/>
              </a:rPr>
              <a:t>Libros)</a:t>
            </a:r>
            <a:endParaRPr sz="2350">
              <a:latin typeface="Calibri"/>
              <a:cs typeface="Calibri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3762420" y="8343547"/>
            <a:ext cx="2316480" cy="6686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2440"/>
              </a:lnSpc>
              <a:spcBef>
                <a:spcPts val="100"/>
              </a:spcBef>
            </a:pPr>
            <a:r>
              <a:rPr dirty="0" sz="2150" spc="-20">
                <a:latin typeface="Calibri"/>
                <a:cs typeface="Calibri"/>
              </a:rPr>
              <a:t>Similitud</a:t>
            </a:r>
            <a:r>
              <a:rPr dirty="0" sz="2150" spc="114">
                <a:latin typeface="Calibri"/>
                <a:cs typeface="Calibri"/>
              </a:rPr>
              <a:t> </a:t>
            </a:r>
            <a:r>
              <a:rPr dirty="0" sz="2150" spc="-20">
                <a:latin typeface="Calibri"/>
                <a:cs typeface="Calibri"/>
              </a:rPr>
              <a:t>Jaccard:</a:t>
            </a:r>
            <a:r>
              <a:rPr dirty="0" sz="2150" spc="-114">
                <a:latin typeface="Calibri"/>
                <a:cs typeface="Calibri"/>
              </a:rPr>
              <a:t> </a:t>
            </a:r>
            <a:r>
              <a:rPr dirty="0" sz="2150" spc="-125">
                <a:latin typeface="Calibri"/>
                <a:cs typeface="Calibri"/>
              </a:rPr>
              <a:t>196</a:t>
            </a:r>
            <a:endParaRPr sz="2150">
              <a:latin typeface="Calibri"/>
              <a:cs typeface="Calibri"/>
            </a:endParaRPr>
          </a:p>
          <a:p>
            <a:pPr algn="ctr" marR="5080">
              <a:lnSpc>
                <a:spcPts val="2620"/>
              </a:lnSpc>
            </a:pPr>
            <a:r>
              <a:rPr dirty="0" sz="2300" spc="-10">
                <a:latin typeface="Calibri"/>
                <a:cs typeface="Calibri"/>
              </a:rPr>
              <a:t>(Bajo)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9024096" y="2296230"/>
            <a:ext cx="7825740" cy="2314575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marL="15240" marR="66675" indent="-3175">
              <a:lnSpc>
                <a:spcPct val="95800"/>
              </a:lnSpc>
              <a:spcBef>
                <a:spcPts val="245"/>
              </a:spcBef>
            </a:pPr>
            <a:r>
              <a:rPr dirty="0" sz="2550" spc="-45">
                <a:latin typeface="Calibri"/>
                <a:cs typeface="Calibri"/>
              </a:rPr>
              <a:t>Adaptamos</a:t>
            </a:r>
            <a:r>
              <a:rPr dirty="0" sz="2550" spc="-95">
                <a:latin typeface="Calibri"/>
                <a:cs typeface="Calibri"/>
              </a:rPr>
              <a:t> </a:t>
            </a:r>
            <a:r>
              <a:rPr dirty="0" sz="2550" spc="80">
                <a:latin typeface="Calibri"/>
                <a:cs typeface="Calibri"/>
              </a:rPr>
              <a:t>la</a:t>
            </a:r>
            <a:r>
              <a:rPr dirty="0" sz="2550" spc="-165">
                <a:latin typeface="Calibri"/>
                <a:cs typeface="Calibri"/>
              </a:rPr>
              <a:t> </a:t>
            </a:r>
            <a:r>
              <a:rPr dirty="0" sz="2550" spc="-25">
                <a:latin typeface="Calibri"/>
                <a:cs typeface="Calibri"/>
              </a:rPr>
              <a:t>métrica</a:t>
            </a:r>
            <a:r>
              <a:rPr dirty="0" sz="2550" spc="-75">
                <a:latin typeface="Calibri"/>
                <a:cs typeface="Calibri"/>
              </a:rPr>
              <a:t> </a:t>
            </a:r>
            <a:r>
              <a:rPr dirty="0" sz="2550" spc="-25">
                <a:latin typeface="Calibri"/>
                <a:cs typeface="Calibri"/>
              </a:rPr>
              <a:t>para</a:t>
            </a:r>
            <a:r>
              <a:rPr dirty="0" sz="2550" spc="-105">
                <a:latin typeface="Calibri"/>
                <a:cs typeface="Calibri"/>
              </a:rPr>
              <a:t> </a:t>
            </a:r>
            <a:r>
              <a:rPr dirty="0" sz="2550">
                <a:latin typeface="Calibri"/>
                <a:cs typeface="Calibri"/>
              </a:rPr>
              <a:t>dar</a:t>
            </a:r>
            <a:r>
              <a:rPr dirty="0" sz="2550" spc="-95">
                <a:latin typeface="Calibri"/>
                <a:cs typeface="Calibri"/>
              </a:rPr>
              <a:t> </a:t>
            </a:r>
            <a:r>
              <a:rPr dirty="0" sz="2550" spc="-20">
                <a:latin typeface="Calibri"/>
                <a:cs typeface="Calibri"/>
              </a:rPr>
              <a:t>más</a:t>
            </a:r>
            <a:r>
              <a:rPr dirty="0" sz="2550" spc="-110">
                <a:latin typeface="Calibri"/>
                <a:cs typeface="Calibri"/>
              </a:rPr>
              <a:t> </a:t>
            </a:r>
            <a:r>
              <a:rPr dirty="0" sz="2550">
                <a:latin typeface="Calibri"/>
                <a:cs typeface="Calibri"/>
              </a:rPr>
              <a:t>peso</a:t>
            </a:r>
            <a:r>
              <a:rPr dirty="0" sz="2550" spc="-30">
                <a:latin typeface="Calibri"/>
                <a:cs typeface="Calibri"/>
              </a:rPr>
              <a:t> </a:t>
            </a:r>
            <a:r>
              <a:rPr dirty="0" sz="2550" spc="70">
                <a:latin typeface="Calibri"/>
                <a:cs typeface="Calibri"/>
              </a:rPr>
              <a:t>a</a:t>
            </a:r>
            <a:r>
              <a:rPr dirty="0" sz="2550" spc="-160">
                <a:latin typeface="Calibri"/>
                <a:cs typeface="Calibri"/>
              </a:rPr>
              <a:t> </a:t>
            </a:r>
            <a:r>
              <a:rPr dirty="0" sz="2550">
                <a:latin typeface="Calibri"/>
                <a:cs typeface="Calibri"/>
              </a:rPr>
              <a:t>las</a:t>
            </a:r>
            <a:r>
              <a:rPr dirty="0" sz="2550" spc="-165">
                <a:latin typeface="Calibri"/>
                <a:cs typeface="Calibri"/>
              </a:rPr>
              <a:t> </a:t>
            </a:r>
            <a:r>
              <a:rPr dirty="0" sz="2550" spc="-10">
                <a:latin typeface="Calibri"/>
                <a:cs typeface="Calibri"/>
              </a:rPr>
              <a:t>coincidencias </a:t>
            </a:r>
            <a:r>
              <a:rPr dirty="0" sz="2550" spc="-50">
                <a:latin typeface="Calibri"/>
                <a:cs typeface="Calibri"/>
              </a:rPr>
              <a:t>en</a:t>
            </a:r>
            <a:r>
              <a:rPr dirty="0" sz="2550" spc="-105">
                <a:latin typeface="Calibri"/>
                <a:cs typeface="Calibri"/>
              </a:rPr>
              <a:t> </a:t>
            </a:r>
            <a:r>
              <a:rPr dirty="0" sz="2550" spc="-25">
                <a:latin typeface="Calibri"/>
                <a:cs typeface="Calibri"/>
              </a:rPr>
              <a:t>perfiles</a:t>
            </a:r>
            <a:r>
              <a:rPr dirty="0" sz="2550" spc="-120">
                <a:latin typeface="Calibri"/>
                <a:cs typeface="Calibri"/>
              </a:rPr>
              <a:t> </a:t>
            </a:r>
            <a:r>
              <a:rPr dirty="0" sz="2550" spc="-35">
                <a:latin typeface="Calibri"/>
                <a:cs typeface="Calibri"/>
              </a:rPr>
              <a:t>pequeños.</a:t>
            </a:r>
            <a:r>
              <a:rPr dirty="0" sz="2550" spc="-15">
                <a:latin typeface="Calibri"/>
                <a:cs typeface="Calibri"/>
              </a:rPr>
              <a:t> </a:t>
            </a:r>
            <a:r>
              <a:rPr dirty="0" sz="2550" spc="55">
                <a:latin typeface="Calibri"/>
                <a:cs typeface="Calibri"/>
              </a:rPr>
              <a:t>Se</a:t>
            </a:r>
            <a:r>
              <a:rPr dirty="0" sz="2550" spc="-160">
                <a:latin typeface="Calibri"/>
                <a:cs typeface="Calibri"/>
              </a:rPr>
              <a:t> </a:t>
            </a:r>
            <a:r>
              <a:rPr dirty="0" sz="2550" spc="-25">
                <a:latin typeface="Calibri"/>
                <a:cs typeface="Calibri"/>
              </a:rPr>
              <a:t>modificó</a:t>
            </a:r>
            <a:r>
              <a:rPr dirty="0" sz="2550" spc="-20">
                <a:latin typeface="Calibri"/>
                <a:cs typeface="Calibri"/>
              </a:rPr>
              <a:t> </a:t>
            </a:r>
            <a:r>
              <a:rPr dirty="0" sz="2550">
                <a:latin typeface="Calibri"/>
                <a:cs typeface="Calibri"/>
              </a:rPr>
              <a:t>la</a:t>
            </a:r>
            <a:r>
              <a:rPr dirty="0" sz="2550" spc="-140">
                <a:latin typeface="Calibri"/>
                <a:cs typeface="Calibri"/>
              </a:rPr>
              <a:t> </a:t>
            </a:r>
            <a:r>
              <a:rPr dirty="0" sz="2550" spc="-25">
                <a:latin typeface="Calibri"/>
                <a:cs typeface="Calibri"/>
              </a:rPr>
              <a:t>fórmula</a:t>
            </a:r>
            <a:r>
              <a:rPr dirty="0" sz="2550" spc="-90">
                <a:latin typeface="Calibri"/>
                <a:cs typeface="Calibri"/>
              </a:rPr>
              <a:t> </a:t>
            </a:r>
            <a:r>
              <a:rPr dirty="0" sz="2550" spc="-25">
                <a:latin typeface="Calibri"/>
                <a:cs typeface="Calibri"/>
              </a:rPr>
              <a:t>para</a:t>
            </a:r>
            <a:r>
              <a:rPr dirty="0" sz="2550" spc="-114">
                <a:latin typeface="Calibri"/>
                <a:cs typeface="Calibri"/>
              </a:rPr>
              <a:t> </a:t>
            </a:r>
            <a:r>
              <a:rPr dirty="0" sz="2550" spc="-10">
                <a:latin typeface="Calibri"/>
                <a:cs typeface="Calibri"/>
              </a:rPr>
              <a:t>que</a:t>
            </a:r>
            <a:r>
              <a:rPr dirty="0" sz="2550" spc="-85">
                <a:latin typeface="Calibri"/>
                <a:cs typeface="Calibri"/>
              </a:rPr>
              <a:t> </a:t>
            </a:r>
            <a:r>
              <a:rPr dirty="0" sz="2550" spc="-25">
                <a:latin typeface="Calibri"/>
                <a:cs typeface="Calibri"/>
              </a:rPr>
              <a:t>el </a:t>
            </a:r>
            <a:r>
              <a:rPr dirty="0" sz="2600" spc="-55">
                <a:latin typeface="Calibri"/>
                <a:cs typeface="Calibri"/>
              </a:rPr>
              <a:t>denominador</a:t>
            </a:r>
            <a:r>
              <a:rPr dirty="0" sz="2600" spc="20">
                <a:latin typeface="Calibri"/>
                <a:cs typeface="Calibri"/>
              </a:rPr>
              <a:t> </a:t>
            </a:r>
            <a:r>
              <a:rPr dirty="0" sz="2600" spc="-55">
                <a:latin typeface="Calibri"/>
                <a:cs typeface="Calibri"/>
              </a:rPr>
              <a:t>considerara</a:t>
            </a:r>
            <a:r>
              <a:rPr dirty="0" sz="2600" spc="70">
                <a:latin typeface="Calibri"/>
                <a:cs typeface="Calibri"/>
              </a:rPr>
              <a:t> </a:t>
            </a:r>
            <a:r>
              <a:rPr dirty="0" sz="2600" spc="-50">
                <a:latin typeface="Calibri"/>
                <a:cs typeface="Calibri"/>
              </a:rPr>
              <a:t>únicamente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el</a:t>
            </a:r>
            <a:r>
              <a:rPr dirty="0" sz="2600" spc="-260">
                <a:latin typeface="Calibri"/>
                <a:cs typeface="Calibri"/>
              </a:rPr>
              <a:t> </a:t>
            </a:r>
            <a:r>
              <a:rPr dirty="0" sz="2600" spc="-35">
                <a:latin typeface="Calibri"/>
                <a:cs typeface="Calibri"/>
              </a:rPr>
              <a:t>perfil</a:t>
            </a:r>
            <a:r>
              <a:rPr dirty="0" sz="2600" spc="-95">
                <a:latin typeface="Calibri"/>
                <a:cs typeface="Calibri"/>
              </a:rPr>
              <a:t> </a:t>
            </a:r>
            <a:r>
              <a:rPr dirty="0" sz="2600" spc="-45">
                <a:latin typeface="Calibri"/>
                <a:cs typeface="Calibri"/>
              </a:rPr>
              <a:t>con</a:t>
            </a:r>
            <a:r>
              <a:rPr dirty="0" sz="2600" spc="-130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el</a:t>
            </a:r>
            <a:r>
              <a:rPr dirty="0" sz="2600" spc="-14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menor </a:t>
            </a:r>
            <a:r>
              <a:rPr dirty="0" sz="2600" spc="-85">
                <a:latin typeface="Calibri"/>
                <a:cs typeface="Calibri"/>
              </a:rPr>
              <a:t>número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 spc="-50">
                <a:latin typeface="Calibri"/>
                <a:cs typeface="Calibri"/>
              </a:rPr>
              <a:t>de</a:t>
            </a:r>
            <a:r>
              <a:rPr dirty="0" sz="2600" spc="-155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libros.</a:t>
            </a:r>
            <a:r>
              <a:rPr dirty="0" sz="2600" spc="-100">
                <a:latin typeface="Calibri"/>
                <a:cs typeface="Calibri"/>
              </a:rPr>
              <a:t> </a:t>
            </a:r>
            <a:r>
              <a:rPr dirty="0" sz="2600" spc="-65">
                <a:latin typeface="Calibri"/>
                <a:cs typeface="Calibri"/>
              </a:rPr>
              <a:t>Esto</a:t>
            </a:r>
            <a:r>
              <a:rPr dirty="0" sz="2600" spc="-85">
                <a:latin typeface="Calibri"/>
                <a:cs typeface="Calibri"/>
              </a:rPr>
              <a:t> </a:t>
            </a:r>
            <a:r>
              <a:rPr dirty="0" sz="2600" spc="-55">
                <a:latin typeface="Calibri"/>
                <a:cs typeface="Calibri"/>
              </a:rPr>
              <a:t>permite</a:t>
            </a:r>
            <a:r>
              <a:rPr dirty="0" sz="2600" spc="20">
                <a:latin typeface="Calibri"/>
                <a:cs typeface="Calibri"/>
              </a:rPr>
              <a:t> </a:t>
            </a:r>
            <a:r>
              <a:rPr dirty="0" sz="2600" spc="-90">
                <a:latin typeface="Calibri"/>
                <a:cs typeface="Calibri"/>
              </a:rPr>
              <a:t>obtenner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 spc="-50">
                <a:latin typeface="Calibri"/>
                <a:cs typeface="Calibri"/>
              </a:rPr>
              <a:t>valores</a:t>
            </a:r>
            <a:r>
              <a:rPr dirty="0" sz="2600" spc="-100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de</a:t>
            </a:r>
            <a:endParaRPr sz="2600">
              <a:latin typeface="Calibri"/>
              <a:cs typeface="Calibri"/>
            </a:endParaRPr>
          </a:p>
          <a:p>
            <a:pPr marL="17780">
              <a:lnSpc>
                <a:spcPts val="2860"/>
              </a:lnSpc>
            </a:pPr>
            <a:r>
              <a:rPr dirty="0" sz="2550" spc="-20">
                <a:latin typeface="Calibri"/>
                <a:cs typeface="Calibri"/>
              </a:rPr>
              <a:t>similitud</a:t>
            </a:r>
            <a:r>
              <a:rPr dirty="0" sz="2550" spc="-80">
                <a:latin typeface="Calibri"/>
                <a:cs typeface="Calibri"/>
              </a:rPr>
              <a:t> </a:t>
            </a:r>
            <a:r>
              <a:rPr dirty="0" sz="2550">
                <a:latin typeface="Calibri"/>
                <a:cs typeface="Calibri"/>
              </a:rPr>
              <a:t>más</a:t>
            </a:r>
            <a:r>
              <a:rPr dirty="0" sz="2550" spc="-145">
                <a:latin typeface="Calibri"/>
                <a:cs typeface="Calibri"/>
              </a:rPr>
              <a:t> </a:t>
            </a:r>
            <a:r>
              <a:rPr dirty="0" sz="2550" spc="-10">
                <a:latin typeface="Calibri"/>
                <a:cs typeface="Calibri"/>
              </a:rPr>
              <a:t>significativos</a:t>
            </a:r>
            <a:r>
              <a:rPr dirty="0" sz="2550" spc="-105">
                <a:latin typeface="Calibri"/>
                <a:cs typeface="Calibri"/>
              </a:rPr>
              <a:t> </a:t>
            </a:r>
            <a:r>
              <a:rPr dirty="0" sz="2550" spc="-75">
                <a:latin typeface="Calibri"/>
                <a:cs typeface="Calibri"/>
              </a:rPr>
              <a:t>entre</a:t>
            </a:r>
            <a:r>
              <a:rPr dirty="0" sz="2550" spc="-70">
                <a:latin typeface="Calibri"/>
                <a:cs typeface="Calibri"/>
              </a:rPr>
              <a:t> </a:t>
            </a:r>
            <a:r>
              <a:rPr dirty="0" sz="2550" spc="-25">
                <a:latin typeface="Calibri"/>
                <a:cs typeface="Calibri"/>
              </a:rPr>
              <a:t>usuarios,</a:t>
            </a:r>
            <a:r>
              <a:rPr dirty="0" sz="2550" spc="-40">
                <a:latin typeface="Calibri"/>
                <a:cs typeface="Calibri"/>
              </a:rPr>
              <a:t> </a:t>
            </a:r>
            <a:r>
              <a:rPr dirty="0" sz="2550" spc="-10">
                <a:latin typeface="Calibri"/>
                <a:cs typeface="Calibri"/>
              </a:rPr>
              <a:t>incluso</a:t>
            </a:r>
            <a:r>
              <a:rPr dirty="0" sz="2550" spc="-114">
                <a:latin typeface="Calibri"/>
                <a:cs typeface="Calibri"/>
              </a:rPr>
              <a:t> </a:t>
            </a:r>
            <a:r>
              <a:rPr dirty="0" sz="2550" spc="-10">
                <a:latin typeface="Calibri"/>
                <a:cs typeface="Calibri"/>
              </a:rPr>
              <a:t>con</a:t>
            </a:r>
            <a:r>
              <a:rPr dirty="0" sz="2550" spc="-110">
                <a:latin typeface="Calibri"/>
                <a:cs typeface="Calibri"/>
              </a:rPr>
              <a:t> </a:t>
            </a:r>
            <a:r>
              <a:rPr dirty="0" sz="2550" spc="-10">
                <a:latin typeface="Calibri"/>
                <a:cs typeface="Calibri"/>
              </a:rPr>
              <a:t>pocas</a:t>
            </a:r>
            <a:endParaRPr sz="2550">
              <a:latin typeface="Calibri"/>
              <a:cs typeface="Calibri"/>
            </a:endParaRPr>
          </a:p>
          <a:p>
            <a:pPr marL="15240">
              <a:lnSpc>
                <a:spcPts val="3170"/>
              </a:lnSpc>
            </a:pPr>
            <a:r>
              <a:rPr dirty="0" sz="2750" spc="-10">
                <a:latin typeface="Calibri"/>
                <a:cs typeface="Calibri"/>
              </a:rPr>
              <a:t>coincidencias.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9963872" y="6044847"/>
            <a:ext cx="1261745" cy="666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2555">
              <a:lnSpc>
                <a:spcPts val="2490"/>
              </a:lnSpc>
              <a:spcBef>
                <a:spcPts val="100"/>
              </a:spcBef>
            </a:pPr>
            <a:r>
              <a:rPr dirty="0" sz="2150" spc="-40">
                <a:latin typeface="Calibri"/>
                <a:cs typeface="Calibri"/>
              </a:rPr>
              <a:t>Usuario</a:t>
            </a:r>
            <a:r>
              <a:rPr dirty="0" sz="2150" spc="-60">
                <a:latin typeface="Calibri"/>
                <a:cs typeface="Calibri"/>
              </a:rPr>
              <a:t> </a:t>
            </a:r>
            <a:r>
              <a:rPr dirty="0" sz="2150" spc="-50">
                <a:latin typeface="Calibri"/>
                <a:cs typeface="Calibri"/>
              </a:rPr>
              <a:t>A</a:t>
            </a:r>
            <a:endParaRPr sz="2150">
              <a:latin typeface="Calibri"/>
              <a:cs typeface="Calibri"/>
            </a:endParaRPr>
          </a:p>
          <a:p>
            <a:pPr marL="12700">
              <a:lnSpc>
                <a:spcPts val="2550"/>
              </a:lnSpc>
            </a:pPr>
            <a:r>
              <a:rPr dirty="0" sz="2200" spc="-120">
                <a:latin typeface="Calibri"/>
                <a:cs typeface="Calibri"/>
              </a:rPr>
              <a:t>(100</a:t>
            </a:r>
            <a:r>
              <a:rPr dirty="0" sz="2200" spc="10">
                <a:latin typeface="Calibri"/>
                <a:cs typeface="Calibri"/>
              </a:rPr>
              <a:t> </a:t>
            </a:r>
            <a:r>
              <a:rPr dirty="0" sz="2200" spc="-40">
                <a:latin typeface="Calibri"/>
                <a:cs typeface="Calibri"/>
              </a:rPr>
              <a:t>Libros)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11809062" y="7285566"/>
            <a:ext cx="2605405" cy="8382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548005">
              <a:lnSpc>
                <a:spcPct val="130100"/>
              </a:lnSpc>
              <a:spcBef>
                <a:spcPts val="90"/>
              </a:spcBef>
            </a:pPr>
            <a:r>
              <a:rPr dirty="0" sz="2050" spc="-10">
                <a:latin typeface="Calibri"/>
                <a:cs typeface="Calibri"/>
              </a:rPr>
              <a:t>Coincidencias </a:t>
            </a:r>
            <a:r>
              <a:rPr dirty="0" sz="2050">
                <a:latin typeface="Calibri"/>
                <a:cs typeface="Calibri"/>
              </a:rPr>
              <a:t>Tamaño</a:t>
            </a:r>
            <a:r>
              <a:rPr dirty="0" sz="2050" spc="10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del</a:t>
            </a:r>
            <a:r>
              <a:rPr dirty="0" sz="2050" spc="-110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Perfil</a:t>
            </a:r>
            <a:r>
              <a:rPr dirty="0" sz="2050" spc="-75">
                <a:latin typeface="Calibri"/>
                <a:cs typeface="Calibri"/>
              </a:rPr>
              <a:t> </a:t>
            </a:r>
            <a:r>
              <a:rPr dirty="0" sz="2050" spc="-65">
                <a:latin typeface="Calibri"/>
                <a:cs typeface="Calibri"/>
              </a:rPr>
              <a:t>Menor</a:t>
            </a:r>
            <a:endParaRPr sz="2050">
              <a:latin typeface="Calibri"/>
              <a:cs typeface="Calibri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14824126" y="7391047"/>
            <a:ext cx="2121535" cy="6750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465"/>
              </a:lnSpc>
              <a:spcBef>
                <a:spcPts val="100"/>
              </a:spcBef>
            </a:pPr>
            <a:r>
              <a:rPr dirty="0" sz="2150" spc="-20">
                <a:latin typeface="Calibri"/>
                <a:cs typeface="Calibri"/>
              </a:rPr>
              <a:t>Similitud</a:t>
            </a:r>
            <a:r>
              <a:rPr dirty="0" sz="2150" spc="-75">
                <a:latin typeface="Calibri"/>
                <a:cs typeface="Calibri"/>
              </a:rPr>
              <a:t> </a:t>
            </a:r>
            <a:r>
              <a:rPr dirty="0" sz="2150" spc="-40">
                <a:latin typeface="Calibri"/>
                <a:cs typeface="Calibri"/>
              </a:rPr>
              <a:t>Adaptada:</a:t>
            </a:r>
            <a:endParaRPr sz="2150">
              <a:latin typeface="Calibri"/>
              <a:cs typeface="Calibri"/>
            </a:endParaRPr>
          </a:p>
          <a:p>
            <a:pPr marL="69215">
              <a:lnSpc>
                <a:spcPts val="2645"/>
              </a:lnSpc>
            </a:pPr>
            <a:r>
              <a:rPr dirty="0" sz="2300" spc="-145">
                <a:latin typeface="Calibri"/>
                <a:cs typeface="Calibri"/>
              </a:rPr>
              <a:t>20%</a:t>
            </a:r>
            <a:r>
              <a:rPr dirty="0" sz="2300" spc="-20">
                <a:latin typeface="Calibri"/>
                <a:cs typeface="Calibri"/>
              </a:rPr>
              <a:t> </a:t>
            </a:r>
            <a:r>
              <a:rPr dirty="0" sz="2300" spc="-40">
                <a:latin typeface="Calibri"/>
                <a:cs typeface="Calibri"/>
              </a:rPr>
              <a:t>(Significativo)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13186523" y="8198286"/>
            <a:ext cx="2451100" cy="12795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6985">
              <a:lnSpc>
                <a:spcPct val="141300"/>
              </a:lnSpc>
              <a:spcBef>
                <a:spcPts val="100"/>
              </a:spcBef>
            </a:pPr>
            <a:r>
              <a:rPr dirty="0" sz="1500" spc="-30">
                <a:latin typeface="Calibri"/>
                <a:cs typeface="Calibri"/>
              </a:rPr>
              <a:t>Titlo</a:t>
            </a:r>
            <a:r>
              <a:rPr dirty="0" sz="1500" spc="-10">
                <a:latin typeface="Calibri"/>
                <a:cs typeface="Calibri"/>
              </a:rPr>
              <a:t> </a:t>
            </a:r>
            <a:r>
              <a:rPr dirty="0" sz="1500" spc="-55">
                <a:latin typeface="Calibri"/>
                <a:cs typeface="Calibri"/>
              </a:rPr>
              <a:t>title</a:t>
            </a:r>
            <a:r>
              <a:rPr dirty="0" sz="1500" spc="-125">
                <a:latin typeface="Calibri"/>
                <a:cs typeface="Calibri"/>
              </a:rPr>
              <a:t> </a:t>
            </a:r>
            <a:r>
              <a:rPr dirty="0" sz="1500" spc="-55">
                <a:latin typeface="Calibri"/>
                <a:cs typeface="Calibri"/>
              </a:rPr>
              <a:t>7.</a:t>
            </a:r>
            <a:r>
              <a:rPr dirty="0" sz="1500" spc="-50">
                <a:latin typeface="Calibri"/>
                <a:cs typeface="Calibri"/>
              </a:rPr>
              <a:t> </a:t>
            </a:r>
            <a:r>
              <a:rPr dirty="0" sz="1500" spc="-55">
                <a:latin typeface="Calibri"/>
                <a:cs typeface="Calibri"/>
              </a:rPr>
              <a:t>Filtrado</a:t>
            </a:r>
            <a:r>
              <a:rPr dirty="0" sz="1500" spc="-5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Colaborativo </a:t>
            </a:r>
            <a:r>
              <a:rPr dirty="0" sz="1450" spc="-45">
                <a:latin typeface="Calibri"/>
                <a:cs typeface="Calibri"/>
              </a:rPr>
              <a:t>Proyecto </a:t>
            </a:r>
            <a:r>
              <a:rPr dirty="0" sz="1450" spc="-35">
                <a:latin typeface="Calibri"/>
                <a:cs typeface="Calibri"/>
              </a:rPr>
              <a:t>detailos:</a:t>
            </a:r>
            <a:r>
              <a:rPr dirty="0" sz="1450" spc="-15">
                <a:latin typeface="Calibri"/>
                <a:cs typeface="Calibri"/>
              </a:rPr>
              <a:t> </a:t>
            </a:r>
            <a:r>
              <a:rPr dirty="0" sz="1450" spc="-30">
                <a:latin typeface="Calibri"/>
                <a:cs typeface="Calibri"/>
              </a:rPr>
              <a:t>Source</a:t>
            </a:r>
            <a:r>
              <a:rPr dirty="0" sz="1450" spc="10">
                <a:latin typeface="Calibri"/>
                <a:cs typeface="Calibri"/>
              </a:rPr>
              <a:t> </a:t>
            </a:r>
            <a:r>
              <a:rPr dirty="0" sz="1450" spc="-50">
                <a:latin typeface="Calibri"/>
                <a:cs typeface="Calibri"/>
              </a:rPr>
              <a:t>Serf</a:t>
            </a:r>
            <a:r>
              <a:rPr dirty="0" sz="1450" spc="-85">
                <a:latin typeface="Calibri"/>
                <a:cs typeface="Calibri"/>
              </a:rPr>
              <a:t> </a:t>
            </a:r>
            <a:r>
              <a:rPr dirty="0" sz="1450" spc="-25">
                <a:latin typeface="Calibri"/>
                <a:cs typeface="Calibri"/>
              </a:rPr>
              <a:t>Pro </a:t>
            </a:r>
            <a:r>
              <a:rPr dirty="0" sz="1450" spc="-20">
                <a:solidFill>
                  <a:srgbClr val="0A0A0A"/>
                </a:solidFill>
                <a:latin typeface="Calibri"/>
                <a:cs typeface="Calibri"/>
              </a:rPr>
              <a:t>Color:</a:t>
            </a:r>
            <a:r>
              <a:rPr dirty="0" sz="1450" spc="-40">
                <a:solidFill>
                  <a:srgbClr val="0A0A0A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latin typeface="Calibri"/>
                <a:cs typeface="Calibri"/>
              </a:rPr>
              <a:t>Alián</a:t>
            </a:r>
            <a:endParaRPr sz="1450">
              <a:latin typeface="Calibri"/>
              <a:cs typeface="Calibri"/>
            </a:endParaRPr>
          </a:p>
          <a:p>
            <a:pPr marL="25400">
              <a:lnSpc>
                <a:spcPct val="100000"/>
              </a:lnSpc>
              <a:spcBef>
                <a:spcPts val="760"/>
              </a:spcBef>
            </a:pPr>
            <a:r>
              <a:rPr dirty="0" sz="1350">
                <a:solidFill>
                  <a:srgbClr val="131313"/>
                </a:solidFill>
                <a:latin typeface="Calibri"/>
                <a:cs typeface="Calibri"/>
              </a:rPr>
              <a:t>Colon</a:t>
            </a:r>
            <a:r>
              <a:rPr dirty="0" sz="1350" spc="114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latin typeface="Calibri"/>
                <a:cs typeface="Calibri"/>
              </a:rPr>
              <a:t>4333333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16592474" y="8927041"/>
            <a:ext cx="448945" cy="2476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50" spc="-10">
                <a:latin typeface="Calibri"/>
                <a:cs typeface="Calibri"/>
              </a:rPr>
              <a:t>Slides</a:t>
            </a:r>
            <a:endParaRPr sz="14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60600" y="4368800"/>
            <a:ext cx="4457700" cy="45974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85400" y="5715000"/>
            <a:ext cx="469900" cy="2413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230100" y="5359400"/>
            <a:ext cx="1714500" cy="63500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185400" y="4686300"/>
            <a:ext cx="838200" cy="25400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242800" y="3594100"/>
            <a:ext cx="1701800" cy="165100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517900" y="635000"/>
            <a:ext cx="546100" cy="520700"/>
          </a:xfrm>
          <a:prstGeom prst="rect">
            <a:avLst/>
          </a:prstGeom>
        </p:spPr>
      </p:pic>
      <p:grpSp>
        <p:nvGrpSpPr>
          <p:cNvPr id="8" name="object 8" descr=""/>
          <p:cNvGrpSpPr/>
          <p:nvPr/>
        </p:nvGrpSpPr>
        <p:grpSpPr>
          <a:xfrm>
            <a:off x="279400" y="9482666"/>
            <a:ext cx="14939644" cy="4445"/>
            <a:chOff x="279400" y="9482666"/>
            <a:chExt cx="14939644" cy="4445"/>
          </a:xfrm>
        </p:grpSpPr>
        <p:sp>
          <p:nvSpPr>
            <p:cNvPr id="9" name="object 9" descr=""/>
            <p:cNvSpPr/>
            <p:nvPr/>
          </p:nvSpPr>
          <p:spPr>
            <a:xfrm>
              <a:off x="279400" y="9484783"/>
              <a:ext cx="14393544" cy="0"/>
            </a:xfrm>
            <a:custGeom>
              <a:avLst/>
              <a:gdLst/>
              <a:ahLst/>
              <a:cxnLst/>
              <a:rect l="l" t="t" r="r" b="b"/>
              <a:pathLst>
                <a:path w="14393544" h="0">
                  <a:moveTo>
                    <a:pt x="0" y="0"/>
                  </a:moveTo>
                  <a:lnTo>
                    <a:pt x="14393334" y="0"/>
                  </a:lnTo>
                </a:path>
              </a:pathLst>
            </a:custGeom>
            <a:ln w="4233">
              <a:solidFill>
                <a:srgbClr val="80807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4693900" y="9484783"/>
              <a:ext cx="525145" cy="0"/>
            </a:xfrm>
            <a:custGeom>
              <a:avLst/>
              <a:gdLst/>
              <a:ahLst/>
              <a:cxnLst/>
              <a:rect l="l" t="t" r="r" b="b"/>
              <a:pathLst>
                <a:path w="525144" h="0">
                  <a:moveTo>
                    <a:pt x="0" y="0"/>
                  </a:moveTo>
                  <a:lnTo>
                    <a:pt x="524933" y="0"/>
                  </a:lnTo>
                </a:path>
              </a:pathLst>
            </a:custGeom>
            <a:ln w="4233">
              <a:solidFill>
                <a:srgbClr val="80807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1" name="object 11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074400" y="5092700"/>
            <a:ext cx="152400" cy="152400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2242800" y="6629400"/>
            <a:ext cx="1701800" cy="127000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7208500" y="8928100"/>
            <a:ext cx="12700" cy="279400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677391" y="336549"/>
            <a:ext cx="2620010" cy="9779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250" spc="70">
                <a:solidFill>
                  <a:srgbClr val="313131"/>
                </a:solidFill>
              </a:rPr>
              <a:t>Desafío</a:t>
            </a:r>
            <a:endParaRPr sz="6250"/>
          </a:p>
        </p:txBody>
      </p:sp>
      <p:sp>
        <p:nvSpPr>
          <p:cNvPr id="15" name="object 15" descr=""/>
          <p:cNvSpPr txBox="1"/>
          <p:nvPr/>
        </p:nvSpPr>
        <p:spPr>
          <a:xfrm>
            <a:off x="4258406" y="-155574"/>
            <a:ext cx="6771640" cy="2369185"/>
          </a:xfrm>
          <a:prstGeom prst="rect">
            <a:avLst/>
          </a:prstGeom>
        </p:spPr>
        <p:txBody>
          <a:bodyPr wrap="square" lIns="0" tIns="5048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975"/>
              </a:spcBef>
            </a:pPr>
            <a:r>
              <a:rPr dirty="0" sz="6250">
                <a:solidFill>
                  <a:srgbClr val="2F2F2F"/>
                </a:solidFill>
                <a:latin typeface="Cambria"/>
                <a:cs typeface="Cambria"/>
              </a:rPr>
              <a:t>Falta</a:t>
            </a:r>
            <a:r>
              <a:rPr dirty="0" sz="6250" spc="15">
                <a:solidFill>
                  <a:srgbClr val="2F2F2F"/>
                </a:solidFill>
                <a:latin typeface="Cambria"/>
                <a:cs typeface="Cambria"/>
              </a:rPr>
              <a:t> </a:t>
            </a:r>
            <a:r>
              <a:rPr dirty="0" sz="6250" spc="60">
                <a:solidFill>
                  <a:srgbClr val="333333"/>
                </a:solidFill>
                <a:latin typeface="Cambria"/>
                <a:cs typeface="Cambria"/>
              </a:rPr>
              <a:t>de</a:t>
            </a:r>
            <a:r>
              <a:rPr dirty="0" sz="6250" spc="125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dirty="0" sz="6250" spc="40">
                <a:solidFill>
                  <a:srgbClr val="2F2F2F"/>
                </a:solidFill>
                <a:latin typeface="Cambria"/>
                <a:cs typeface="Cambria"/>
              </a:rPr>
              <a:t>Serendipia</a:t>
            </a:r>
            <a:endParaRPr sz="6250">
              <a:latin typeface="Cambria"/>
              <a:cs typeface="Cambria"/>
            </a:endParaRPr>
          </a:p>
          <a:p>
            <a:pPr algn="r" marR="5080">
              <a:lnSpc>
                <a:spcPct val="100000"/>
              </a:lnSpc>
              <a:spcBef>
                <a:spcPts val="2450"/>
              </a:spcBef>
            </a:pPr>
            <a:r>
              <a:rPr dirty="0" sz="3850" spc="-10">
                <a:solidFill>
                  <a:srgbClr val="858585"/>
                </a:solidFill>
                <a:latin typeface="Cambria"/>
                <a:cs typeface="Cambria"/>
              </a:rPr>
              <a:t>$olucióia</a:t>
            </a:r>
            <a:endParaRPr sz="3850">
              <a:latin typeface="Cambria"/>
              <a:cs typeface="Cambri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682021" y="1595261"/>
            <a:ext cx="2150745" cy="6184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850" spc="80">
                <a:solidFill>
                  <a:srgbClr val="B6624D"/>
                </a:solidFill>
                <a:latin typeface="Cambria"/>
                <a:cs typeface="Cambria"/>
              </a:rPr>
              <a:t>Problema</a:t>
            </a:r>
            <a:endParaRPr sz="3850">
              <a:latin typeface="Cambria"/>
              <a:cs typeface="Cambria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695753" y="2369608"/>
            <a:ext cx="7514590" cy="176466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5875">
              <a:lnSpc>
                <a:spcPct val="100000"/>
              </a:lnSpc>
              <a:spcBef>
                <a:spcPts val="90"/>
              </a:spcBef>
            </a:pPr>
            <a:r>
              <a:rPr dirty="0" sz="2300">
                <a:latin typeface="Calibri"/>
                <a:cs typeface="Calibri"/>
              </a:rPr>
              <a:t>El</a:t>
            </a:r>
            <a:r>
              <a:rPr dirty="0" sz="2300" spc="270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cálculo</a:t>
            </a:r>
            <a:r>
              <a:rPr dirty="0" sz="2300" spc="100">
                <a:latin typeface="Calibri"/>
                <a:cs typeface="Calibri"/>
              </a:rPr>
              <a:t> </a:t>
            </a:r>
            <a:r>
              <a:rPr dirty="0" sz="2300" spc="55">
                <a:latin typeface="Calibri"/>
                <a:cs typeface="Calibri"/>
              </a:rPr>
              <a:t>de</a:t>
            </a:r>
            <a:r>
              <a:rPr dirty="0" sz="2300" spc="-20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similitud</a:t>
            </a:r>
            <a:r>
              <a:rPr dirty="0" sz="2300" spc="150">
                <a:latin typeface="Calibri"/>
                <a:cs typeface="Calibri"/>
              </a:rPr>
              <a:t> </a:t>
            </a:r>
            <a:r>
              <a:rPr dirty="0" sz="2300" spc="-25">
                <a:latin typeface="Calibri"/>
                <a:cs typeface="Calibri"/>
              </a:rPr>
              <a:t>Item-</a:t>
            </a:r>
            <a:r>
              <a:rPr dirty="0" sz="2300" spc="-20">
                <a:latin typeface="Calibri"/>
                <a:cs typeface="Calibri"/>
              </a:rPr>
              <a:t>to-</a:t>
            </a:r>
            <a:r>
              <a:rPr dirty="0" sz="2300">
                <a:latin typeface="Calibri"/>
                <a:cs typeface="Calibri"/>
              </a:rPr>
              <a:t>Item,</a:t>
            </a:r>
            <a:r>
              <a:rPr dirty="0" sz="2300" spc="235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basado</a:t>
            </a:r>
            <a:r>
              <a:rPr dirty="0" sz="2300" spc="65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soio</a:t>
            </a:r>
            <a:r>
              <a:rPr dirty="0" sz="2300" spc="10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en</a:t>
            </a:r>
            <a:r>
              <a:rPr dirty="0" sz="2300" spc="15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el</a:t>
            </a:r>
            <a:r>
              <a:rPr dirty="0" sz="2300" spc="30">
                <a:latin typeface="Calibri"/>
                <a:cs typeface="Calibri"/>
              </a:rPr>
              <a:t> </a:t>
            </a:r>
            <a:r>
              <a:rPr dirty="0" sz="2300" spc="-10">
                <a:latin typeface="Calibri"/>
                <a:cs typeface="Calibri"/>
              </a:rPr>
              <a:t>género,</a:t>
            </a:r>
            <a:endParaRPr sz="2300">
              <a:latin typeface="Calibri"/>
              <a:cs typeface="Calibri"/>
            </a:endParaRPr>
          </a:p>
          <a:p>
            <a:pPr marL="20320">
              <a:lnSpc>
                <a:spcPct val="100000"/>
              </a:lnSpc>
              <a:spcBef>
                <a:spcPts val="40"/>
              </a:spcBef>
            </a:pPr>
            <a:r>
              <a:rPr dirty="0" sz="2200">
                <a:latin typeface="Calibri"/>
                <a:cs typeface="Calibri"/>
              </a:rPr>
              <a:t>generaba</a:t>
            </a:r>
            <a:r>
              <a:rPr dirty="0" sz="2200" spc="240">
                <a:latin typeface="Calibri"/>
                <a:cs typeface="Calibri"/>
              </a:rPr>
              <a:t> </a:t>
            </a:r>
            <a:r>
              <a:rPr dirty="0" sz="2200" spc="75">
                <a:latin typeface="Calibri"/>
                <a:cs typeface="Calibri"/>
              </a:rPr>
              <a:t>recomendaciones</a:t>
            </a:r>
            <a:r>
              <a:rPr dirty="0" sz="2200" spc="15">
                <a:latin typeface="Calibri"/>
                <a:cs typeface="Calibri"/>
              </a:rPr>
              <a:t> </a:t>
            </a:r>
            <a:r>
              <a:rPr dirty="0" sz="2200" spc="60">
                <a:latin typeface="Calibri"/>
                <a:cs typeface="Calibri"/>
              </a:rPr>
              <a:t>predecibles</a:t>
            </a:r>
            <a:r>
              <a:rPr dirty="0" sz="2200" spc="295">
                <a:latin typeface="Calibri"/>
                <a:cs typeface="Calibri"/>
              </a:rPr>
              <a:t> </a:t>
            </a:r>
            <a:r>
              <a:rPr dirty="0" sz="2200" spc="50">
                <a:latin typeface="Calibri"/>
                <a:cs typeface="Calibri"/>
              </a:rPr>
              <a:t>y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 spc="95">
                <a:latin typeface="Calibri"/>
                <a:cs typeface="Calibri"/>
              </a:rPr>
              <a:t>poco</a:t>
            </a:r>
            <a:r>
              <a:rPr dirty="0" sz="2200" spc="30">
                <a:latin typeface="Calibri"/>
                <a:cs typeface="Calibri"/>
              </a:rPr>
              <a:t> </a:t>
            </a:r>
            <a:r>
              <a:rPr dirty="0" sz="2200" spc="45">
                <a:latin typeface="Calibri"/>
                <a:cs typeface="Calibri"/>
              </a:rPr>
              <a:t>diversas.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ts val="2960"/>
              </a:lnSpc>
              <a:spcBef>
                <a:spcPts val="2460"/>
              </a:spcBef>
            </a:pPr>
            <a:r>
              <a:rPr dirty="0" sz="2600">
                <a:latin typeface="Calibri"/>
                <a:cs typeface="Calibri"/>
              </a:rPr>
              <a:t>El</a:t>
            </a:r>
            <a:r>
              <a:rPr dirty="0" sz="2600" spc="-150">
                <a:latin typeface="Calibri"/>
                <a:cs typeface="Calibri"/>
              </a:rPr>
              <a:t> </a:t>
            </a:r>
            <a:r>
              <a:rPr dirty="0" sz="2600" spc="-125">
                <a:latin typeface="Calibri"/>
                <a:cs typeface="Calibri"/>
              </a:rPr>
              <a:t>sistema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 spc="-120">
                <a:latin typeface="Calibri"/>
                <a:cs typeface="Calibri"/>
              </a:rPr>
              <a:t>tendía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 spc="-80">
                <a:latin typeface="Calibri"/>
                <a:cs typeface="Calibri"/>
              </a:rPr>
              <a:t>a</a:t>
            </a:r>
            <a:r>
              <a:rPr dirty="0" sz="2600" spc="-125">
                <a:latin typeface="Calibri"/>
                <a:cs typeface="Calibri"/>
              </a:rPr>
              <a:t> </a:t>
            </a:r>
            <a:r>
              <a:rPr dirty="0" sz="2600" spc="-145">
                <a:latin typeface="Calibri"/>
                <a:cs typeface="Calibri"/>
              </a:rPr>
              <a:t>recomendar</a:t>
            </a:r>
            <a:r>
              <a:rPr dirty="0" sz="2600" spc="110">
                <a:latin typeface="Calibri"/>
                <a:cs typeface="Calibri"/>
              </a:rPr>
              <a:t> </a:t>
            </a:r>
            <a:r>
              <a:rPr dirty="0" sz="2600" spc="-100">
                <a:latin typeface="Calibri"/>
                <a:cs typeface="Calibri"/>
              </a:rPr>
              <a:t>libros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 spc="-130">
                <a:latin typeface="Calibri"/>
                <a:cs typeface="Calibri"/>
              </a:rPr>
              <a:t>demasiado</a:t>
            </a:r>
            <a:r>
              <a:rPr dirty="0" sz="2600" spc="105">
                <a:latin typeface="Calibri"/>
                <a:cs typeface="Calibri"/>
              </a:rPr>
              <a:t> </a:t>
            </a:r>
            <a:r>
              <a:rPr dirty="0" sz="2600" spc="-105">
                <a:latin typeface="Calibri"/>
                <a:cs typeface="Calibri"/>
              </a:rPr>
              <a:t>similares</a:t>
            </a:r>
            <a:r>
              <a:rPr dirty="0" sz="2600" spc="-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endParaRPr sz="2600">
              <a:latin typeface="Calibri"/>
              <a:cs typeface="Calibri"/>
            </a:endParaRPr>
          </a:p>
          <a:p>
            <a:pPr marL="16510">
              <a:lnSpc>
                <a:spcPts val="2840"/>
              </a:lnSpc>
            </a:pPr>
            <a:r>
              <a:rPr dirty="0" sz="2500" spc="-40">
                <a:latin typeface="Calibri"/>
                <a:cs typeface="Calibri"/>
              </a:rPr>
              <a:t>los </a:t>
            </a:r>
            <a:r>
              <a:rPr dirty="0" sz="2500" spc="-100">
                <a:latin typeface="Calibri"/>
                <a:cs typeface="Calibri"/>
              </a:rPr>
              <a:t>ya</a:t>
            </a:r>
            <a:r>
              <a:rPr dirty="0" sz="2500" spc="-75">
                <a:latin typeface="Calibri"/>
                <a:cs typeface="Calibri"/>
              </a:rPr>
              <a:t> </a:t>
            </a:r>
            <a:r>
              <a:rPr dirty="0" sz="2500" spc="-65">
                <a:latin typeface="Calibri"/>
                <a:cs typeface="Calibri"/>
              </a:rPr>
              <a:t>leídos,</a:t>
            </a:r>
            <a:r>
              <a:rPr dirty="0" sz="2500" spc="-45">
                <a:latin typeface="Calibri"/>
                <a:cs typeface="Calibri"/>
              </a:rPr>
              <a:t> </a:t>
            </a:r>
            <a:r>
              <a:rPr dirty="0" sz="2500" spc="-70">
                <a:latin typeface="Calibri"/>
                <a:cs typeface="Calibri"/>
              </a:rPr>
              <a:t>limitando</a:t>
            </a:r>
            <a:r>
              <a:rPr dirty="0" sz="2500" spc="1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el</a:t>
            </a:r>
            <a:r>
              <a:rPr dirty="0" sz="2500" spc="-235">
                <a:latin typeface="Calibri"/>
                <a:cs typeface="Calibri"/>
              </a:rPr>
              <a:t> </a:t>
            </a:r>
            <a:r>
              <a:rPr dirty="0" sz="2500" spc="-10">
                <a:latin typeface="Calibri"/>
                <a:cs typeface="Calibri"/>
              </a:rPr>
              <a:t>descubrimiento.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9122916" y="2369608"/>
            <a:ext cx="7187565" cy="71628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1590">
              <a:lnSpc>
                <a:spcPct val="100000"/>
              </a:lnSpc>
              <a:spcBef>
                <a:spcPts val="90"/>
              </a:spcBef>
            </a:pPr>
            <a:r>
              <a:rPr dirty="0" sz="2300">
                <a:latin typeface="Calibri"/>
                <a:cs typeface="Calibri"/>
              </a:rPr>
              <a:t>Introdujimos</a:t>
            </a:r>
            <a:r>
              <a:rPr dirty="0" sz="2300" spc="160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un</a:t>
            </a:r>
            <a:r>
              <a:rPr dirty="0" sz="2300" spc="5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sistema</a:t>
            </a:r>
            <a:r>
              <a:rPr dirty="0" sz="2300" spc="45">
                <a:latin typeface="Calibri"/>
                <a:cs typeface="Calibri"/>
              </a:rPr>
              <a:t> </a:t>
            </a:r>
            <a:r>
              <a:rPr dirty="0" sz="2300" spc="55">
                <a:latin typeface="Calibri"/>
                <a:cs typeface="Calibri"/>
              </a:rPr>
              <a:t>de</a:t>
            </a:r>
            <a:r>
              <a:rPr dirty="0" sz="2300" spc="-15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pesos</a:t>
            </a:r>
            <a:r>
              <a:rPr dirty="0" sz="2300" spc="160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en</a:t>
            </a:r>
            <a:r>
              <a:rPr dirty="0" sz="2300" spc="15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el</a:t>
            </a:r>
            <a:r>
              <a:rPr dirty="0" sz="2300" spc="100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cálculo</a:t>
            </a:r>
            <a:r>
              <a:rPr dirty="0" sz="2300" spc="40">
                <a:latin typeface="Calibri"/>
                <a:cs typeface="Calibri"/>
              </a:rPr>
              <a:t> </a:t>
            </a:r>
            <a:r>
              <a:rPr dirty="0" sz="2300" spc="55">
                <a:latin typeface="Calibri"/>
                <a:cs typeface="Calibri"/>
              </a:rPr>
              <a:t>de</a:t>
            </a:r>
            <a:r>
              <a:rPr dirty="0" sz="2300" spc="-40">
                <a:latin typeface="Calibri"/>
                <a:cs typeface="Calibri"/>
              </a:rPr>
              <a:t> </a:t>
            </a:r>
            <a:r>
              <a:rPr dirty="0" sz="2300" spc="-10">
                <a:latin typeface="Calibri"/>
                <a:cs typeface="Calibri"/>
              </a:rPr>
              <a:t>similitud</a:t>
            </a:r>
            <a:endParaRPr sz="2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2200" spc="90">
                <a:latin typeface="Calibri"/>
                <a:cs typeface="Calibri"/>
              </a:rPr>
              <a:t>para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 spc="50">
                <a:latin typeface="Calibri"/>
                <a:cs typeface="Calibri"/>
              </a:rPr>
              <a:t>agregar</a:t>
            </a:r>
            <a:r>
              <a:rPr dirty="0" sz="2200" spc="40">
                <a:latin typeface="Calibri"/>
                <a:cs typeface="Calibri"/>
              </a:rPr>
              <a:t> </a:t>
            </a:r>
            <a:r>
              <a:rPr dirty="0" sz="2200" spc="65">
                <a:latin typeface="Calibri"/>
                <a:cs typeface="Calibri"/>
              </a:rPr>
              <a:t>nuevas</a:t>
            </a:r>
            <a:r>
              <a:rPr dirty="0" sz="2200" spc="20">
                <a:latin typeface="Calibri"/>
                <a:cs typeface="Calibri"/>
              </a:rPr>
              <a:t> </a:t>
            </a:r>
            <a:r>
              <a:rPr dirty="0" sz="2200" spc="75">
                <a:latin typeface="Calibri"/>
                <a:cs typeface="Calibri"/>
              </a:rPr>
              <a:t>dimensiones</a:t>
            </a:r>
            <a:r>
              <a:rPr dirty="0" sz="2200" spc="105">
                <a:latin typeface="Calibri"/>
                <a:cs typeface="Calibri"/>
              </a:rPr>
              <a:t> </a:t>
            </a:r>
            <a:r>
              <a:rPr dirty="0" sz="2200" spc="65">
                <a:latin typeface="Calibri"/>
                <a:cs typeface="Calibri"/>
              </a:rPr>
              <a:t>de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40">
                <a:latin typeface="Calibri"/>
                <a:cs typeface="Calibri"/>
              </a:rPr>
              <a:t>relación.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0047816" y="3388783"/>
            <a:ext cx="2159000" cy="614045"/>
          </a:xfrm>
          <a:prstGeom prst="rect">
            <a:avLst/>
          </a:prstGeom>
          <a:ln w="12700">
            <a:solidFill>
              <a:srgbClr val="44443F"/>
            </a:solidFill>
          </a:ln>
        </p:spPr>
        <p:txBody>
          <a:bodyPr wrap="square" lIns="0" tIns="78105" rIns="0" bIns="0" rtlCol="0" vert="horz">
            <a:spAutoFit/>
          </a:bodyPr>
          <a:lstStyle/>
          <a:p>
            <a:pPr marL="695325">
              <a:lnSpc>
                <a:spcPct val="100000"/>
              </a:lnSpc>
              <a:spcBef>
                <a:spcPts val="615"/>
              </a:spcBef>
            </a:pPr>
            <a:r>
              <a:rPr dirty="0" sz="2350" spc="-10">
                <a:latin typeface="Calibri"/>
                <a:cs typeface="Calibri"/>
              </a:rPr>
              <a:t>Género</a:t>
            </a:r>
            <a:endParaRPr sz="2350">
              <a:latin typeface="Calibri"/>
              <a:cs typeface="Calibri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0047816" y="4315883"/>
            <a:ext cx="2159000" cy="723900"/>
          </a:xfrm>
          <a:prstGeom prst="rect">
            <a:avLst/>
          </a:prstGeom>
          <a:ln w="12700">
            <a:solidFill>
              <a:srgbClr val="4B4B48"/>
            </a:solidFill>
          </a:ln>
        </p:spPr>
        <p:txBody>
          <a:bodyPr wrap="square" lIns="0" tIns="1905" rIns="0" bIns="0" rtlCol="0" vert="horz">
            <a:spAutoFit/>
          </a:bodyPr>
          <a:lstStyle/>
          <a:p>
            <a:pPr algn="ctr" marL="46355">
              <a:lnSpc>
                <a:spcPct val="100000"/>
              </a:lnSpc>
              <a:spcBef>
                <a:spcPts val="15"/>
              </a:spcBef>
            </a:pPr>
            <a:r>
              <a:rPr dirty="0" sz="2150" spc="-10">
                <a:latin typeface="Calibri"/>
                <a:cs typeface="Calibri"/>
              </a:rPr>
              <a:t>Autor</a:t>
            </a:r>
            <a:endParaRPr sz="2150">
              <a:latin typeface="Calibri"/>
              <a:cs typeface="Calibri"/>
            </a:endParaRPr>
          </a:p>
          <a:p>
            <a:pPr algn="r" marR="67310">
              <a:lnSpc>
                <a:spcPct val="100000"/>
              </a:lnSpc>
              <a:spcBef>
                <a:spcPts val="220"/>
              </a:spcBef>
            </a:pPr>
            <a:r>
              <a:rPr dirty="0" sz="1650" spc="55">
                <a:latin typeface="Calibri"/>
                <a:cs typeface="Calibri"/>
              </a:rPr>
              <a:t>50%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12272483" y="4304947"/>
            <a:ext cx="537210" cy="353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50" spc="-85">
                <a:solidFill>
                  <a:srgbClr val="111111"/>
                </a:solidFill>
                <a:latin typeface="Calibri"/>
                <a:cs typeface="Calibri"/>
              </a:rPr>
              <a:t>*</a:t>
            </a:r>
            <a:r>
              <a:rPr dirty="0" sz="2150" spc="-10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2150" spc="-25">
                <a:latin typeface="Calibri"/>
                <a:cs typeface="Calibri"/>
              </a:rPr>
              <a:t>0.5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10047816" y="5331883"/>
            <a:ext cx="2159000" cy="723900"/>
          </a:xfrm>
          <a:prstGeom prst="rect">
            <a:avLst/>
          </a:prstGeom>
          <a:ln w="12700">
            <a:solidFill>
              <a:srgbClr val="4B4B48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633730">
              <a:lnSpc>
                <a:spcPts val="2625"/>
              </a:lnSpc>
            </a:pPr>
            <a:r>
              <a:rPr dirty="0" sz="2300" spc="-10">
                <a:latin typeface="Calibri"/>
                <a:cs typeface="Calibri"/>
              </a:rPr>
              <a:t>Editorial</a:t>
            </a:r>
            <a:endParaRPr sz="2300">
              <a:latin typeface="Calibri"/>
              <a:cs typeface="Calibri"/>
            </a:endParaRPr>
          </a:p>
          <a:p>
            <a:pPr algn="r" marR="62865">
              <a:lnSpc>
                <a:spcPct val="100000"/>
              </a:lnSpc>
              <a:spcBef>
                <a:spcPts val="340"/>
              </a:spcBef>
            </a:pPr>
            <a:r>
              <a:rPr dirty="0" sz="1500" spc="-20">
                <a:latin typeface="Calibri"/>
                <a:cs typeface="Calibri"/>
              </a:rPr>
              <a:t>209a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10047816" y="6347883"/>
            <a:ext cx="2159000" cy="723900"/>
          </a:xfrm>
          <a:prstGeom prst="rect">
            <a:avLst/>
          </a:prstGeom>
          <a:ln w="12700">
            <a:solidFill>
              <a:srgbClr val="4B4B48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214629">
              <a:lnSpc>
                <a:spcPts val="2545"/>
              </a:lnSpc>
            </a:pPr>
            <a:r>
              <a:rPr dirty="0" sz="2300" spc="-85">
                <a:latin typeface="Calibri"/>
                <a:cs typeface="Calibri"/>
              </a:rPr>
              <a:t>Factor</a:t>
            </a:r>
            <a:r>
              <a:rPr dirty="0" sz="2300" spc="-35">
                <a:latin typeface="Calibri"/>
                <a:cs typeface="Calibri"/>
              </a:rPr>
              <a:t> </a:t>
            </a:r>
            <a:r>
              <a:rPr dirty="0" sz="2300" spc="-10">
                <a:latin typeface="Calibri"/>
                <a:cs typeface="Calibri"/>
              </a:rPr>
              <a:t>Aleatorio</a:t>
            </a:r>
            <a:endParaRPr sz="2300">
              <a:latin typeface="Calibri"/>
              <a:cs typeface="Calibri"/>
            </a:endParaRPr>
          </a:p>
          <a:p>
            <a:pPr marL="140335">
              <a:lnSpc>
                <a:spcPts val="2560"/>
              </a:lnSpc>
              <a:tabLst>
                <a:tab pos="1687830" algn="l"/>
              </a:tabLst>
            </a:pPr>
            <a:r>
              <a:rPr dirty="0" sz="2200" spc="-155">
                <a:solidFill>
                  <a:srgbClr val="464646"/>
                </a:solidFill>
                <a:latin typeface="Calibri"/>
                <a:cs typeface="Calibri"/>
              </a:rPr>
              <a:t>-</a:t>
            </a:r>
            <a:r>
              <a:rPr dirty="0" sz="2200" spc="-25">
                <a:solidFill>
                  <a:srgbClr val="464646"/>
                </a:solidFill>
                <a:latin typeface="Calibri"/>
                <a:cs typeface="Calibri"/>
              </a:rPr>
              <a:t>”0</a:t>
            </a:r>
            <a:r>
              <a:rPr dirty="0" sz="2200">
                <a:solidFill>
                  <a:srgbClr val="464646"/>
                </a:solidFill>
                <a:latin typeface="Calibri"/>
                <a:cs typeface="Calibri"/>
              </a:rPr>
              <a:t>	</a:t>
            </a:r>
            <a:r>
              <a:rPr dirty="0" sz="2200" spc="-25">
                <a:latin typeface="Calibri"/>
                <a:cs typeface="Calibri"/>
              </a:rPr>
              <a:t>10x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12448340" y="6301669"/>
            <a:ext cx="1042669" cy="3962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400" spc="-125">
                <a:latin typeface="Calibri"/>
                <a:cs typeface="Calibri"/>
              </a:rPr>
              <a:t>hasta</a:t>
            </a:r>
            <a:r>
              <a:rPr dirty="0" sz="2400" spc="-114">
                <a:latin typeface="Calibri"/>
                <a:cs typeface="Calibri"/>
              </a:rPr>
              <a:t> </a:t>
            </a:r>
            <a:r>
              <a:rPr dirty="0" sz="2350" spc="-25">
                <a:latin typeface="Courier New"/>
                <a:cs typeface="Courier New"/>
              </a:rPr>
              <a:t>01</a:t>
            </a:r>
            <a:endParaRPr sz="2350">
              <a:latin typeface="Courier New"/>
              <a:cs typeface="Courier New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13946720" y="3388783"/>
            <a:ext cx="2159000" cy="3683000"/>
          </a:xfrm>
          <a:prstGeom prst="rect">
            <a:avLst/>
          </a:prstGeom>
          <a:ln w="12700">
            <a:solidFill>
              <a:srgbClr val="44443F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2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85"/>
              </a:spcBef>
            </a:pPr>
            <a:endParaRPr sz="2550">
              <a:latin typeface="Times New Roman"/>
              <a:cs typeface="Times New Roman"/>
            </a:endParaRPr>
          </a:p>
          <a:p>
            <a:pPr marL="494030">
              <a:lnSpc>
                <a:spcPct val="100000"/>
              </a:lnSpc>
            </a:pPr>
            <a:r>
              <a:rPr dirty="0" sz="2550" spc="-10">
                <a:latin typeface="Calibri"/>
                <a:cs typeface="Calibri"/>
              </a:rPr>
              <a:t>Similitud</a:t>
            </a:r>
            <a:endParaRPr sz="2550">
              <a:latin typeface="Calibri"/>
              <a:cs typeface="Calibri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9256183" y="7223830"/>
            <a:ext cx="7268845" cy="1115695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marL="12700" marR="5080">
              <a:lnSpc>
                <a:spcPct val="89900"/>
              </a:lnSpc>
              <a:spcBef>
                <a:spcPts val="425"/>
              </a:spcBef>
            </a:pPr>
            <a:r>
              <a:rPr dirty="0" sz="2550" spc="-95">
                <a:latin typeface="Calibri"/>
                <a:cs typeface="Calibri"/>
              </a:rPr>
              <a:t>Esta</a:t>
            </a:r>
            <a:r>
              <a:rPr dirty="0" sz="2550" spc="-80">
                <a:latin typeface="Calibri"/>
                <a:cs typeface="Calibri"/>
              </a:rPr>
              <a:t> </a:t>
            </a:r>
            <a:r>
              <a:rPr dirty="0" sz="2550" spc="-90">
                <a:latin typeface="Calibri"/>
                <a:cs typeface="Calibri"/>
              </a:rPr>
              <a:t>combinación</a:t>
            </a:r>
            <a:r>
              <a:rPr dirty="0" sz="2550" spc="-5">
                <a:latin typeface="Calibri"/>
                <a:cs typeface="Calibri"/>
              </a:rPr>
              <a:t> </a:t>
            </a:r>
            <a:r>
              <a:rPr dirty="0" sz="2550" spc="-135">
                <a:latin typeface="Calibri"/>
                <a:cs typeface="Calibri"/>
              </a:rPr>
              <a:t>fomenta</a:t>
            </a:r>
            <a:r>
              <a:rPr dirty="0" sz="2550" spc="25">
                <a:latin typeface="Calibri"/>
                <a:cs typeface="Calibri"/>
              </a:rPr>
              <a:t> </a:t>
            </a:r>
            <a:r>
              <a:rPr dirty="0" sz="2550" spc="-50">
                <a:latin typeface="Calibri"/>
                <a:cs typeface="Calibri"/>
              </a:rPr>
              <a:t>la</a:t>
            </a:r>
            <a:r>
              <a:rPr dirty="0" sz="2550" spc="-135">
                <a:latin typeface="Calibri"/>
                <a:cs typeface="Calibri"/>
              </a:rPr>
              <a:t> </a:t>
            </a:r>
            <a:r>
              <a:rPr dirty="0" sz="2550" spc="-75">
                <a:latin typeface="Calibri"/>
                <a:cs typeface="Calibri"/>
              </a:rPr>
              <a:t>diversidad</a:t>
            </a:r>
            <a:r>
              <a:rPr dirty="0" sz="2550" spc="80">
                <a:latin typeface="Calibri"/>
                <a:cs typeface="Calibri"/>
              </a:rPr>
              <a:t> </a:t>
            </a:r>
            <a:r>
              <a:rPr dirty="0" sz="2550">
                <a:latin typeface="Calibri"/>
                <a:cs typeface="Calibri"/>
              </a:rPr>
              <a:t>al</a:t>
            </a:r>
            <a:r>
              <a:rPr dirty="0" sz="2550" spc="-300">
                <a:latin typeface="Calibri"/>
                <a:cs typeface="Calibri"/>
              </a:rPr>
              <a:t> </a:t>
            </a:r>
            <a:r>
              <a:rPr dirty="0" sz="2550" spc="-90">
                <a:latin typeface="Calibri"/>
                <a:cs typeface="Calibri"/>
              </a:rPr>
              <a:t>valorar</a:t>
            </a:r>
            <a:r>
              <a:rPr dirty="0" sz="2550" spc="-110">
                <a:latin typeface="Calibri"/>
                <a:cs typeface="Calibri"/>
              </a:rPr>
              <a:t> </a:t>
            </a:r>
            <a:r>
              <a:rPr dirty="0" sz="2550" spc="-114">
                <a:latin typeface="Calibri"/>
                <a:cs typeface="Calibri"/>
              </a:rPr>
              <a:t>autores</a:t>
            </a:r>
            <a:r>
              <a:rPr dirty="0" sz="2550" spc="-60">
                <a:latin typeface="Calibri"/>
                <a:cs typeface="Calibri"/>
              </a:rPr>
              <a:t> </a:t>
            </a:r>
            <a:r>
              <a:rPr dirty="0" sz="2550" spc="-50">
                <a:latin typeface="Calibri"/>
                <a:cs typeface="Calibri"/>
              </a:rPr>
              <a:t>y </a:t>
            </a:r>
            <a:r>
              <a:rPr dirty="0" sz="2550" spc="-90">
                <a:latin typeface="Calibri"/>
                <a:cs typeface="Calibri"/>
              </a:rPr>
              <a:t>editoriales</a:t>
            </a:r>
            <a:r>
              <a:rPr dirty="0" sz="2550" spc="-5">
                <a:latin typeface="Calibri"/>
                <a:cs typeface="Calibri"/>
              </a:rPr>
              <a:t> </a:t>
            </a:r>
            <a:r>
              <a:rPr dirty="0" sz="2550" spc="-100">
                <a:latin typeface="Calibri"/>
                <a:cs typeface="Calibri"/>
              </a:rPr>
              <a:t>en</a:t>
            </a:r>
            <a:r>
              <a:rPr dirty="0" sz="2550" spc="-120">
                <a:latin typeface="Calibri"/>
                <a:cs typeface="Calibri"/>
              </a:rPr>
              <a:t> </a:t>
            </a:r>
            <a:r>
              <a:rPr dirty="0" sz="2550" spc="-110">
                <a:latin typeface="Calibri"/>
                <a:cs typeface="Calibri"/>
              </a:rPr>
              <a:t>común,</a:t>
            </a:r>
            <a:r>
              <a:rPr dirty="0" sz="2550" spc="70">
                <a:latin typeface="Calibri"/>
                <a:cs typeface="Calibri"/>
              </a:rPr>
              <a:t> </a:t>
            </a:r>
            <a:r>
              <a:rPr dirty="0" sz="2550" spc="-100">
                <a:solidFill>
                  <a:srgbClr val="131313"/>
                </a:solidFill>
                <a:latin typeface="Calibri"/>
                <a:cs typeface="Calibri"/>
              </a:rPr>
              <a:t>y</a:t>
            </a:r>
            <a:r>
              <a:rPr dirty="0" sz="2550" spc="-114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dirty="0" sz="2550" spc="-65">
                <a:latin typeface="Calibri"/>
                <a:cs typeface="Calibri"/>
              </a:rPr>
              <a:t>el</a:t>
            </a:r>
            <a:r>
              <a:rPr dirty="0" sz="2550" spc="-165">
                <a:latin typeface="Calibri"/>
                <a:cs typeface="Calibri"/>
              </a:rPr>
              <a:t> </a:t>
            </a:r>
            <a:r>
              <a:rPr dirty="0" sz="2550" spc="-110">
                <a:latin typeface="Calibri"/>
                <a:cs typeface="Calibri"/>
              </a:rPr>
              <a:t>factor</a:t>
            </a:r>
            <a:r>
              <a:rPr dirty="0" sz="2550" spc="-125">
                <a:latin typeface="Calibri"/>
                <a:cs typeface="Calibri"/>
              </a:rPr>
              <a:t> </a:t>
            </a:r>
            <a:r>
              <a:rPr dirty="0" sz="2550" spc="-105">
                <a:latin typeface="Calibri"/>
                <a:cs typeface="Calibri"/>
              </a:rPr>
              <a:t>aleatorio</a:t>
            </a:r>
            <a:r>
              <a:rPr dirty="0" sz="2550" spc="-65">
                <a:latin typeface="Calibri"/>
                <a:cs typeface="Calibri"/>
              </a:rPr>
              <a:t> </a:t>
            </a:r>
            <a:r>
              <a:rPr dirty="0" sz="2550" spc="-105">
                <a:latin typeface="Calibri"/>
                <a:cs typeface="Calibri"/>
              </a:rPr>
              <a:t>introduce</a:t>
            </a:r>
            <a:r>
              <a:rPr dirty="0" sz="2550">
                <a:latin typeface="Calibri"/>
                <a:cs typeface="Calibri"/>
              </a:rPr>
              <a:t> </a:t>
            </a:r>
            <a:r>
              <a:rPr dirty="0" sz="2550" spc="-25">
                <a:latin typeface="Calibri"/>
                <a:cs typeface="Calibri"/>
              </a:rPr>
              <a:t>la </a:t>
            </a:r>
            <a:r>
              <a:rPr dirty="0" sz="2550" spc="-75">
                <a:latin typeface="Calibri"/>
                <a:cs typeface="Calibri"/>
              </a:rPr>
              <a:t>posibilidad</a:t>
            </a:r>
            <a:r>
              <a:rPr dirty="0" sz="2550" spc="95">
                <a:latin typeface="Calibri"/>
                <a:cs typeface="Calibri"/>
              </a:rPr>
              <a:t> </a:t>
            </a:r>
            <a:r>
              <a:rPr dirty="0" sz="2550" spc="-140">
                <a:latin typeface="Calibri"/>
                <a:cs typeface="Calibri"/>
              </a:rPr>
              <a:t>de</a:t>
            </a:r>
            <a:r>
              <a:rPr dirty="0" sz="2550" spc="-5">
                <a:latin typeface="Calibri"/>
                <a:cs typeface="Calibri"/>
              </a:rPr>
              <a:t> </a:t>
            </a:r>
            <a:r>
              <a:rPr dirty="0" sz="2550" spc="-95">
                <a:latin typeface="Calibri"/>
                <a:cs typeface="Calibri"/>
              </a:rPr>
              <a:t>descubrimiento</a:t>
            </a:r>
            <a:r>
              <a:rPr dirty="0" sz="2550" spc="-125">
                <a:latin typeface="Calibri"/>
                <a:cs typeface="Calibri"/>
              </a:rPr>
              <a:t> </a:t>
            </a:r>
            <a:r>
              <a:rPr dirty="0" sz="2550" spc="-10">
                <a:latin typeface="Calibri"/>
                <a:cs typeface="Calibri"/>
              </a:rPr>
              <a:t>inesperado.</a:t>
            </a:r>
            <a:endParaRPr sz="2550">
              <a:latin typeface="Calibri"/>
              <a:cs typeface="Calibri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13406870" y="8524522"/>
            <a:ext cx="2940050" cy="4762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5240">
              <a:lnSpc>
                <a:spcPts val="1700"/>
              </a:lnSpc>
              <a:spcBef>
                <a:spcPts val="125"/>
              </a:spcBef>
              <a:tabLst>
                <a:tab pos="749935" algn="l"/>
              </a:tabLst>
            </a:pPr>
            <a:r>
              <a:rPr dirty="0" sz="1500" spc="-10">
                <a:latin typeface="Calibri"/>
                <a:cs typeface="Calibri"/>
              </a:rPr>
              <a:t>Titulo:</a:t>
            </a:r>
            <a:r>
              <a:rPr dirty="0" sz="1500">
                <a:latin typeface="Calibri"/>
                <a:cs typeface="Calibri"/>
              </a:rPr>
              <a:t>	</a:t>
            </a:r>
            <a:r>
              <a:rPr dirty="0" sz="1500" spc="-40">
                <a:latin typeface="Calibri"/>
                <a:cs typeface="Calibri"/>
              </a:rPr>
              <a:t>Desafío</a:t>
            </a:r>
            <a:r>
              <a:rPr dirty="0" sz="1500" spc="10">
                <a:latin typeface="Calibri"/>
                <a:cs typeface="Calibri"/>
              </a:rPr>
              <a:t> </a:t>
            </a:r>
            <a:r>
              <a:rPr dirty="0" sz="1500" spc="-70">
                <a:latin typeface="Calibri"/>
                <a:cs typeface="Calibri"/>
              </a:rPr>
              <a:t>3:</a:t>
            </a:r>
            <a:r>
              <a:rPr dirty="0" sz="1500" spc="-45">
                <a:latin typeface="Calibri"/>
                <a:cs typeface="Calibri"/>
              </a:rPr>
              <a:t> </a:t>
            </a:r>
            <a:r>
              <a:rPr dirty="0" sz="1500" spc="-20">
                <a:latin typeface="Calibri"/>
                <a:cs typeface="Calibri"/>
              </a:rPr>
              <a:t>Falta</a:t>
            </a:r>
            <a:r>
              <a:rPr dirty="0" sz="1500" spc="-65">
                <a:latin typeface="Calibri"/>
                <a:cs typeface="Calibri"/>
              </a:rPr>
              <a:t> </a:t>
            </a:r>
            <a:r>
              <a:rPr dirty="0" sz="1500" spc="-25">
                <a:solidFill>
                  <a:srgbClr val="1A1A1A"/>
                </a:solidFill>
                <a:latin typeface="Calibri"/>
                <a:cs typeface="Calibri"/>
              </a:rPr>
              <a:t>de</a:t>
            </a:r>
            <a:r>
              <a:rPr dirty="0" sz="1500" spc="-14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Serendipia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ts val="1820"/>
              </a:lnSpc>
            </a:pPr>
            <a:r>
              <a:rPr dirty="0" sz="1600" spc="-95">
                <a:latin typeface="Calibri"/>
                <a:cs typeface="Calibri"/>
              </a:rPr>
              <a:t>Proyecto:</a:t>
            </a:r>
            <a:r>
              <a:rPr dirty="0" sz="1600" spc="30">
                <a:latin typeface="Calibri"/>
                <a:cs typeface="Calibri"/>
              </a:rPr>
              <a:t> </a:t>
            </a:r>
            <a:r>
              <a:rPr dirty="0" sz="1600" spc="-85">
                <a:latin typeface="Calibri"/>
                <a:cs typeface="Calibri"/>
              </a:rPr>
              <a:t>Sistema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 spc="-85">
                <a:solidFill>
                  <a:srgbClr val="161616"/>
                </a:solidFill>
                <a:latin typeface="Calibri"/>
                <a:cs typeface="Calibri"/>
              </a:rPr>
              <a:t>de</a:t>
            </a:r>
            <a:r>
              <a:rPr dirty="0" sz="1600" spc="-95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Recomendación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13407873" y="8994422"/>
            <a:ext cx="475615" cy="47434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2700" marR="5080" indent="6350">
              <a:lnSpc>
                <a:spcPts val="1700"/>
              </a:lnSpc>
              <a:spcBef>
                <a:spcPts val="265"/>
              </a:spcBef>
            </a:pPr>
            <a:r>
              <a:rPr dirty="0" sz="1500" spc="-40">
                <a:latin typeface="Calibri"/>
                <a:cs typeface="Calibri"/>
              </a:rPr>
              <a:t>Color: </a:t>
            </a:r>
            <a:r>
              <a:rPr dirty="0" sz="1500" spc="-10">
                <a:latin typeface="Calibri"/>
                <a:cs typeface="Calibri"/>
              </a:rPr>
              <a:t>Alian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14748205" y="8994422"/>
            <a:ext cx="638810" cy="47434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3970" marR="5080" indent="-1905">
              <a:lnSpc>
                <a:spcPts val="1700"/>
              </a:lnSpc>
              <a:spcBef>
                <a:spcPts val="265"/>
              </a:spcBef>
            </a:pPr>
            <a:r>
              <a:rPr dirty="0" sz="1500" spc="-10">
                <a:latin typeface="Calibri"/>
                <a:cs typeface="Calibri"/>
              </a:rPr>
              <a:t>Color: </a:t>
            </a:r>
            <a:r>
              <a:rPr dirty="0" sz="1500" spc="-85">
                <a:latin typeface="Calibri"/>
                <a:cs typeface="Calibri"/>
              </a:rPr>
              <a:t>8333333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16541368" y="8994422"/>
            <a:ext cx="464820" cy="47434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87325" marR="5080" indent="-175260">
              <a:lnSpc>
                <a:spcPts val="1700"/>
              </a:lnSpc>
              <a:spcBef>
                <a:spcPts val="265"/>
              </a:spcBef>
            </a:pPr>
            <a:r>
              <a:rPr dirty="0" sz="1500" spc="-20">
                <a:latin typeface="Calibri"/>
                <a:cs typeface="Calibri"/>
              </a:rPr>
              <a:t>Slides </a:t>
            </a:r>
            <a:r>
              <a:rPr dirty="0" sz="1500" spc="-50">
                <a:latin typeface="Calibri"/>
                <a:cs typeface="Calibri"/>
              </a:rPr>
              <a:t>3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15213418" y="9413522"/>
            <a:ext cx="2289175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 spc="3470">
                <a:latin typeface="Calibri"/>
                <a:cs typeface="Calibri"/>
              </a:rPr>
              <a:t>ítem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96700" y="8191500"/>
            <a:ext cx="5308600" cy="11811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03400" y="5384800"/>
            <a:ext cx="1587500" cy="9398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03400" y="4064000"/>
            <a:ext cx="1587500" cy="90170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803400" y="2654300"/>
            <a:ext cx="1600200" cy="927100"/>
          </a:xfrm>
          <a:prstGeom prst="rect">
            <a:avLst/>
          </a:prstGeom>
        </p:spPr>
      </p:pic>
      <p:sp>
        <p:nvSpPr>
          <p:cNvPr id="6" name="object 6" descr=""/>
          <p:cNvSpPr/>
          <p:nvPr/>
        </p:nvSpPr>
        <p:spPr>
          <a:xfrm>
            <a:off x="408516" y="397932"/>
            <a:ext cx="0" cy="9017000"/>
          </a:xfrm>
          <a:custGeom>
            <a:avLst/>
            <a:gdLst/>
            <a:ahLst/>
            <a:cxnLst/>
            <a:rect l="l" t="t" r="r" b="b"/>
            <a:pathLst>
              <a:path w="0" h="9017000">
                <a:moveTo>
                  <a:pt x="0" y="9017000"/>
                </a:moveTo>
                <a:lnTo>
                  <a:pt x="0" y="0"/>
                </a:lnTo>
              </a:path>
            </a:pathLst>
          </a:custGeom>
          <a:ln w="12700">
            <a:solidFill>
              <a:srgbClr val="28384F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7" name="object 7" descr=""/>
          <p:cNvGrpSpPr/>
          <p:nvPr/>
        </p:nvGrpSpPr>
        <p:grpSpPr>
          <a:xfrm>
            <a:off x="402166" y="397932"/>
            <a:ext cx="16624300" cy="9017000"/>
            <a:chOff x="402166" y="397932"/>
            <a:chExt cx="16624300" cy="9017000"/>
          </a:xfrm>
        </p:grpSpPr>
        <p:sp>
          <p:nvSpPr>
            <p:cNvPr id="8" name="object 8" descr=""/>
            <p:cNvSpPr/>
            <p:nvPr/>
          </p:nvSpPr>
          <p:spPr>
            <a:xfrm>
              <a:off x="17020121" y="397932"/>
              <a:ext cx="0" cy="9017000"/>
            </a:xfrm>
            <a:custGeom>
              <a:avLst/>
              <a:gdLst/>
              <a:ahLst/>
              <a:cxnLst/>
              <a:rect l="l" t="t" r="r" b="b"/>
              <a:pathLst>
                <a:path w="0" h="9017000">
                  <a:moveTo>
                    <a:pt x="0" y="90170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28384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402166" y="404282"/>
              <a:ext cx="16624300" cy="0"/>
            </a:xfrm>
            <a:custGeom>
              <a:avLst/>
              <a:gdLst/>
              <a:ahLst/>
              <a:cxnLst/>
              <a:rect l="l" t="t" r="r" b="b"/>
              <a:pathLst>
                <a:path w="16624300" h="0">
                  <a:moveTo>
                    <a:pt x="0" y="0"/>
                  </a:moveTo>
                  <a:lnTo>
                    <a:pt x="16624300" y="0"/>
                  </a:lnTo>
                </a:path>
              </a:pathLst>
            </a:custGeom>
            <a:ln w="12700">
              <a:solidFill>
                <a:srgbClr val="28384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402166" y="9408582"/>
              <a:ext cx="16624300" cy="0"/>
            </a:xfrm>
            <a:custGeom>
              <a:avLst/>
              <a:gdLst/>
              <a:ahLst/>
              <a:cxnLst/>
              <a:rect l="l" t="t" r="r" b="b"/>
              <a:pathLst>
                <a:path w="16624300" h="0">
                  <a:moveTo>
                    <a:pt x="0" y="0"/>
                  </a:moveTo>
                  <a:lnTo>
                    <a:pt x="16624300" y="0"/>
                  </a:lnTo>
                </a:path>
              </a:pathLst>
            </a:custGeom>
            <a:ln w="12700">
              <a:solidFill>
                <a:srgbClr val="28384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2819399" y="7160683"/>
              <a:ext cx="575945" cy="0"/>
            </a:xfrm>
            <a:custGeom>
              <a:avLst/>
              <a:gdLst/>
              <a:ahLst/>
              <a:cxnLst/>
              <a:rect l="l" t="t" r="r" b="b"/>
              <a:pathLst>
                <a:path w="575945" h="0">
                  <a:moveTo>
                    <a:pt x="0" y="0"/>
                  </a:moveTo>
                  <a:lnTo>
                    <a:pt x="575733" y="0"/>
                  </a:lnTo>
                </a:path>
              </a:pathLst>
            </a:custGeom>
            <a:ln w="29633">
              <a:solidFill>
                <a:srgbClr val="1F2B4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2806699" y="7135283"/>
              <a:ext cx="588645" cy="0"/>
            </a:xfrm>
            <a:custGeom>
              <a:avLst/>
              <a:gdLst/>
              <a:ahLst/>
              <a:cxnLst/>
              <a:rect l="l" t="t" r="r" b="b"/>
              <a:pathLst>
                <a:path w="588645" h="0">
                  <a:moveTo>
                    <a:pt x="0" y="0"/>
                  </a:moveTo>
                  <a:lnTo>
                    <a:pt x="588433" y="0"/>
                  </a:lnTo>
                </a:path>
              </a:pathLst>
            </a:custGeom>
            <a:ln w="29633">
              <a:solidFill>
                <a:srgbClr val="1F2B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16099" y="6769099"/>
              <a:ext cx="774700" cy="889000"/>
            </a:xfrm>
            <a:prstGeom prst="rect">
              <a:avLst/>
            </a:prstGeom>
          </p:spPr>
        </p:pic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1573438" y="622652"/>
            <a:ext cx="14345285" cy="1570990"/>
          </a:xfrm>
          <a:prstGeom prst="rect"/>
        </p:spPr>
        <p:txBody>
          <a:bodyPr wrap="square" lIns="0" tIns="107314" rIns="0" bIns="0" rtlCol="0" vert="horz">
            <a:spAutoFit/>
          </a:bodyPr>
          <a:lstStyle/>
          <a:p>
            <a:pPr marL="5802630" marR="5080" indent="-5790565">
              <a:lnSpc>
                <a:spcPts val="5750"/>
              </a:lnSpc>
              <a:spcBef>
                <a:spcPts val="844"/>
              </a:spcBef>
            </a:pPr>
            <a:r>
              <a:rPr dirty="0" sz="5350">
                <a:solidFill>
                  <a:srgbClr val="2F2F2F"/>
                </a:solidFill>
              </a:rPr>
              <a:t>Conclusiones:</a:t>
            </a:r>
            <a:r>
              <a:rPr dirty="0" sz="5350" spc="215">
                <a:solidFill>
                  <a:srgbClr val="2F2F2F"/>
                </a:solidFill>
              </a:rPr>
              <a:t> </a:t>
            </a:r>
            <a:r>
              <a:rPr dirty="0" sz="5350" spc="60">
                <a:solidFill>
                  <a:srgbClr val="3B3B3B"/>
                </a:solidFill>
              </a:rPr>
              <a:t>Un</a:t>
            </a:r>
            <a:r>
              <a:rPr dirty="0" sz="5350" spc="-250">
                <a:solidFill>
                  <a:srgbClr val="3B3B3B"/>
                </a:solidFill>
              </a:rPr>
              <a:t> </a:t>
            </a:r>
            <a:r>
              <a:rPr dirty="0" sz="5350">
                <a:solidFill>
                  <a:srgbClr val="2F2F2F"/>
                </a:solidFill>
              </a:rPr>
              <a:t>Modelo</a:t>
            </a:r>
            <a:r>
              <a:rPr dirty="0" sz="5350" spc="-160">
                <a:solidFill>
                  <a:srgbClr val="2F2F2F"/>
                </a:solidFill>
              </a:rPr>
              <a:t> </a:t>
            </a:r>
            <a:r>
              <a:rPr dirty="0" sz="5350">
                <a:solidFill>
                  <a:srgbClr val="313131"/>
                </a:solidFill>
              </a:rPr>
              <a:t>Coherente,</a:t>
            </a:r>
            <a:r>
              <a:rPr dirty="0" sz="5350" spc="270">
                <a:solidFill>
                  <a:srgbClr val="313131"/>
                </a:solidFill>
              </a:rPr>
              <a:t> </a:t>
            </a:r>
            <a:r>
              <a:rPr dirty="0" sz="5350" spc="-35">
                <a:solidFill>
                  <a:srgbClr val="2F2F2F"/>
                </a:solidFill>
              </a:rPr>
              <a:t>Explicable</a:t>
            </a:r>
            <a:r>
              <a:rPr dirty="0" sz="5350" spc="90">
                <a:solidFill>
                  <a:srgbClr val="2F2F2F"/>
                </a:solidFill>
              </a:rPr>
              <a:t> </a:t>
            </a:r>
            <a:r>
              <a:rPr dirty="0" sz="5350" spc="-50">
                <a:solidFill>
                  <a:srgbClr val="383838"/>
                </a:solidFill>
              </a:rPr>
              <a:t>y </a:t>
            </a:r>
            <a:r>
              <a:rPr dirty="0" sz="5350" spc="-10">
                <a:solidFill>
                  <a:srgbClr val="2D2D2D"/>
                </a:solidFill>
              </a:rPr>
              <a:t>Escalable</a:t>
            </a:r>
            <a:endParaRPr sz="5350"/>
          </a:p>
        </p:txBody>
      </p:sp>
      <p:sp>
        <p:nvSpPr>
          <p:cNvPr id="15" name="object 15" descr=""/>
          <p:cNvSpPr txBox="1"/>
          <p:nvPr/>
        </p:nvSpPr>
        <p:spPr>
          <a:xfrm>
            <a:off x="3556701" y="2459213"/>
            <a:ext cx="12406630" cy="4938395"/>
          </a:xfrm>
          <a:prstGeom prst="rect">
            <a:avLst/>
          </a:prstGeom>
        </p:spPr>
        <p:txBody>
          <a:bodyPr wrap="square" lIns="0" tIns="66675" rIns="0" bIns="0" rtlCol="0" vert="horz">
            <a:spAutoFit/>
          </a:bodyPr>
          <a:lstStyle/>
          <a:p>
            <a:pPr marL="399415" marR="5080" indent="-385445">
              <a:lnSpc>
                <a:spcPct val="89000"/>
              </a:lnSpc>
              <a:spcBef>
                <a:spcPts val="525"/>
              </a:spcBef>
              <a:buChar char="•"/>
              <a:tabLst>
                <a:tab pos="402590" algn="l"/>
              </a:tabLst>
            </a:pPr>
            <a:r>
              <a:rPr dirty="0" sz="2950" spc="-30">
                <a:latin typeface="Calibri"/>
                <a:cs typeface="Calibri"/>
              </a:rPr>
              <a:t>Objetivo</a:t>
            </a:r>
            <a:r>
              <a:rPr dirty="0" sz="2950" spc="-140">
                <a:latin typeface="Calibri"/>
                <a:cs typeface="Calibri"/>
              </a:rPr>
              <a:t> </a:t>
            </a:r>
            <a:r>
              <a:rPr dirty="0" sz="2950" spc="-30">
                <a:latin typeface="Calibri"/>
                <a:cs typeface="Calibri"/>
              </a:rPr>
              <a:t>Cumplido:</a:t>
            </a:r>
            <a:r>
              <a:rPr dirty="0" sz="2950" spc="-135">
                <a:latin typeface="Calibri"/>
                <a:cs typeface="Calibri"/>
              </a:rPr>
              <a:t> </a:t>
            </a:r>
            <a:r>
              <a:rPr dirty="0" sz="2950">
                <a:latin typeface="Calibri"/>
                <a:cs typeface="Calibri"/>
              </a:rPr>
              <a:t>Se</a:t>
            </a:r>
            <a:r>
              <a:rPr dirty="0" sz="2950" spc="-290">
                <a:latin typeface="Calibri"/>
                <a:cs typeface="Calibri"/>
              </a:rPr>
              <a:t> </a:t>
            </a:r>
            <a:r>
              <a:rPr dirty="0" sz="2950" spc="-65">
                <a:latin typeface="Calibri"/>
                <a:cs typeface="Calibri"/>
              </a:rPr>
              <a:t>desarrolló</a:t>
            </a:r>
            <a:r>
              <a:rPr dirty="0" sz="2950" spc="65">
                <a:latin typeface="Calibri"/>
                <a:cs typeface="Calibri"/>
              </a:rPr>
              <a:t> </a:t>
            </a:r>
            <a:r>
              <a:rPr dirty="0" sz="2950" spc="-110">
                <a:latin typeface="Calibri"/>
                <a:cs typeface="Calibri"/>
              </a:rPr>
              <a:t>con</a:t>
            </a:r>
            <a:r>
              <a:rPr dirty="0" sz="2950" spc="-130">
                <a:latin typeface="Calibri"/>
                <a:cs typeface="Calibri"/>
              </a:rPr>
              <a:t> </a:t>
            </a:r>
            <a:r>
              <a:rPr dirty="0" sz="2950" spc="-95">
                <a:latin typeface="Calibri"/>
                <a:cs typeface="Calibri"/>
              </a:rPr>
              <a:t>éxito</a:t>
            </a:r>
            <a:r>
              <a:rPr dirty="0" sz="2950" spc="-100">
                <a:latin typeface="Calibri"/>
                <a:cs typeface="Calibri"/>
              </a:rPr>
              <a:t> </a:t>
            </a:r>
            <a:r>
              <a:rPr dirty="0" sz="2950" spc="-80">
                <a:latin typeface="Calibri"/>
                <a:cs typeface="Calibri"/>
              </a:rPr>
              <a:t>un</a:t>
            </a:r>
            <a:r>
              <a:rPr dirty="0" sz="2950" spc="-220">
                <a:latin typeface="Calibri"/>
                <a:cs typeface="Calibri"/>
              </a:rPr>
              <a:t> </a:t>
            </a:r>
            <a:r>
              <a:rPr dirty="0" sz="2950" spc="-80">
                <a:latin typeface="Calibri"/>
                <a:cs typeface="Calibri"/>
              </a:rPr>
              <a:t>sistema</a:t>
            </a:r>
            <a:r>
              <a:rPr dirty="0" sz="2950" spc="-85">
                <a:latin typeface="Calibri"/>
                <a:cs typeface="Calibri"/>
              </a:rPr>
              <a:t> </a:t>
            </a:r>
            <a:r>
              <a:rPr dirty="0" sz="2950" spc="-105">
                <a:latin typeface="Calibri"/>
                <a:cs typeface="Calibri"/>
              </a:rPr>
              <a:t>recomendador</a:t>
            </a:r>
            <a:r>
              <a:rPr dirty="0" sz="2950" spc="95">
                <a:latin typeface="Calibri"/>
                <a:cs typeface="Calibri"/>
              </a:rPr>
              <a:t> </a:t>
            </a:r>
            <a:r>
              <a:rPr dirty="0" sz="2950" spc="-95">
                <a:latin typeface="Calibri"/>
                <a:cs typeface="Calibri"/>
              </a:rPr>
              <a:t>que</a:t>
            </a:r>
            <a:r>
              <a:rPr dirty="0" sz="2950" spc="-150">
                <a:latin typeface="Calibri"/>
                <a:cs typeface="Calibri"/>
              </a:rPr>
              <a:t> </a:t>
            </a:r>
            <a:r>
              <a:rPr dirty="0" sz="2950" spc="-114">
                <a:latin typeface="Calibri"/>
                <a:cs typeface="Calibri"/>
              </a:rPr>
              <a:t>reduce</a:t>
            </a:r>
            <a:r>
              <a:rPr dirty="0" sz="2950" spc="-50">
                <a:latin typeface="Calibri"/>
                <a:cs typeface="Calibri"/>
              </a:rPr>
              <a:t> </a:t>
            </a:r>
            <a:r>
              <a:rPr dirty="0" sz="2950" spc="-25">
                <a:latin typeface="Calibri"/>
                <a:cs typeface="Calibri"/>
              </a:rPr>
              <a:t>la </a:t>
            </a:r>
            <a:r>
              <a:rPr dirty="0" sz="2950" spc="-25">
                <a:latin typeface="Calibri"/>
                <a:cs typeface="Calibri"/>
              </a:rPr>
              <a:t>	</a:t>
            </a:r>
            <a:r>
              <a:rPr dirty="0" sz="2900" spc="-65">
                <a:latin typeface="Calibri"/>
                <a:cs typeface="Calibri"/>
              </a:rPr>
              <a:t>sobrecarga</a:t>
            </a:r>
            <a:r>
              <a:rPr dirty="0" sz="2900" spc="-100">
                <a:latin typeface="Calibri"/>
                <a:cs typeface="Calibri"/>
              </a:rPr>
              <a:t> </a:t>
            </a:r>
            <a:r>
              <a:rPr dirty="0" sz="2900" spc="-70">
                <a:latin typeface="Calibri"/>
                <a:cs typeface="Calibri"/>
              </a:rPr>
              <a:t>informativa</a:t>
            </a:r>
            <a:r>
              <a:rPr dirty="0" sz="2900" spc="-65">
                <a:latin typeface="Calibri"/>
                <a:cs typeface="Calibri"/>
              </a:rPr>
              <a:t> </a:t>
            </a:r>
            <a:r>
              <a:rPr dirty="0" sz="2900" spc="-85">
                <a:latin typeface="Calibri"/>
                <a:cs typeface="Calibri"/>
              </a:rPr>
              <a:t>mediante</a:t>
            </a:r>
            <a:r>
              <a:rPr dirty="0" sz="2900" spc="-80">
                <a:latin typeface="Calibri"/>
                <a:cs typeface="Calibri"/>
              </a:rPr>
              <a:t> </a:t>
            </a:r>
            <a:r>
              <a:rPr dirty="0" sz="2900" spc="-85">
                <a:latin typeface="Calibri"/>
                <a:cs typeface="Calibri"/>
              </a:rPr>
              <a:t>razonamiento</a:t>
            </a:r>
            <a:r>
              <a:rPr dirty="0" sz="2900" spc="20">
                <a:latin typeface="Calibri"/>
                <a:cs typeface="Calibri"/>
              </a:rPr>
              <a:t> </a:t>
            </a:r>
            <a:r>
              <a:rPr dirty="0" sz="2900" spc="-60">
                <a:latin typeface="Calibri"/>
                <a:cs typeface="Calibri"/>
              </a:rPr>
              <a:t>semántico,</a:t>
            </a:r>
            <a:r>
              <a:rPr dirty="0" sz="2900" spc="-15">
                <a:latin typeface="Calibri"/>
                <a:cs typeface="Calibri"/>
              </a:rPr>
              <a:t> </a:t>
            </a:r>
            <a:r>
              <a:rPr dirty="0" sz="2900" spc="-75">
                <a:latin typeface="Calibri"/>
                <a:cs typeface="Calibri"/>
              </a:rPr>
              <a:t>superando</a:t>
            </a:r>
            <a:r>
              <a:rPr dirty="0" sz="2900" spc="-90">
                <a:latin typeface="Calibri"/>
                <a:cs typeface="Calibri"/>
              </a:rPr>
              <a:t> </a:t>
            </a:r>
            <a:r>
              <a:rPr dirty="0" sz="2900" spc="-25">
                <a:latin typeface="Calibri"/>
                <a:cs typeface="Calibri"/>
              </a:rPr>
              <a:t>las </a:t>
            </a:r>
            <a:r>
              <a:rPr dirty="0" sz="2900" spc="-25">
                <a:latin typeface="Calibri"/>
                <a:cs typeface="Calibri"/>
              </a:rPr>
              <a:t>	</a:t>
            </a:r>
            <a:r>
              <a:rPr dirty="0" sz="2950" spc="-70">
                <a:latin typeface="Calibri"/>
                <a:cs typeface="Calibri"/>
              </a:rPr>
              <a:t>limitaciones</a:t>
            </a:r>
            <a:r>
              <a:rPr dirty="0" sz="2950" spc="-60">
                <a:latin typeface="Calibri"/>
                <a:cs typeface="Calibri"/>
              </a:rPr>
              <a:t> </a:t>
            </a:r>
            <a:r>
              <a:rPr dirty="0" sz="2950" spc="-114">
                <a:latin typeface="Calibri"/>
                <a:cs typeface="Calibri"/>
              </a:rPr>
              <a:t>de</a:t>
            </a:r>
            <a:r>
              <a:rPr dirty="0" sz="2950" spc="-165">
                <a:latin typeface="Calibri"/>
                <a:cs typeface="Calibri"/>
              </a:rPr>
              <a:t> </a:t>
            </a:r>
            <a:r>
              <a:rPr dirty="0" sz="2950" spc="-10">
                <a:latin typeface="Calibri"/>
                <a:cs typeface="Calibri"/>
              </a:rPr>
              <a:t>los</a:t>
            </a:r>
            <a:r>
              <a:rPr dirty="0" sz="2950" spc="-175">
                <a:latin typeface="Calibri"/>
                <a:cs typeface="Calibri"/>
              </a:rPr>
              <a:t> </a:t>
            </a:r>
            <a:r>
              <a:rPr dirty="0" sz="2950" spc="-110">
                <a:latin typeface="Calibri"/>
                <a:cs typeface="Calibri"/>
              </a:rPr>
              <a:t>enfoques</a:t>
            </a:r>
            <a:r>
              <a:rPr dirty="0" sz="2950" spc="20">
                <a:latin typeface="Calibri"/>
                <a:cs typeface="Calibri"/>
              </a:rPr>
              <a:t> </a:t>
            </a:r>
            <a:r>
              <a:rPr dirty="0" sz="2950" spc="-80">
                <a:latin typeface="Calibri"/>
                <a:cs typeface="Calibri"/>
              </a:rPr>
              <a:t>basados</a:t>
            </a:r>
            <a:r>
              <a:rPr dirty="0" sz="2950" spc="-5">
                <a:latin typeface="Calibri"/>
                <a:cs typeface="Calibri"/>
              </a:rPr>
              <a:t> </a:t>
            </a:r>
            <a:r>
              <a:rPr dirty="0" sz="2950" spc="-55">
                <a:latin typeface="Calibri"/>
                <a:cs typeface="Calibri"/>
              </a:rPr>
              <a:t>solo</a:t>
            </a:r>
            <a:r>
              <a:rPr dirty="0" sz="2950" spc="-135">
                <a:latin typeface="Calibri"/>
                <a:cs typeface="Calibri"/>
              </a:rPr>
              <a:t> </a:t>
            </a:r>
            <a:r>
              <a:rPr dirty="0" sz="2950" spc="-85">
                <a:latin typeface="Calibri"/>
                <a:cs typeface="Calibri"/>
              </a:rPr>
              <a:t>en</a:t>
            </a:r>
            <a:r>
              <a:rPr dirty="0" sz="2950" spc="-225">
                <a:latin typeface="Calibri"/>
                <a:cs typeface="Calibri"/>
              </a:rPr>
              <a:t> </a:t>
            </a:r>
            <a:r>
              <a:rPr dirty="0" sz="2950" spc="-10">
                <a:latin typeface="Calibri"/>
                <a:cs typeface="Calibri"/>
              </a:rPr>
              <a:t>popularidad.</a:t>
            </a:r>
            <a:endParaRPr sz="2950">
              <a:latin typeface="Calibri"/>
              <a:cs typeface="Calibri"/>
            </a:endParaRPr>
          </a:p>
          <a:p>
            <a:pPr algn="just" marL="393700" marR="1146810" indent="-379730">
              <a:lnSpc>
                <a:spcPct val="86800"/>
              </a:lnSpc>
              <a:spcBef>
                <a:spcPts val="1975"/>
              </a:spcBef>
              <a:buChar char="•"/>
              <a:tabLst>
                <a:tab pos="393700" algn="l"/>
                <a:tab pos="396875" algn="l"/>
              </a:tabLst>
            </a:pPr>
            <a:r>
              <a:rPr dirty="0" sz="2950">
                <a:latin typeface="Calibri"/>
                <a:cs typeface="Calibri"/>
              </a:rPr>
              <a:t>	</a:t>
            </a:r>
            <a:r>
              <a:rPr dirty="0" sz="2950" spc="-25">
                <a:latin typeface="Calibri"/>
                <a:cs typeface="Calibri"/>
              </a:rPr>
              <a:t>Integración</a:t>
            </a:r>
            <a:r>
              <a:rPr dirty="0" sz="2950" spc="-145">
                <a:latin typeface="Calibri"/>
                <a:cs typeface="Calibri"/>
              </a:rPr>
              <a:t> </a:t>
            </a:r>
            <a:r>
              <a:rPr dirty="0" sz="2950">
                <a:latin typeface="Calibri"/>
                <a:cs typeface="Calibri"/>
              </a:rPr>
              <a:t>Exitosa:</a:t>
            </a:r>
            <a:r>
              <a:rPr dirty="0" sz="2950" spc="-90">
                <a:latin typeface="Calibri"/>
                <a:cs typeface="Calibri"/>
              </a:rPr>
              <a:t> </a:t>
            </a:r>
            <a:r>
              <a:rPr dirty="0" sz="2950">
                <a:latin typeface="Calibri"/>
                <a:cs typeface="Calibri"/>
              </a:rPr>
              <a:t>La</a:t>
            </a:r>
            <a:r>
              <a:rPr dirty="0" sz="2950" spc="-150">
                <a:latin typeface="Calibri"/>
                <a:cs typeface="Calibri"/>
              </a:rPr>
              <a:t> </a:t>
            </a:r>
            <a:r>
              <a:rPr dirty="0" sz="2950" spc="-85">
                <a:latin typeface="Calibri"/>
                <a:cs typeface="Calibri"/>
              </a:rPr>
              <a:t>combinación</a:t>
            </a:r>
            <a:r>
              <a:rPr dirty="0" sz="2950" spc="120">
                <a:latin typeface="Calibri"/>
                <a:cs typeface="Calibri"/>
              </a:rPr>
              <a:t> </a:t>
            </a:r>
            <a:r>
              <a:rPr dirty="0" sz="2950" spc="-180">
                <a:latin typeface="Calibri"/>
                <a:cs typeface="Calibri"/>
              </a:rPr>
              <a:t>de</a:t>
            </a:r>
            <a:r>
              <a:rPr dirty="0" sz="2950" spc="15">
                <a:latin typeface="Calibri"/>
                <a:cs typeface="Calibri"/>
              </a:rPr>
              <a:t> </a:t>
            </a:r>
            <a:r>
              <a:rPr dirty="0" sz="2950" spc="-120">
                <a:latin typeface="Calibri"/>
                <a:cs typeface="Calibri"/>
              </a:rPr>
              <a:t>Wikidata,</a:t>
            </a:r>
            <a:r>
              <a:rPr dirty="0" sz="2950" spc="50">
                <a:latin typeface="Calibri"/>
                <a:cs typeface="Calibri"/>
              </a:rPr>
              <a:t> </a:t>
            </a:r>
            <a:r>
              <a:rPr dirty="0" sz="2950" spc="-114">
                <a:latin typeface="Calibri"/>
                <a:cs typeface="Calibri"/>
              </a:rPr>
              <a:t>Google</a:t>
            </a:r>
            <a:r>
              <a:rPr dirty="0" sz="2950" spc="-55">
                <a:latin typeface="Calibri"/>
                <a:cs typeface="Calibri"/>
              </a:rPr>
              <a:t> </a:t>
            </a:r>
            <a:r>
              <a:rPr dirty="0" sz="2950" spc="-65">
                <a:latin typeface="Calibri"/>
                <a:cs typeface="Calibri"/>
              </a:rPr>
              <a:t>Books,</a:t>
            </a:r>
            <a:r>
              <a:rPr dirty="0" sz="2950" spc="-100">
                <a:latin typeface="Calibri"/>
                <a:cs typeface="Calibri"/>
              </a:rPr>
              <a:t> </a:t>
            </a:r>
            <a:r>
              <a:rPr dirty="0" sz="2950" spc="-90">
                <a:latin typeface="Calibri"/>
                <a:cs typeface="Calibri"/>
              </a:rPr>
              <a:t>DBpedia</a:t>
            </a:r>
            <a:r>
              <a:rPr dirty="0" sz="2950" spc="-5">
                <a:latin typeface="Calibri"/>
                <a:cs typeface="Calibri"/>
              </a:rPr>
              <a:t> </a:t>
            </a:r>
            <a:r>
              <a:rPr dirty="0" sz="2950" spc="-50">
                <a:latin typeface="Calibri"/>
                <a:cs typeface="Calibri"/>
              </a:rPr>
              <a:t>y </a:t>
            </a:r>
            <a:r>
              <a:rPr dirty="0" sz="3050" spc="-130">
                <a:latin typeface="Calibri"/>
                <a:cs typeface="Calibri"/>
              </a:rPr>
              <a:t>ontoíogías</a:t>
            </a:r>
            <a:r>
              <a:rPr dirty="0" sz="3050" spc="-50">
                <a:latin typeface="Calibri"/>
                <a:cs typeface="Calibri"/>
              </a:rPr>
              <a:t> </a:t>
            </a:r>
            <a:r>
              <a:rPr dirty="0" sz="3050" spc="-140">
                <a:latin typeface="Calibri"/>
                <a:cs typeface="Calibri"/>
              </a:rPr>
              <a:t>estándar</a:t>
            </a:r>
            <a:r>
              <a:rPr dirty="0" sz="3050" spc="-35">
                <a:latin typeface="Calibri"/>
                <a:cs typeface="Calibri"/>
              </a:rPr>
              <a:t> </a:t>
            </a:r>
            <a:r>
              <a:rPr dirty="0" sz="3050" spc="-155">
                <a:latin typeface="Calibri"/>
                <a:cs typeface="Calibri"/>
              </a:rPr>
              <a:t>(BIBO,</a:t>
            </a:r>
            <a:r>
              <a:rPr dirty="0" sz="3050" spc="-15">
                <a:latin typeface="Calibri"/>
                <a:cs typeface="Calibri"/>
              </a:rPr>
              <a:t> </a:t>
            </a:r>
            <a:r>
              <a:rPr dirty="0" sz="3050" spc="-135">
                <a:latin typeface="Calibri"/>
                <a:cs typeface="Calibri"/>
              </a:rPr>
              <a:t>Schema.org)</a:t>
            </a:r>
            <a:r>
              <a:rPr dirty="0" sz="3050" spc="120">
                <a:latin typeface="Calibri"/>
                <a:cs typeface="Calibri"/>
              </a:rPr>
              <a:t> </a:t>
            </a:r>
            <a:r>
              <a:rPr dirty="0" sz="3050" spc="-150">
                <a:latin typeface="Calibri"/>
                <a:cs typeface="Calibri"/>
              </a:rPr>
              <a:t>resultó</a:t>
            </a:r>
            <a:r>
              <a:rPr dirty="0" sz="3050" spc="30">
                <a:latin typeface="Calibri"/>
                <a:cs typeface="Calibri"/>
              </a:rPr>
              <a:t> </a:t>
            </a:r>
            <a:r>
              <a:rPr dirty="0" sz="3050" spc="-235">
                <a:latin typeface="Calibri"/>
                <a:cs typeface="Calibri"/>
              </a:rPr>
              <a:t>en</a:t>
            </a:r>
            <a:r>
              <a:rPr dirty="0" sz="3050" spc="65">
                <a:latin typeface="Calibri"/>
                <a:cs typeface="Calibri"/>
              </a:rPr>
              <a:t> </a:t>
            </a:r>
            <a:r>
              <a:rPr dirty="0" sz="3050" spc="-195">
                <a:latin typeface="Calibri"/>
                <a:cs typeface="Calibri"/>
              </a:rPr>
              <a:t>un</a:t>
            </a:r>
            <a:r>
              <a:rPr dirty="0" sz="3050" spc="20">
                <a:latin typeface="Calibri"/>
                <a:cs typeface="Calibri"/>
              </a:rPr>
              <a:t> </a:t>
            </a:r>
            <a:r>
              <a:rPr dirty="0" sz="3050" spc="-210">
                <a:latin typeface="Calibri"/>
                <a:cs typeface="Calibri"/>
              </a:rPr>
              <a:t>grafo</a:t>
            </a:r>
            <a:r>
              <a:rPr dirty="0" sz="3050" spc="40">
                <a:latin typeface="Calibri"/>
                <a:cs typeface="Calibri"/>
              </a:rPr>
              <a:t> </a:t>
            </a:r>
            <a:r>
              <a:rPr dirty="0" sz="3050" spc="-245">
                <a:latin typeface="Calibri"/>
                <a:cs typeface="Calibri"/>
              </a:rPr>
              <a:t>de</a:t>
            </a:r>
            <a:r>
              <a:rPr dirty="0" sz="3050" spc="75">
                <a:latin typeface="Calibri"/>
                <a:cs typeface="Calibri"/>
              </a:rPr>
              <a:t> </a:t>
            </a:r>
            <a:r>
              <a:rPr dirty="0" sz="3050" spc="-130">
                <a:latin typeface="Calibri"/>
                <a:cs typeface="Calibri"/>
              </a:rPr>
              <a:t>conocimiento </a:t>
            </a:r>
            <a:r>
              <a:rPr dirty="0" sz="2950" spc="-105">
                <a:latin typeface="Calibri"/>
                <a:cs typeface="Calibri"/>
              </a:rPr>
              <a:t>interoperabfe</a:t>
            </a:r>
            <a:r>
              <a:rPr dirty="0" sz="2950" spc="-50">
                <a:latin typeface="Calibri"/>
                <a:cs typeface="Calibri"/>
              </a:rPr>
              <a:t> </a:t>
            </a:r>
            <a:r>
              <a:rPr dirty="0" sz="2950" spc="-90">
                <a:latin typeface="Calibri"/>
                <a:cs typeface="Calibri"/>
              </a:rPr>
              <a:t>y</a:t>
            </a:r>
            <a:r>
              <a:rPr dirty="0" sz="2950" spc="-220">
                <a:latin typeface="Calibri"/>
                <a:cs typeface="Calibri"/>
              </a:rPr>
              <a:t> </a:t>
            </a:r>
            <a:r>
              <a:rPr dirty="0" sz="2950" spc="-10">
                <a:latin typeface="Calibri"/>
                <a:cs typeface="Calibri"/>
              </a:rPr>
              <a:t>robusto.</a:t>
            </a:r>
            <a:endParaRPr sz="2950">
              <a:latin typeface="Calibri"/>
              <a:cs typeface="Calibri"/>
            </a:endParaRPr>
          </a:p>
          <a:p>
            <a:pPr algn="just" marL="396875" indent="-384175">
              <a:lnSpc>
                <a:spcPts val="3485"/>
              </a:lnSpc>
              <a:spcBef>
                <a:spcPts val="1460"/>
              </a:spcBef>
              <a:buChar char="•"/>
              <a:tabLst>
                <a:tab pos="396875" algn="l"/>
              </a:tabLst>
            </a:pPr>
            <a:r>
              <a:rPr dirty="0" sz="3100" spc="-100">
                <a:latin typeface="Calibri"/>
                <a:cs typeface="Calibri"/>
              </a:rPr>
              <a:t>Desafíos</a:t>
            </a:r>
            <a:r>
              <a:rPr dirty="0" sz="3100" spc="-135">
                <a:latin typeface="Calibri"/>
                <a:cs typeface="Calibri"/>
              </a:rPr>
              <a:t> </a:t>
            </a:r>
            <a:r>
              <a:rPr dirty="0" sz="3100" spc="-80">
                <a:latin typeface="Calibri"/>
                <a:cs typeface="Calibri"/>
              </a:rPr>
              <a:t>Superados:</a:t>
            </a:r>
            <a:r>
              <a:rPr dirty="0" sz="3100" spc="114">
                <a:latin typeface="Calibri"/>
                <a:cs typeface="Calibri"/>
              </a:rPr>
              <a:t> </a:t>
            </a:r>
            <a:r>
              <a:rPr dirty="0" sz="3100" spc="-195">
                <a:latin typeface="Calibri"/>
                <a:cs typeface="Calibri"/>
              </a:rPr>
              <a:t>Ajustes</a:t>
            </a:r>
            <a:r>
              <a:rPr dirty="0" sz="3100" spc="-40">
                <a:latin typeface="Calibri"/>
                <a:cs typeface="Calibri"/>
              </a:rPr>
              <a:t> </a:t>
            </a:r>
            <a:r>
              <a:rPr dirty="0" sz="3100" spc="-170">
                <a:latin typeface="Calibri"/>
                <a:cs typeface="Calibri"/>
              </a:rPr>
              <a:t>en</a:t>
            </a:r>
            <a:r>
              <a:rPr dirty="0" sz="3100" spc="-180">
                <a:latin typeface="Calibri"/>
                <a:cs typeface="Calibri"/>
              </a:rPr>
              <a:t> </a:t>
            </a:r>
            <a:r>
              <a:rPr dirty="0" sz="3100" spc="-90">
                <a:latin typeface="Calibri"/>
                <a:cs typeface="Calibri"/>
              </a:rPr>
              <a:t>el</a:t>
            </a:r>
            <a:r>
              <a:rPr dirty="0" sz="3100" spc="-305">
                <a:latin typeface="Calibri"/>
                <a:cs typeface="Calibri"/>
              </a:rPr>
              <a:t> </a:t>
            </a:r>
            <a:r>
              <a:rPr dirty="0" sz="3100" spc="-195">
                <a:latin typeface="Calibri"/>
                <a:cs typeface="Calibri"/>
              </a:rPr>
              <a:t>modelo</a:t>
            </a:r>
            <a:r>
              <a:rPr dirty="0" sz="3100" spc="45">
                <a:latin typeface="Calibri"/>
                <a:cs typeface="Calibri"/>
              </a:rPr>
              <a:t> </a:t>
            </a:r>
            <a:r>
              <a:rPr dirty="0" sz="3100" spc="-200">
                <a:latin typeface="Calibri"/>
                <a:cs typeface="Calibri"/>
              </a:rPr>
              <a:t>de</a:t>
            </a:r>
            <a:r>
              <a:rPr dirty="0" sz="3100" spc="-215">
                <a:latin typeface="Calibri"/>
                <a:cs typeface="Calibri"/>
              </a:rPr>
              <a:t> </a:t>
            </a:r>
            <a:r>
              <a:rPr dirty="0" sz="3100" spc="-165">
                <a:latin typeface="Calibri"/>
                <a:cs typeface="Calibri"/>
              </a:rPr>
              <a:t>datos</a:t>
            </a:r>
            <a:r>
              <a:rPr dirty="0" sz="3100" spc="-85">
                <a:latin typeface="Calibri"/>
                <a:cs typeface="Calibri"/>
              </a:rPr>
              <a:t> </a:t>
            </a:r>
            <a:r>
              <a:rPr dirty="0" sz="3100" spc="-140">
                <a:latin typeface="Calibri"/>
                <a:cs typeface="Calibri"/>
              </a:rPr>
              <a:t>y</a:t>
            </a:r>
            <a:r>
              <a:rPr dirty="0" sz="3100" spc="-165">
                <a:latin typeface="Calibri"/>
                <a:cs typeface="Calibri"/>
              </a:rPr>
              <a:t> </a:t>
            </a:r>
            <a:r>
              <a:rPr dirty="0" sz="3100" spc="-229">
                <a:latin typeface="Calibri"/>
                <a:cs typeface="Calibri"/>
              </a:rPr>
              <a:t>en</a:t>
            </a:r>
            <a:r>
              <a:rPr dirty="0" sz="3100" spc="-145">
                <a:latin typeface="Calibri"/>
                <a:cs typeface="Calibri"/>
              </a:rPr>
              <a:t> </a:t>
            </a:r>
            <a:r>
              <a:rPr dirty="0" sz="3100" spc="-120">
                <a:latin typeface="Calibri"/>
                <a:cs typeface="Calibri"/>
              </a:rPr>
              <a:t>los</a:t>
            </a:r>
            <a:r>
              <a:rPr dirty="0" sz="3100" spc="-175">
                <a:latin typeface="Calibri"/>
                <a:cs typeface="Calibri"/>
              </a:rPr>
              <a:t> </a:t>
            </a:r>
            <a:r>
              <a:rPr dirty="0" sz="3100" spc="-165">
                <a:latin typeface="Calibri"/>
                <a:cs typeface="Calibri"/>
              </a:rPr>
              <a:t>algoritmos</a:t>
            </a:r>
            <a:r>
              <a:rPr dirty="0" sz="3100" spc="60">
                <a:latin typeface="Calibri"/>
                <a:cs typeface="Calibri"/>
              </a:rPr>
              <a:t> </a:t>
            </a:r>
            <a:r>
              <a:rPr dirty="0" sz="3100" spc="-150">
                <a:latin typeface="Calibri"/>
                <a:cs typeface="Calibri"/>
              </a:rPr>
              <a:t>de</a:t>
            </a:r>
            <a:r>
              <a:rPr dirty="0" sz="3100" spc="-190">
                <a:latin typeface="Calibri"/>
                <a:cs typeface="Calibri"/>
              </a:rPr>
              <a:t> </a:t>
            </a:r>
            <a:r>
              <a:rPr dirty="0" sz="3100" spc="-10">
                <a:latin typeface="Calibri"/>
                <a:cs typeface="Calibri"/>
              </a:rPr>
              <a:t>similitud</a:t>
            </a:r>
            <a:endParaRPr sz="3100">
              <a:latin typeface="Calibri"/>
              <a:cs typeface="Calibri"/>
            </a:endParaRPr>
          </a:p>
          <a:p>
            <a:pPr algn="just" marL="402590">
              <a:lnSpc>
                <a:spcPts val="3304"/>
              </a:lnSpc>
            </a:pPr>
            <a:r>
              <a:rPr dirty="0" sz="2950" spc="-105">
                <a:latin typeface="Calibri"/>
                <a:cs typeface="Calibri"/>
              </a:rPr>
              <a:t>permitieron</a:t>
            </a:r>
            <a:r>
              <a:rPr dirty="0" sz="2950" spc="-60">
                <a:latin typeface="Calibri"/>
                <a:cs typeface="Calibri"/>
              </a:rPr>
              <a:t> </a:t>
            </a:r>
            <a:r>
              <a:rPr dirty="0" sz="2950" spc="-120">
                <a:latin typeface="Calibri"/>
                <a:cs typeface="Calibri"/>
              </a:rPr>
              <a:t>mejorar</a:t>
            </a:r>
            <a:r>
              <a:rPr dirty="0" sz="2950" spc="-65">
                <a:latin typeface="Calibri"/>
                <a:cs typeface="Calibri"/>
              </a:rPr>
              <a:t> </a:t>
            </a:r>
            <a:r>
              <a:rPr dirty="0" sz="2950">
                <a:latin typeface="Calibri"/>
                <a:cs typeface="Calibri"/>
              </a:rPr>
              <a:t>la</a:t>
            </a:r>
            <a:r>
              <a:rPr dirty="0" sz="2950" spc="-185">
                <a:latin typeface="Calibri"/>
                <a:cs typeface="Calibri"/>
              </a:rPr>
              <a:t> </a:t>
            </a:r>
            <a:r>
              <a:rPr dirty="0" sz="2950" spc="-75">
                <a:latin typeface="Calibri"/>
                <a:cs typeface="Calibri"/>
              </a:rPr>
              <a:t>precisión,</a:t>
            </a:r>
            <a:r>
              <a:rPr dirty="0" sz="2950" spc="20">
                <a:latin typeface="Calibri"/>
                <a:cs typeface="Calibri"/>
              </a:rPr>
              <a:t> </a:t>
            </a:r>
            <a:r>
              <a:rPr dirty="0" sz="2950" spc="-80">
                <a:latin typeface="Calibri"/>
                <a:cs typeface="Calibri"/>
              </a:rPr>
              <a:t>relevancia</a:t>
            </a:r>
            <a:r>
              <a:rPr dirty="0" sz="2950" spc="-70">
                <a:latin typeface="Calibri"/>
                <a:cs typeface="Calibri"/>
              </a:rPr>
              <a:t> </a:t>
            </a:r>
            <a:r>
              <a:rPr dirty="0" sz="2950" spc="-90">
                <a:latin typeface="Calibri"/>
                <a:cs typeface="Calibri"/>
              </a:rPr>
              <a:t>y</a:t>
            </a:r>
            <a:r>
              <a:rPr dirty="0" sz="2950" spc="-130">
                <a:latin typeface="Calibri"/>
                <a:cs typeface="Calibri"/>
              </a:rPr>
              <a:t> </a:t>
            </a:r>
            <a:r>
              <a:rPr dirty="0" sz="2950" spc="-75">
                <a:latin typeface="Calibri"/>
                <a:cs typeface="Calibri"/>
              </a:rPr>
              <a:t>diversidad</a:t>
            </a:r>
            <a:r>
              <a:rPr dirty="0" sz="2950" spc="40">
                <a:latin typeface="Calibri"/>
                <a:cs typeface="Calibri"/>
              </a:rPr>
              <a:t> </a:t>
            </a:r>
            <a:r>
              <a:rPr dirty="0" sz="2950" spc="-65">
                <a:latin typeface="Calibri"/>
                <a:cs typeface="Calibri"/>
              </a:rPr>
              <a:t>de</a:t>
            </a:r>
            <a:r>
              <a:rPr dirty="0" sz="2950" spc="-160">
                <a:latin typeface="Calibri"/>
                <a:cs typeface="Calibri"/>
              </a:rPr>
              <a:t> </a:t>
            </a:r>
            <a:r>
              <a:rPr dirty="0" sz="2950" spc="-30">
                <a:latin typeface="Calibri"/>
                <a:cs typeface="Calibri"/>
              </a:rPr>
              <a:t>las</a:t>
            </a:r>
            <a:r>
              <a:rPr dirty="0" sz="2950" spc="-155">
                <a:latin typeface="Calibri"/>
                <a:cs typeface="Calibri"/>
              </a:rPr>
              <a:t> </a:t>
            </a:r>
            <a:r>
              <a:rPr dirty="0" sz="2950" spc="-10">
                <a:latin typeface="Calibri"/>
                <a:cs typeface="Calibri"/>
              </a:rPr>
              <a:t>recomendaciones.</a:t>
            </a:r>
            <a:endParaRPr sz="2950">
              <a:latin typeface="Calibri"/>
              <a:cs typeface="Calibri"/>
            </a:endParaRPr>
          </a:p>
          <a:p>
            <a:pPr marL="400685" marR="172720" indent="-387350">
              <a:lnSpc>
                <a:spcPts val="3100"/>
              </a:lnSpc>
              <a:spcBef>
                <a:spcPts val="3130"/>
              </a:spcBef>
              <a:buChar char="•"/>
              <a:tabLst>
                <a:tab pos="400685" algn="l"/>
              </a:tabLst>
            </a:pPr>
            <a:r>
              <a:rPr dirty="0" sz="2950" spc="-20">
                <a:latin typeface="Calibri"/>
                <a:cs typeface="Calibri"/>
              </a:rPr>
              <a:t>Confirmación</a:t>
            </a:r>
            <a:r>
              <a:rPr dirty="0" sz="2950" spc="-110">
                <a:latin typeface="Calibri"/>
                <a:cs typeface="Calibri"/>
              </a:rPr>
              <a:t> </a:t>
            </a:r>
            <a:r>
              <a:rPr dirty="0" sz="2950" spc="-10">
                <a:latin typeface="Calibri"/>
                <a:cs typeface="Calibri"/>
              </a:rPr>
              <a:t>de</a:t>
            </a:r>
            <a:r>
              <a:rPr dirty="0" sz="2950" spc="-275">
                <a:latin typeface="Calibri"/>
                <a:cs typeface="Calibri"/>
              </a:rPr>
              <a:t> </a:t>
            </a:r>
            <a:r>
              <a:rPr dirty="0" sz="2950">
                <a:latin typeface="Calibri"/>
                <a:cs typeface="Calibri"/>
              </a:rPr>
              <a:t>la</a:t>
            </a:r>
            <a:r>
              <a:rPr dirty="0" sz="2950" spc="-40">
                <a:latin typeface="Calibri"/>
                <a:cs typeface="Calibri"/>
              </a:rPr>
              <a:t> </a:t>
            </a:r>
            <a:r>
              <a:rPr dirty="0" sz="2950" spc="-30">
                <a:latin typeface="Calibri"/>
                <a:cs typeface="Calibri"/>
              </a:rPr>
              <a:t>Hipótesis:</a:t>
            </a:r>
            <a:r>
              <a:rPr dirty="0" sz="2950" spc="-20">
                <a:latin typeface="Calibri"/>
                <a:cs typeface="Calibri"/>
              </a:rPr>
              <a:t> </a:t>
            </a:r>
            <a:r>
              <a:rPr dirty="0" sz="2950" spc="-30">
                <a:latin typeface="Calibri"/>
                <a:cs typeface="Calibri"/>
              </a:rPr>
              <a:t>Los</a:t>
            </a:r>
            <a:r>
              <a:rPr dirty="0" sz="2950" spc="-135">
                <a:latin typeface="Calibri"/>
                <a:cs typeface="Calibri"/>
              </a:rPr>
              <a:t> </a:t>
            </a:r>
            <a:r>
              <a:rPr dirty="0" sz="2950" spc="-80">
                <a:latin typeface="Calibri"/>
                <a:cs typeface="Calibri"/>
              </a:rPr>
              <a:t>resultados</a:t>
            </a:r>
            <a:r>
              <a:rPr dirty="0" sz="2950">
                <a:latin typeface="Calibri"/>
                <a:cs typeface="Calibri"/>
              </a:rPr>
              <a:t> </a:t>
            </a:r>
            <a:r>
              <a:rPr dirty="0" sz="2950" spc="-95">
                <a:latin typeface="Calibri"/>
                <a:cs typeface="Calibri"/>
              </a:rPr>
              <a:t>confirman</a:t>
            </a:r>
            <a:r>
              <a:rPr dirty="0" sz="2950" spc="-35">
                <a:latin typeface="Calibri"/>
                <a:cs typeface="Calibri"/>
              </a:rPr>
              <a:t> </a:t>
            </a:r>
            <a:r>
              <a:rPr dirty="0" sz="2950">
                <a:latin typeface="Calibri"/>
                <a:cs typeface="Calibri"/>
              </a:rPr>
              <a:t>la</a:t>
            </a:r>
            <a:r>
              <a:rPr dirty="0" sz="2950" spc="-165">
                <a:latin typeface="Calibri"/>
                <a:cs typeface="Calibri"/>
              </a:rPr>
              <a:t> </a:t>
            </a:r>
            <a:r>
              <a:rPr dirty="0" sz="2950" spc="-75">
                <a:latin typeface="Calibri"/>
                <a:cs typeface="Calibri"/>
              </a:rPr>
              <a:t>idoneidad</a:t>
            </a:r>
            <a:r>
              <a:rPr dirty="0" sz="2950" spc="-45">
                <a:latin typeface="Calibri"/>
                <a:cs typeface="Calibri"/>
              </a:rPr>
              <a:t> </a:t>
            </a:r>
            <a:r>
              <a:rPr dirty="0" sz="2950" spc="-70">
                <a:latin typeface="Calibri"/>
                <a:cs typeface="Calibri"/>
              </a:rPr>
              <a:t>de</a:t>
            </a:r>
            <a:r>
              <a:rPr dirty="0" sz="2950" spc="-245">
                <a:latin typeface="Calibri"/>
                <a:cs typeface="Calibri"/>
              </a:rPr>
              <a:t> </a:t>
            </a:r>
            <a:r>
              <a:rPr dirty="0" sz="2950" spc="-25">
                <a:latin typeface="Calibri"/>
                <a:cs typeface="Calibri"/>
              </a:rPr>
              <a:t>íos </a:t>
            </a:r>
            <a:r>
              <a:rPr dirty="0" sz="2950" spc="-110">
                <a:latin typeface="Calibri"/>
                <a:cs typeface="Calibri"/>
              </a:rPr>
              <a:t>enfoques</a:t>
            </a:r>
            <a:r>
              <a:rPr dirty="0" sz="2950" spc="-65">
                <a:latin typeface="Calibri"/>
                <a:cs typeface="Calibri"/>
              </a:rPr>
              <a:t> basados</a:t>
            </a:r>
            <a:r>
              <a:rPr dirty="0" sz="2950" spc="-105">
                <a:latin typeface="Calibri"/>
                <a:cs typeface="Calibri"/>
              </a:rPr>
              <a:t> </a:t>
            </a:r>
            <a:r>
              <a:rPr dirty="0" sz="2950" spc="-130">
                <a:latin typeface="Calibri"/>
                <a:cs typeface="Calibri"/>
              </a:rPr>
              <a:t>en</a:t>
            </a:r>
            <a:r>
              <a:rPr dirty="0" sz="2950" spc="-145">
                <a:latin typeface="Calibri"/>
                <a:cs typeface="Calibri"/>
              </a:rPr>
              <a:t> </a:t>
            </a:r>
            <a:r>
              <a:rPr dirty="0" sz="2950" spc="-85">
                <a:latin typeface="Calibri"/>
                <a:cs typeface="Calibri"/>
              </a:rPr>
              <a:t>conocimiento</a:t>
            </a:r>
            <a:r>
              <a:rPr dirty="0" sz="2950" spc="5">
                <a:latin typeface="Calibri"/>
                <a:cs typeface="Calibri"/>
              </a:rPr>
              <a:t> </a:t>
            </a:r>
            <a:r>
              <a:rPr dirty="0" sz="2950" spc="-100">
                <a:latin typeface="Calibri"/>
                <a:cs typeface="Calibri"/>
              </a:rPr>
              <a:t>para</a:t>
            </a:r>
            <a:r>
              <a:rPr dirty="0" sz="2950" spc="-120">
                <a:latin typeface="Calibri"/>
                <a:cs typeface="Calibri"/>
              </a:rPr>
              <a:t> </a:t>
            </a:r>
            <a:r>
              <a:rPr dirty="0" sz="2950">
                <a:latin typeface="Calibri"/>
                <a:cs typeface="Calibri"/>
              </a:rPr>
              <a:t>el</a:t>
            </a:r>
            <a:r>
              <a:rPr dirty="0" sz="2950" spc="-310">
                <a:latin typeface="Calibri"/>
                <a:cs typeface="Calibri"/>
              </a:rPr>
              <a:t> </a:t>
            </a:r>
            <a:r>
              <a:rPr dirty="0" sz="2950" spc="-85">
                <a:latin typeface="Calibri"/>
                <a:cs typeface="Calibri"/>
              </a:rPr>
              <a:t>dominio</a:t>
            </a:r>
            <a:r>
              <a:rPr dirty="0" sz="2950" spc="45">
                <a:latin typeface="Calibri"/>
                <a:cs typeface="Calibri"/>
              </a:rPr>
              <a:t> </a:t>
            </a:r>
            <a:r>
              <a:rPr dirty="0" sz="2950" spc="-114">
                <a:latin typeface="Calibri"/>
                <a:cs typeface="Calibri"/>
              </a:rPr>
              <a:t>de</a:t>
            </a:r>
            <a:r>
              <a:rPr dirty="0" sz="2950" spc="-160">
                <a:latin typeface="Calibri"/>
                <a:cs typeface="Calibri"/>
              </a:rPr>
              <a:t> </a:t>
            </a:r>
            <a:r>
              <a:rPr dirty="0" sz="2950">
                <a:latin typeface="Calibri"/>
                <a:cs typeface="Calibri"/>
              </a:rPr>
              <a:t>la</a:t>
            </a:r>
            <a:r>
              <a:rPr dirty="0" sz="2950" spc="-185">
                <a:latin typeface="Calibri"/>
                <a:cs typeface="Calibri"/>
              </a:rPr>
              <a:t> </a:t>
            </a:r>
            <a:r>
              <a:rPr dirty="0" sz="2950" spc="-90">
                <a:latin typeface="Calibri"/>
                <a:cs typeface="Calibri"/>
              </a:rPr>
              <a:t>recomendación</a:t>
            </a:r>
            <a:r>
              <a:rPr dirty="0" sz="2950" spc="90">
                <a:latin typeface="Calibri"/>
                <a:cs typeface="Calibri"/>
              </a:rPr>
              <a:t> </a:t>
            </a:r>
            <a:r>
              <a:rPr dirty="0" sz="2950" spc="-70">
                <a:latin typeface="Calibri"/>
                <a:cs typeface="Calibri"/>
              </a:rPr>
              <a:t>de</a:t>
            </a:r>
            <a:r>
              <a:rPr dirty="0" sz="2950" spc="-254">
                <a:latin typeface="Calibri"/>
                <a:cs typeface="Calibri"/>
              </a:rPr>
              <a:t> </a:t>
            </a:r>
            <a:r>
              <a:rPr dirty="0" sz="2950" spc="-10">
                <a:latin typeface="Calibri"/>
                <a:cs typeface="Calibri"/>
              </a:rPr>
              <a:t>libros.</a:t>
            </a:r>
            <a:endParaRPr sz="295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1839578" y="8149166"/>
            <a:ext cx="3660140" cy="1181100"/>
          </a:xfrm>
          <a:prstGeom prst="rect">
            <a:avLst/>
          </a:prstGeom>
        </p:spPr>
        <p:txBody>
          <a:bodyPr wrap="square" lIns="0" tIns="80010" rIns="0" bIns="0" rtlCol="0" vert="horz">
            <a:spAutoFit/>
          </a:bodyPr>
          <a:lstStyle/>
          <a:p>
            <a:pPr marL="19685">
              <a:lnSpc>
                <a:spcPct val="100000"/>
              </a:lnSpc>
              <a:spcBef>
                <a:spcPts val="630"/>
              </a:spcBef>
            </a:pPr>
            <a:r>
              <a:rPr dirty="0" sz="2050" spc="-80">
                <a:latin typeface="Calibri"/>
                <a:cs typeface="Calibri"/>
              </a:rPr>
              <a:t>Titulo:</a:t>
            </a:r>
            <a:r>
              <a:rPr dirty="0" sz="2050" spc="-75">
                <a:latin typeface="Calibri"/>
                <a:cs typeface="Calibri"/>
              </a:rPr>
              <a:t> </a:t>
            </a:r>
            <a:r>
              <a:rPr dirty="0" sz="2050" spc="-10">
                <a:latin typeface="Calibri"/>
                <a:cs typeface="Calibri"/>
              </a:rPr>
              <a:t>Conclusiones</a:t>
            </a:r>
            <a:endParaRPr sz="2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dirty="0" sz="2050" spc="-95">
                <a:latin typeface="Calibri"/>
                <a:cs typeface="Calibri"/>
              </a:rPr>
              <a:t>Proyecto:</a:t>
            </a:r>
            <a:r>
              <a:rPr dirty="0" sz="2050" spc="60">
                <a:latin typeface="Calibri"/>
                <a:cs typeface="Calibri"/>
              </a:rPr>
              <a:t> </a:t>
            </a:r>
            <a:r>
              <a:rPr dirty="0" sz="2050" spc="-80">
                <a:latin typeface="Calibri"/>
                <a:cs typeface="Calibri"/>
              </a:rPr>
              <a:t>Sistema</a:t>
            </a:r>
            <a:r>
              <a:rPr dirty="0" sz="2050" spc="-5">
                <a:latin typeface="Calibri"/>
                <a:cs typeface="Calibri"/>
              </a:rPr>
              <a:t> </a:t>
            </a:r>
            <a:r>
              <a:rPr dirty="0" sz="2050" spc="-95">
                <a:latin typeface="Calibri"/>
                <a:cs typeface="Calibri"/>
              </a:rPr>
              <a:t>de</a:t>
            </a:r>
            <a:r>
              <a:rPr dirty="0" sz="2050" spc="-180">
                <a:latin typeface="Calibri"/>
                <a:cs typeface="Calibri"/>
              </a:rPr>
              <a:t> </a:t>
            </a:r>
            <a:r>
              <a:rPr dirty="0" sz="2050" spc="-85">
                <a:latin typeface="Calibri"/>
                <a:cs typeface="Calibri"/>
              </a:rPr>
              <a:t>Recomendación</a:t>
            </a:r>
            <a:endParaRPr sz="2050">
              <a:latin typeface="Calibri"/>
              <a:cs typeface="Calibri"/>
            </a:endParaRPr>
          </a:p>
          <a:p>
            <a:pPr marL="1851025">
              <a:lnSpc>
                <a:spcPct val="100000"/>
              </a:lnSpc>
              <a:spcBef>
                <a:spcPts val="640"/>
              </a:spcBef>
            </a:pPr>
            <a:r>
              <a:rPr dirty="0" sz="2050" spc="-70">
                <a:latin typeface="Calibri"/>
                <a:cs typeface="Calibri"/>
              </a:rPr>
              <a:t>Color:</a:t>
            </a:r>
            <a:r>
              <a:rPr dirty="0" sz="2050" spc="-20">
                <a:latin typeface="Calibri"/>
                <a:cs typeface="Calibri"/>
              </a:rPr>
              <a:t> </a:t>
            </a:r>
            <a:r>
              <a:rPr dirty="0" sz="2050" spc="-35">
                <a:latin typeface="Calibri"/>
                <a:cs typeface="Calibri"/>
              </a:rPr>
              <a:t>ff333333</a:t>
            </a:r>
            <a:endParaRPr sz="2050">
              <a:latin typeface="Calibri"/>
              <a:cs typeface="Calibri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5522930" y="8987366"/>
            <a:ext cx="839469" cy="3429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050" spc="-60">
                <a:latin typeface="Calibri"/>
                <a:cs typeface="Calibri"/>
              </a:rPr>
              <a:t>Slides:</a:t>
            </a:r>
            <a:r>
              <a:rPr dirty="0" sz="2050" spc="-5">
                <a:latin typeface="Calibri"/>
                <a:cs typeface="Calibri"/>
              </a:rPr>
              <a:t> </a:t>
            </a:r>
            <a:r>
              <a:rPr dirty="0" sz="2050" spc="-60">
                <a:latin typeface="Calibri"/>
                <a:cs typeface="Calibri"/>
              </a:rPr>
              <a:t>4</a:t>
            </a:r>
            <a:endParaRPr sz="2050">
              <a:latin typeface="Calibri"/>
              <a:cs typeface="Calibri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6107677" y="9413522"/>
            <a:ext cx="1237615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>
                <a:latin typeface="Calibri"/>
                <a:cs typeface="Calibri"/>
              </a:rPr>
              <a:t>G</a:t>
            </a:r>
            <a:r>
              <a:rPr dirty="0" sz="1500" spc="100">
                <a:latin typeface="Calibri"/>
                <a:cs typeface="Calibri"/>
              </a:rPr>
              <a:t>  </a:t>
            </a:r>
            <a:r>
              <a:rPr dirty="0" sz="1500" spc="-25">
                <a:latin typeface="Calibri"/>
                <a:cs typeface="Calibri"/>
              </a:rPr>
              <a:t>NotebookLM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5300" y="7112000"/>
            <a:ext cx="2298700" cy="18542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57400" y="4927600"/>
            <a:ext cx="1714500" cy="18288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32000" y="2717800"/>
            <a:ext cx="1790700" cy="18542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24382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dirty="0" spc="45"/>
              <a:t>Trabajo</a:t>
            </a:r>
            <a:r>
              <a:rPr dirty="0" spc="140"/>
              <a:t> </a:t>
            </a:r>
            <a:r>
              <a:rPr dirty="0">
                <a:solidFill>
                  <a:srgbClr val="313131"/>
                </a:solidFill>
              </a:rPr>
              <a:t>Futuro</a:t>
            </a:r>
            <a:r>
              <a:rPr dirty="0" spc="225">
                <a:solidFill>
                  <a:srgbClr val="313131"/>
                </a:solidFill>
              </a:rPr>
              <a:t> </a:t>
            </a:r>
            <a:r>
              <a:rPr dirty="0">
                <a:solidFill>
                  <a:srgbClr val="3B3B3B"/>
                </a:solidFill>
              </a:rPr>
              <a:t>y</a:t>
            </a:r>
            <a:r>
              <a:rPr dirty="0" spc="10">
                <a:solidFill>
                  <a:srgbClr val="3B3B3B"/>
                </a:solidFill>
              </a:rPr>
              <a:t> </a:t>
            </a:r>
            <a:r>
              <a:rPr dirty="0" spc="105">
                <a:solidFill>
                  <a:srgbClr val="383838"/>
                </a:solidFill>
              </a:rPr>
              <a:t>Próximos</a:t>
            </a:r>
            <a:r>
              <a:rPr dirty="0" spc="114">
                <a:solidFill>
                  <a:srgbClr val="383838"/>
                </a:solidFill>
              </a:rPr>
              <a:t> </a:t>
            </a:r>
            <a:r>
              <a:rPr dirty="0" spc="65"/>
              <a:t>Pasos</a:t>
            </a:r>
          </a:p>
          <a:p>
            <a:pPr marL="28575" marR="5080" indent="-14604">
              <a:lnSpc>
                <a:spcPts val="3100"/>
              </a:lnSpc>
              <a:spcBef>
                <a:spcPts val="1130"/>
              </a:spcBef>
            </a:pPr>
            <a:r>
              <a:rPr dirty="0" sz="3100" spc="-105">
                <a:solidFill>
                  <a:srgbClr val="000000"/>
                </a:solidFill>
                <a:latin typeface="Calibri"/>
                <a:cs typeface="Calibri"/>
              </a:rPr>
              <a:t>Este</a:t>
            </a:r>
            <a:r>
              <a:rPr dirty="0" sz="3100" spc="-135">
                <a:solidFill>
                  <a:srgbClr val="000000"/>
                </a:solidFill>
                <a:latin typeface="Calibri"/>
                <a:cs typeface="Calibri"/>
              </a:rPr>
              <a:t> proyecto</a:t>
            </a:r>
            <a:r>
              <a:rPr dirty="0" sz="3100" spc="-3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100" spc="-125">
                <a:solidFill>
                  <a:srgbClr val="000000"/>
                </a:solidFill>
                <a:latin typeface="Calibri"/>
                <a:cs typeface="Calibri"/>
              </a:rPr>
              <a:t>establece</a:t>
            </a:r>
            <a:r>
              <a:rPr dirty="0" sz="3100" spc="2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100" spc="-120">
                <a:solidFill>
                  <a:srgbClr val="000000"/>
                </a:solidFill>
                <a:latin typeface="Calibri"/>
                <a:cs typeface="Calibri"/>
              </a:rPr>
              <a:t>una</a:t>
            </a:r>
            <a:r>
              <a:rPr dirty="0" sz="3100" spc="-14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100" spc="-95">
                <a:solidFill>
                  <a:srgbClr val="000000"/>
                </a:solidFill>
                <a:latin typeface="Calibri"/>
                <a:cs typeface="Calibri"/>
              </a:rPr>
              <a:t>base</a:t>
            </a:r>
            <a:r>
              <a:rPr dirty="0" sz="3100" spc="-14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100" spc="-80">
                <a:solidFill>
                  <a:srgbClr val="000000"/>
                </a:solidFill>
                <a:latin typeface="Calibri"/>
                <a:cs typeface="Calibri"/>
              </a:rPr>
              <a:t>sólida</a:t>
            </a:r>
            <a:r>
              <a:rPr dirty="0" sz="3100" spc="-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100" spc="-125">
                <a:solidFill>
                  <a:srgbClr val="000000"/>
                </a:solidFill>
                <a:latin typeface="Calibri"/>
                <a:cs typeface="Calibri"/>
              </a:rPr>
              <a:t>para</a:t>
            </a:r>
            <a:r>
              <a:rPr dirty="0" sz="3100" spc="-2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100" spc="-140">
                <a:solidFill>
                  <a:srgbClr val="000000"/>
                </a:solidFill>
                <a:latin typeface="Calibri"/>
                <a:cs typeface="Calibri"/>
              </a:rPr>
              <a:t>futuras</a:t>
            </a:r>
            <a:r>
              <a:rPr dirty="0" sz="3100" spc="-5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100" spc="-125">
                <a:solidFill>
                  <a:srgbClr val="000000"/>
                </a:solidFill>
                <a:latin typeface="Calibri"/>
                <a:cs typeface="Calibri"/>
              </a:rPr>
              <a:t>mejoras</a:t>
            </a:r>
            <a:r>
              <a:rPr dirty="0" sz="3100" spc="6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100" spc="-140">
                <a:solidFill>
                  <a:srgbClr val="000000"/>
                </a:solidFill>
                <a:latin typeface="Calibri"/>
                <a:cs typeface="Calibri"/>
              </a:rPr>
              <a:t>y</a:t>
            </a:r>
            <a:r>
              <a:rPr dirty="0" sz="3100" spc="-15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100" spc="-105">
                <a:solidFill>
                  <a:srgbClr val="000000"/>
                </a:solidFill>
                <a:latin typeface="Calibri"/>
                <a:cs typeface="Calibri"/>
              </a:rPr>
              <a:t>exploraciones.</a:t>
            </a:r>
            <a:r>
              <a:rPr dirty="0" sz="3100" spc="-204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100" spc="-10">
                <a:solidFill>
                  <a:srgbClr val="000000"/>
                </a:solidFill>
                <a:latin typeface="Calibri"/>
                <a:cs typeface="Calibri"/>
              </a:rPr>
              <a:t>Las</a:t>
            </a:r>
            <a:r>
              <a:rPr dirty="0" sz="3100" spc="-18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100" spc="-105">
                <a:solidFill>
                  <a:srgbClr val="000000"/>
                </a:solidFill>
                <a:latin typeface="Calibri"/>
                <a:cs typeface="Calibri"/>
              </a:rPr>
              <a:t>siguientes</a:t>
            </a:r>
            <a:r>
              <a:rPr dirty="0" sz="3100" spc="16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100" spc="-95">
                <a:solidFill>
                  <a:srgbClr val="000000"/>
                </a:solidFill>
                <a:latin typeface="Calibri"/>
                <a:cs typeface="Calibri"/>
              </a:rPr>
              <a:t>líneas</a:t>
            </a:r>
            <a:r>
              <a:rPr dirty="0" sz="3100" spc="-14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100" spc="-25">
                <a:solidFill>
                  <a:srgbClr val="000000"/>
                </a:solidFill>
                <a:latin typeface="Calibri"/>
                <a:cs typeface="Calibri"/>
              </a:rPr>
              <a:t>de </a:t>
            </a:r>
            <a:r>
              <a:rPr dirty="0" sz="3100" spc="-130">
                <a:solidFill>
                  <a:srgbClr val="000000"/>
                </a:solidFill>
                <a:latin typeface="Calibri"/>
                <a:cs typeface="Calibri"/>
              </a:rPr>
              <a:t>trabajo</a:t>
            </a:r>
            <a:r>
              <a:rPr dirty="0" sz="3100" spc="-12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100" spc="-114">
                <a:solidFill>
                  <a:srgbClr val="000000"/>
                </a:solidFill>
                <a:latin typeface="Calibri"/>
                <a:cs typeface="Calibri"/>
              </a:rPr>
              <a:t>permitirían</a:t>
            </a:r>
            <a:r>
              <a:rPr dirty="0" sz="3100" spc="2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100" spc="-120">
                <a:solidFill>
                  <a:srgbClr val="000000"/>
                </a:solidFill>
                <a:latin typeface="Calibri"/>
                <a:cs typeface="Calibri"/>
              </a:rPr>
              <a:t>refinar</a:t>
            </a:r>
            <a:r>
              <a:rPr dirty="0" sz="3100" spc="-1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100" spc="-35">
                <a:solidFill>
                  <a:srgbClr val="000000"/>
                </a:solidFill>
                <a:latin typeface="Calibri"/>
                <a:cs typeface="Calibri"/>
              </a:rPr>
              <a:t>y</a:t>
            </a:r>
            <a:r>
              <a:rPr dirty="0" sz="3100" spc="-16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100" spc="-114">
                <a:solidFill>
                  <a:srgbClr val="000000"/>
                </a:solidFill>
                <a:latin typeface="Calibri"/>
                <a:cs typeface="Calibri"/>
              </a:rPr>
              <a:t>expandir</a:t>
            </a:r>
            <a:r>
              <a:rPr dirty="0" sz="3100" spc="6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100" spc="-155">
                <a:solidFill>
                  <a:srgbClr val="000000"/>
                </a:solidFill>
                <a:latin typeface="Calibri"/>
                <a:cs typeface="Calibri"/>
              </a:rPr>
              <a:t>aún</a:t>
            </a:r>
            <a:r>
              <a:rPr dirty="0" sz="3100" spc="-4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100" spc="-125">
                <a:solidFill>
                  <a:srgbClr val="000000"/>
                </a:solidFill>
                <a:latin typeface="Calibri"/>
                <a:cs typeface="Calibri"/>
              </a:rPr>
              <a:t>más</a:t>
            </a:r>
            <a:r>
              <a:rPr dirty="0" sz="3100" spc="-15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100" spc="-20">
                <a:solidFill>
                  <a:srgbClr val="000000"/>
                </a:solidFill>
                <a:latin typeface="Calibri"/>
                <a:cs typeface="Calibri"/>
              </a:rPr>
              <a:t>las</a:t>
            </a:r>
            <a:r>
              <a:rPr dirty="0" sz="3100" spc="-21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100" spc="-100">
                <a:solidFill>
                  <a:srgbClr val="000000"/>
                </a:solidFill>
                <a:latin typeface="Calibri"/>
                <a:cs typeface="Calibri"/>
              </a:rPr>
              <a:t>capacidades</a:t>
            </a:r>
            <a:r>
              <a:rPr dirty="0" sz="3100" spc="1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100" spc="-50">
                <a:solidFill>
                  <a:srgbClr val="000000"/>
                </a:solidFill>
                <a:latin typeface="Calibri"/>
                <a:cs typeface="Calibri"/>
              </a:rPr>
              <a:t>del</a:t>
            </a:r>
            <a:r>
              <a:rPr dirty="0" sz="3100" spc="-27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100" spc="-10">
                <a:solidFill>
                  <a:srgbClr val="000000"/>
                </a:solidFill>
                <a:latin typeface="Calibri"/>
                <a:cs typeface="Calibri"/>
              </a:rPr>
              <a:t>sistema.</a:t>
            </a:r>
            <a:endParaRPr sz="31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819549" y="2699488"/>
            <a:ext cx="11878945" cy="6355715"/>
          </a:xfrm>
          <a:prstGeom prst="rect">
            <a:avLst/>
          </a:prstGeom>
        </p:spPr>
        <p:txBody>
          <a:bodyPr wrap="square" lIns="0" tIns="62865" rIns="0" bIns="0" rtlCol="0" vert="horz">
            <a:spAutoFit/>
          </a:bodyPr>
          <a:lstStyle/>
          <a:p>
            <a:pPr marL="23495">
              <a:lnSpc>
                <a:spcPct val="100000"/>
              </a:lnSpc>
              <a:spcBef>
                <a:spcPts val="495"/>
              </a:spcBef>
            </a:pPr>
            <a:r>
              <a:rPr dirty="0" sz="3750">
                <a:latin typeface="Times New Roman"/>
                <a:cs typeface="Times New Roman"/>
              </a:rPr>
              <a:t>Refinamiento</a:t>
            </a:r>
            <a:r>
              <a:rPr dirty="0" sz="3750" spc="254">
                <a:latin typeface="Times New Roman"/>
                <a:cs typeface="Times New Roman"/>
              </a:rPr>
              <a:t> </a:t>
            </a:r>
            <a:r>
              <a:rPr dirty="0" sz="3750" spc="120">
                <a:latin typeface="Times New Roman"/>
                <a:cs typeface="Times New Roman"/>
              </a:rPr>
              <a:t>de</a:t>
            </a:r>
            <a:r>
              <a:rPr dirty="0" sz="3750" spc="-210">
                <a:latin typeface="Times New Roman"/>
                <a:cs typeface="Times New Roman"/>
              </a:rPr>
              <a:t> </a:t>
            </a:r>
            <a:r>
              <a:rPr dirty="0" sz="3750" spc="75">
                <a:latin typeface="Times New Roman"/>
                <a:cs typeface="Times New Roman"/>
              </a:rPr>
              <a:t>la</a:t>
            </a:r>
            <a:r>
              <a:rPr dirty="0" sz="3750" spc="15">
                <a:latin typeface="Times New Roman"/>
                <a:cs typeface="Times New Roman"/>
              </a:rPr>
              <a:t> </a:t>
            </a:r>
            <a:r>
              <a:rPr dirty="0" sz="3750" spc="-10">
                <a:latin typeface="Times New Roman"/>
                <a:cs typeface="Times New Roman"/>
              </a:rPr>
              <a:t>Ontología</a:t>
            </a:r>
            <a:endParaRPr sz="3750">
              <a:latin typeface="Times New Roman"/>
              <a:cs typeface="Times New Roman"/>
            </a:endParaRPr>
          </a:p>
          <a:p>
            <a:pPr marL="33020" marR="853440" indent="1270">
              <a:lnSpc>
                <a:spcPts val="3200"/>
              </a:lnSpc>
              <a:spcBef>
                <a:spcPts val="740"/>
              </a:spcBef>
            </a:pPr>
            <a:r>
              <a:rPr dirty="0" sz="2950" spc="-50">
                <a:latin typeface="Times New Roman"/>
                <a:cs typeface="Times New Roman"/>
              </a:rPr>
              <a:t>Incorporar</a:t>
            </a:r>
            <a:r>
              <a:rPr dirty="0" sz="2950" spc="-145">
                <a:latin typeface="Times New Roman"/>
                <a:cs typeface="Times New Roman"/>
              </a:rPr>
              <a:t> </a:t>
            </a:r>
            <a:r>
              <a:rPr dirty="0" sz="2950" spc="-45">
                <a:latin typeface="Times New Roman"/>
                <a:cs typeface="Times New Roman"/>
              </a:rPr>
              <a:t>nuevos</a:t>
            </a:r>
            <a:r>
              <a:rPr dirty="0" sz="2950" spc="-140">
                <a:latin typeface="Times New Roman"/>
                <a:cs typeface="Times New Roman"/>
              </a:rPr>
              <a:t> </a:t>
            </a:r>
            <a:r>
              <a:rPr dirty="0" sz="2950">
                <a:latin typeface="Times New Roman"/>
                <a:cs typeface="Times New Roman"/>
              </a:rPr>
              <a:t>géneros,</a:t>
            </a:r>
            <a:r>
              <a:rPr dirty="0" sz="2950" spc="-135">
                <a:latin typeface="Times New Roman"/>
                <a:cs typeface="Times New Roman"/>
              </a:rPr>
              <a:t> </a:t>
            </a:r>
            <a:r>
              <a:rPr dirty="0" sz="2950" spc="-60">
                <a:latin typeface="Times New Roman"/>
                <a:cs typeface="Times New Roman"/>
              </a:rPr>
              <a:t>relaciones</a:t>
            </a:r>
            <a:r>
              <a:rPr dirty="0" sz="2950" spc="-125">
                <a:latin typeface="Times New Roman"/>
                <a:cs typeface="Times New Roman"/>
              </a:rPr>
              <a:t> </a:t>
            </a:r>
            <a:r>
              <a:rPr dirty="0" sz="2950">
                <a:latin typeface="Times New Roman"/>
                <a:cs typeface="Times New Roman"/>
              </a:rPr>
              <a:t>semánticas</a:t>
            </a:r>
            <a:r>
              <a:rPr dirty="0" sz="2950" spc="70">
                <a:latin typeface="Times New Roman"/>
                <a:cs typeface="Times New Roman"/>
              </a:rPr>
              <a:t> </a:t>
            </a:r>
            <a:r>
              <a:rPr dirty="0" sz="2950" spc="-105">
                <a:latin typeface="Times New Roman"/>
                <a:cs typeface="Times New Roman"/>
              </a:rPr>
              <a:t>más</a:t>
            </a:r>
            <a:r>
              <a:rPr dirty="0" sz="2950" spc="-145">
                <a:latin typeface="Times New Roman"/>
                <a:cs typeface="Times New Roman"/>
              </a:rPr>
              <a:t> </a:t>
            </a:r>
            <a:r>
              <a:rPr dirty="0" sz="2950" spc="-30">
                <a:latin typeface="Times New Roman"/>
                <a:cs typeface="Times New Roman"/>
              </a:rPr>
              <a:t>complejas</a:t>
            </a:r>
            <a:r>
              <a:rPr dirty="0" sz="2950" spc="-5">
                <a:latin typeface="Times New Roman"/>
                <a:cs typeface="Times New Roman"/>
              </a:rPr>
              <a:t> </a:t>
            </a:r>
            <a:r>
              <a:rPr dirty="0" sz="2950" spc="-295">
                <a:latin typeface="Times New Roman"/>
                <a:cs typeface="Times New Roman"/>
              </a:rPr>
              <a:t>y</a:t>
            </a:r>
            <a:r>
              <a:rPr dirty="0" sz="2950" spc="60">
                <a:latin typeface="Times New Roman"/>
                <a:cs typeface="Times New Roman"/>
              </a:rPr>
              <a:t> </a:t>
            </a:r>
            <a:r>
              <a:rPr dirty="0" sz="2950" spc="-10">
                <a:latin typeface="Times New Roman"/>
                <a:cs typeface="Times New Roman"/>
              </a:rPr>
              <a:t>mejorar </a:t>
            </a:r>
            <a:r>
              <a:rPr dirty="0" sz="2950" spc="-45">
                <a:latin typeface="Times New Roman"/>
                <a:cs typeface="Times New Roman"/>
              </a:rPr>
              <a:t>los</a:t>
            </a:r>
            <a:r>
              <a:rPr dirty="0" sz="2950" spc="-140">
                <a:latin typeface="Times New Roman"/>
                <a:cs typeface="Times New Roman"/>
              </a:rPr>
              <a:t> </a:t>
            </a:r>
            <a:r>
              <a:rPr dirty="0" sz="2950" spc="-60">
                <a:latin typeface="Times New Roman"/>
                <a:cs typeface="Times New Roman"/>
              </a:rPr>
              <a:t>mecanismos</a:t>
            </a:r>
            <a:r>
              <a:rPr dirty="0" sz="2950" spc="-70">
                <a:latin typeface="Times New Roman"/>
                <a:cs typeface="Times New Roman"/>
              </a:rPr>
              <a:t> </a:t>
            </a:r>
            <a:r>
              <a:rPr dirty="0" sz="2950">
                <a:latin typeface="Times New Roman"/>
                <a:cs typeface="Times New Roman"/>
              </a:rPr>
              <a:t>de</a:t>
            </a:r>
            <a:r>
              <a:rPr dirty="0" sz="2950" spc="-165">
                <a:latin typeface="Times New Roman"/>
                <a:cs typeface="Times New Roman"/>
              </a:rPr>
              <a:t> </a:t>
            </a:r>
            <a:r>
              <a:rPr dirty="0" sz="2950" spc="-65">
                <a:latin typeface="Times New Roman"/>
                <a:cs typeface="Times New Roman"/>
              </a:rPr>
              <a:t>actualización</a:t>
            </a:r>
            <a:r>
              <a:rPr dirty="0" sz="2950" spc="165">
                <a:latin typeface="Times New Roman"/>
                <a:cs typeface="Times New Roman"/>
              </a:rPr>
              <a:t> </a:t>
            </a:r>
            <a:r>
              <a:rPr dirty="0" sz="2950">
                <a:latin typeface="Times New Roman"/>
                <a:cs typeface="Times New Roman"/>
              </a:rPr>
              <a:t>de</a:t>
            </a:r>
            <a:r>
              <a:rPr dirty="0" sz="2950" spc="-190">
                <a:latin typeface="Times New Roman"/>
                <a:cs typeface="Times New Roman"/>
              </a:rPr>
              <a:t> </a:t>
            </a:r>
            <a:r>
              <a:rPr dirty="0" sz="2950">
                <a:latin typeface="Times New Roman"/>
                <a:cs typeface="Times New Roman"/>
              </a:rPr>
              <a:t>datos</a:t>
            </a:r>
            <a:r>
              <a:rPr dirty="0" sz="2950" spc="-50">
                <a:latin typeface="Times New Roman"/>
                <a:cs typeface="Times New Roman"/>
              </a:rPr>
              <a:t> </a:t>
            </a:r>
            <a:r>
              <a:rPr dirty="0" sz="2950" spc="-40">
                <a:latin typeface="Times New Roman"/>
                <a:cs typeface="Times New Roman"/>
              </a:rPr>
              <a:t>para</a:t>
            </a:r>
            <a:r>
              <a:rPr dirty="0" sz="2950" spc="114">
                <a:latin typeface="Times New Roman"/>
                <a:cs typeface="Times New Roman"/>
              </a:rPr>
              <a:t> </a:t>
            </a:r>
            <a:r>
              <a:rPr dirty="0" sz="2950" spc="-55">
                <a:latin typeface="Times New Roman"/>
                <a:cs typeface="Times New Roman"/>
              </a:rPr>
              <a:t>reducir</a:t>
            </a:r>
            <a:r>
              <a:rPr dirty="0" sz="2950" spc="-80">
                <a:latin typeface="Times New Roman"/>
                <a:cs typeface="Times New Roman"/>
              </a:rPr>
              <a:t> </a:t>
            </a:r>
            <a:r>
              <a:rPr dirty="0" sz="2950" spc="-114">
                <a:latin typeface="Times New Roman"/>
                <a:cs typeface="Times New Roman"/>
              </a:rPr>
              <a:t>la</a:t>
            </a:r>
            <a:r>
              <a:rPr dirty="0" sz="2950" spc="-15">
                <a:latin typeface="Times New Roman"/>
                <a:cs typeface="Times New Roman"/>
              </a:rPr>
              <a:t> </a:t>
            </a:r>
            <a:r>
              <a:rPr dirty="0" sz="2950" spc="-10">
                <a:latin typeface="Times New Roman"/>
                <a:cs typeface="Times New Roman"/>
              </a:rPr>
              <a:t>latencia.</a:t>
            </a:r>
            <a:endParaRPr sz="29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315"/>
              </a:spcBef>
            </a:pPr>
            <a:endParaRPr sz="2950">
              <a:latin typeface="Times New Roman"/>
              <a:cs typeface="Times New Roman"/>
            </a:endParaRPr>
          </a:p>
          <a:p>
            <a:pPr marL="21590">
              <a:lnSpc>
                <a:spcPct val="100000"/>
              </a:lnSpc>
            </a:pPr>
            <a:r>
              <a:rPr dirty="0" sz="3750">
                <a:latin typeface="Times New Roman"/>
                <a:cs typeface="Times New Roman"/>
              </a:rPr>
              <a:t>Exploración</a:t>
            </a:r>
            <a:r>
              <a:rPr dirty="0" sz="3750" spc="185">
                <a:latin typeface="Times New Roman"/>
                <a:cs typeface="Times New Roman"/>
              </a:rPr>
              <a:t> </a:t>
            </a:r>
            <a:r>
              <a:rPr dirty="0" sz="3750" spc="120">
                <a:latin typeface="Times New Roman"/>
                <a:cs typeface="Times New Roman"/>
              </a:rPr>
              <a:t>de</a:t>
            </a:r>
            <a:r>
              <a:rPr dirty="0" sz="3750" spc="-45">
                <a:latin typeface="Times New Roman"/>
                <a:cs typeface="Times New Roman"/>
              </a:rPr>
              <a:t> </a:t>
            </a:r>
            <a:r>
              <a:rPr dirty="0" sz="3750">
                <a:latin typeface="Times New Roman"/>
                <a:cs typeface="Times New Roman"/>
              </a:rPr>
              <a:t>Enfoques</a:t>
            </a:r>
            <a:r>
              <a:rPr dirty="0" sz="3750" spc="250">
                <a:latin typeface="Times New Roman"/>
                <a:cs typeface="Times New Roman"/>
              </a:rPr>
              <a:t> </a:t>
            </a:r>
            <a:r>
              <a:rPr dirty="0" sz="3750" spc="-10">
                <a:latin typeface="Times New Roman"/>
                <a:cs typeface="Times New Roman"/>
              </a:rPr>
              <a:t>Híbridos</a:t>
            </a:r>
            <a:endParaRPr sz="3750">
              <a:latin typeface="Times New Roman"/>
              <a:cs typeface="Times New Roman"/>
            </a:endParaRPr>
          </a:p>
          <a:p>
            <a:pPr marL="14604" marR="655320" indent="-1905">
              <a:lnSpc>
                <a:spcPts val="3100"/>
              </a:lnSpc>
              <a:spcBef>
                <a:spcPts val="869"/>
              </a:spcBef>
            </a:pPr>
            <a:r>
              <a:rPr dirty="0" sz="3100" spc="-165">
                <a:latin typeface="Calibri"/>
                <a:cs typeface="Calibri"/>
              </a:rPr>
              <a:t>Combinar</a:t>
            </a:r>
            <a:r>
              <a:rPr dirty="0" sz="3100" spc="-45">
                <a:latin typeface="Calibri"/>
                <a:cs typeface="Calibri"/>
              </a:rPr>
              <a:t> </a:t>
            </a:r>
            <a:r>
              <a:rPr dirty="0" sz="3100" spc="-150">
                <a:latin typeface="Calibri"/>
                <a:cs typeface="Calibri"/>
              </a:rPr>
              <a:t>eí</a:t>
            </a:r>
            <a:r>
              <a:rPr dirty="0" sz="3100" spc="-70">
                <a:latin typeface="Calibri"/>
                <a:cs typeface="Calibri"/>
              </a:rPr>
              <a:t> </a:t>
            </a:r>
            <a:r>
              <a:rPr dirty="0" sz="3100" spc="-175">
                <a:latin typeface="Calibri"/>
                <a:cs typeface="Calibri"/>
              </a:rPr>
              <a:t>razonamiento</a:t>
            </a:r>
            <a:r>
              <a:rPr dirty="0" sz="3100" spc="85">
                <a:latin typeface="Calibri"/>
                <a:cs typeface="Calibri"/>
              </a:rPr>
              <a:t> </a:t>
            </a:r>
            <a:r>
              <a:rPr dirty="0" sz="3100" spc="-155">
                <a:latin typeface="Calibri"/>
                <a:cs typeface="Calibri"/>
              </a:rPr>
              <a:t>ontológico</a:t>
            </a:r>
            <a:r>
              <a:rPr dirty="0" sz="3100" spc="80">
                <a:latin typeface="Calibri"/>
                <a:cs typeface="Calibri"/>
              </a:rPr>
              <a:t> </a:t>
            </a:r>
            <a:r>
              <a:rPr dirty="0" sz="3100" spc="-195">
                <a:latin typeface="Calibri"/>
                <a:cs typeface="Calibri"/>
              </a:rPr>
              <a:t>con</a:t>
            </a:r>
            <a:r>
              <a:rPr dirty="0" sz="3100" spc="-70">
                <a:latin typeface="Calibri"/>
                <a:cs typeface="Calibri"/>
              </a:rPr>
              <a:t> </a:t>
            </a:r>
            <a:r>
              <a:rPr dirty="0" sz="3100" spc="-140">
                <a:latin typeface="Calibri"/>
                <a:cs typeface="Calibri"/>
              </a:rPr>
              <a:t>técnicas</a:t>
            </a:r>
            <a:r>
              <a:rPr dirty="0" sz="3100" spc="-90">
                <a:latin typeface="Calibri"/>
                <a:cs typeface="Calibri"/>
              </a:rPr>
              <a:t> </a:t>
            </a:r>
            <a:r>
              <a:rPr dirty="0" sz="3100" spc="-150">
                <a:latin typeface="Calibri"/>
                <a:cs typeface="Calibri"/>
              </a:rPr>
              <a:t>de</a:t>
            </a:r>
            <a:r>
              <a:rPr dirty="0" sz="3100" spc="-204">
                <a:latin typeface="Calibri"/>
                <a:cs typeface="Calibri"/>
              </a:rPr>
              <a:t> </a:t>
            </a:r>
            <a:r>
              <a:rPr dirty="0" sz="3100" spc="-155">
                <a:latin typeface="Calibri"/>
                <a:cs typeface="Calibri"/>
              </a:rPr>
              <a:t>aprendizaje</a:t>
            </a:r>
            <a:r>
              <a:rPr dirty="0" sz="3100" spc="125">
                <a:latin typeface="Calibri"/>
                <a:cs typeface="Calibri"/>
              </a:rPr>
              <a:t> </a:t>
            </a:r>
            <a:r>
              <a:rPr dirty="0" sz="3100" spc="-95">
                <a:latin typeface="Calibri"/>
                <a:cs typeface="Calibri"/>
              </a:rPr>
              <a:t>automático </a:t>
            </a:r>
            <a:r>
              <a:rPr dirty="0" sz="3100" spc="-165">
                <a:latin typeface="Calibri"/>
                <a:cs typeface="Calibri"/>
              </a:rPr>
              <a:t>para</a:t>
            </a:r>
            <a:r>
              <a:rPr dirty="0" sz="3100" spc="-70">
                <a:latin typeface="Calibri"/>
                <a:cs typeface="Calibri"/>
              </a:rPr>
              <a:t> </a:t>
            </a:r>
            <a:r>
              <a:rPr dirty="0" sz="3100" spc="-170">
                <a:latin typeface="Calibri"/>
                <a:cs typeface="Calibri"/>
              </a:rPr>
              <a:t>capturar</a:t>
            </a:r>
            <a:r>
              <a:rPr dirty="0" sz="3100" spc="30">
                <a:latin typeface="Calibri"/>
                <a:cs typeface="Calibri"/>
              </a:rPr>
              <a:t> </a:t>
            </a:r>
            <a:r>
              <a:rPr dirty="0" sz="3100" spc="-135">
                <a:latin typeface="Calibri"/>
                <a:cs typeface="Calibri"/>
              </a:rPr>
              <a:t>similitudes</a:t>
            </a:r>
            <a:r>
              <a:rPr dirty="0" sz="3100">
                <a:latin typeface="Calibri"/>
                <a:cs typeface="Calibri"/>
              </a:rPr>
              <a:t> </a:t>
            </a:r>
            <a:r>
              <a:rPr dirty="0" sz="3100" spc="-155">
                <a:latin typeface="Calibri"/>
                <a:cs typeface="Calibri"/>
              </a:rPr>
              <a:t>no</a:t>
            </a:r>
            <a:r>
              <a:rPr dirty="0" sz="3100" spc="-180">
                <a:latin typeface="Calibri"/>
                <a:cs typeface="Calibri"/>
              </a:rPr>
              <a:t> </a:t>
            </a:r>
            <a:r>
              <a:rPr dirty="0" sz="3100" spc="-125">
                <a:latin typeface="Calibri"/>
                <a:cs typeface="Calibri"/>
              </a:rPr>
              <a:t>explícitas</a:t>
            </a:r>
            <a:r>
              <a:rPr dirty="0" sz="3100" spc="15">
                <a:latin typeface="Calibri"/>
                <a:cs typeface="Calibri"/>
              </a:rPr>
              <a:t> </a:t>
            </a:r>
            <a:r>
              <a:rPr dirty="0" sz="3100" spc="-35">
                <a:latin typeface="Calibri"/>
                <a:cs typeface="Calibri"/>
              </a:rPr>
              <a:t>y</a:t>
            </a:r>
            <a:r>
              <a:rPr dirty="0" sz="3100" spc="-229">
                <a:latin typeface="Calibri"/>
                <a:cs typeface="Calibri"/>
              </a:rPr>
              <a:t> </a:t>
            </a:r>
            <a:r>
              <a:rPr dirty="0" sz="3100" spc="-185">
                <a:latin typeface="Calibri"/>
                <a:cs typeface="Calibri"/>
              </a:rPr>
              <a:t>mejorar</a:t>
            </a:r>
            <a:r>
              <a:rPr dirty="0" sz="3100" spc="-80">
                <a:latin typeface="Calibri"/>
                <a:cs typeface="Calibri"/>
              </a:rPr>
              <a:t> </a:t>
            </a:r>
            <a:r>
              <a:rPr dirty="0" sz="3100" spc="-155">
                <a:latin typeface="Calibri"/>
                <a:cs typeface="Calibri"/>
              </a:rPr>
              <a:t>aún</a:t>
            </a:r>
            <a:r>
              <a:rPr dirty="0" sz="3100" spc="-114">
                <a:latin typeface="Calibri"/>
                <a:cs typeface="Calibri"/>
              </a:rPr>
              <a:t> </a:t>
            </a:r>
            <a:r>
              <a:rPr dirty="0" sz="3100" spc="-160">
                <a:latin typeface="Calibri"/>
                <a:cs typeface="Calibri"/>
              </a:rPr>
              <a:t>más</a:t>
            </a:r>
            <a:r>
              <a:rPr dirty="0" sz="3100" spc="-120">
                <a:latin typeface="Calibri"/>
                <a:cs typeface="Calibri"/>
              </a:rPr>
              <a:t> </a:t>
            </a:r>
            <a:r>
              <a:rPr dirty="0" sz="3100" spc="-55">
                <a:latin typeface="Calibri"/>
                <a:cs typeface="Calibri"/>
              </a:rPr>
              <a:t>la</a:t>
            </a:r>
            <a:r>
              <a:rPr dirty="0" sz="3100" spc="-195">
                <a:latin typeface="Calibri"/>
                <a:cs typeface="Calibri"/>
              </a:rPr>
              <a:t> </a:t>
            </a:r>
            <a:r>
              <a:rPr dirty="0" sz="3100" spc="-10">
                <a:latin typeface="Calibri"/>
                <a:cs typeface="Calibri"/>
              </a:rPr>
              <a:t>diversidad.</a:t>
            </a:r>
            <a:endParaRPr sz="3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45"/>
              </a:spcBef>
            </a:pPr>
            <a:endParaRPr sz="3100">
              <a:latin typeface="Calibri"/>
              <a:cs typeface="Calibri"/>
            </a:endParaRPr>
          </a:p>
          <a:p>
            <a:pPr marL="14604">
              <a:lnSpc>
                <a:spcPct val="100000"/>
              </a:lnSpc>
            </a:pPr>
            <a:r>
              <a:rPr dirty="0" sz="3750">
                <a:latin typeface="Times New Roman"/>
                <a:cs typeface="Times New Roman"/>
              </a:rPr>
              <a:t>Validación</a:t>
            </a:r>
            <a:r>
              <a:rPr dirty="0" sz="3750" spc="50">
                <a:latin typeface="Times New Roman"/>
                <a:cs typeface="Times New Roman"/>
              </a:rPr>
              <a:t> </a:t>
            </a:r>
            <a:r>
              <a:rPr dirty="0" sz="3750">
                <a:latin typeface="Times New Roman"/>
                <a:cs typeface="Times New Roman"/>
              </a:rPr>
              <a:t>con</a:t>
            </a:r>
            <a:r>
              <a:rPr dirty="0" sz="3750" spc="-40">
                <a:latin typeface="Times New Roman"/>
                <a:cs typeface="Times New Roman"/>
              </a:rPr>
              <a:t> </a:t>
            </a:r>
            <a:r>
              <a:rPr dirty="0" sz="3750">
                <a:latin typeface="Times New Roman"/>
                <a:cs typeface="Times New Roman"/>
              </a:rPr>
              <a:t>Usuarios</a:t>
            </a:r>
            <a:r>
              <a:rPr dirty="0" sz="3750" spc="-30">
                <a:latin typeface="Times New Roman"/>
                <a:cs typeface="Times New Roman"/>
              </a:rPr>
              <a:t> </a:t>
            </a:r>
            <a:r>
              <a:rPr dirty="0" sz="3750" spc="-10">
                <a:latin typeface="Times New Roman"/>
                <a:cs typeface="Times New Roman"/>
              </a:rPr>
              <a:t>Reales</a:t>
            </a:r>
            <a:endParaRPr sz="3750">
              <a:latin typeface="Times New Roman"/>
              <a:cs typeface="Times New Roman"/>
            </a:endParaRPr>
          </a:p>
          <a:p>
            <a:pPr marL="16510" marR="825500" indent="-4445">
              <a:lnSpc>
                <a:spcPts val="3100"/>
              </a:lnSpc>
              <a:spcBef>
                <a:spcPts val="869"/>
              </a:spcBef>
            </a:pPr>
            <a:r>
              <a:rPr dirty="0" sz="2950" spc="-85">
                <a:latin typeface="Calibri"/>
                <a:cs typeface="Calibri"/>
              </a:rPr>
              <a:t>Realizar</a:t>
            </a:r>
            <a:r>
              <a:rPr dirty="0" sz="2950" spc="-95">
                <a:latin typeface="Calibri"/>
                <a:cs typeface="Calibri"/>
              </a:rPr>
              <a:t> </a:t>
            </a:r>
            <a:r>
              <a:rPr dirty="0" sz="2950" spc="-70">
                <a:latin typeface="Calibri"/>
                <a:cs typeface="Calibri"/>
              </a:rPr>
              <a:t>una</a:t>
            </a:r>
            <a:r>
              <a:rPr dirty="0" sz="2950" spc="-229">
                <a:latin typeface="Calibri"/>
                <a:cs typeface="Calibri"/>
              </a:rPr>
              <a:t> </a:t>
            </a:r>
            <a:r>
              <a:rPr dirty="0" sz="2950" spc="-75">
                <a:latin typeface="Calibri"/>
                <a:cs typeface="Calibri"/>
              </a:rPr>
              <a:t>evaluación</a:t>
            </a:r>
            <a:r>
              <a:rPr dirty="0" sz="2950" spc="-90">
                <a:latin typeface="Calibri"/>
                <a:cs typeface="Calibri"/>
              </a:rPr>
              <a:t> </a:t>
            </a:r>
            <a:r>
              <a:rPr dirty="0" sz="2950" spc="-105">
                <a:latin typeface="Calibri"/>
                <a:cs typeface="Calibri"/>
              </a:rPr>
              <a:t>formal</a:t>
            </a:r>
            <a:r>
              <a:rPr dirty="0" sz="2950" spc="-125">
                <a:latin typeface="Calibri"/>
                <a:cs typeface="Calibri"/>
              </a:rPr>
              <a:t> </a:t>
            </a:r>
            <a:r>
              <a:rPr dirty="0" sz="2950" spc="-110">
                <a:latin typeface="Calibri"/>
                <a:cs typeface="Calibri"/>
              </a:rPr>
              <a:t>con</a:t>
            </a:r>
            <a:r>
              <a:rPr dirty="0" sz="2950" spc="-105">
                <a:latin typeface="Calibri"/>
                <a:cs typeface="Calibri"/>
              </a:rPr>
              <a:t> </a:t>
            </a:r>
            <a:r>
              <a:rPr dirty="0" sz="2950" spc="-85">
                <a:latin typeface="Calibri"/>
                <a:cs typeface="Calibri"/>
              </a:rPr>
              <a:t>usuarios</a:t>
            </a:r>
            <a:r>
              <a:rPr dirty="0" sz="2950" spc="5">
                <a:latin typeface="Calibri"/>
                <a:cs typeface="Calibri"/>
              </a:rPr>
              <a:t> </a:t>
            </a:r>
            <a:r>
              <a:rPr dirty="0" sz="2950" spc="-100">
                <a:latin typeface="Calibri"/>
                <a:cs typeface="Calibri"/>
              </a:rPr>
              <a:t>para</a:t>
            </a:r>
            <a:r>
              <a:rPr dirty="0" sz="2950" spc="-204">
                <a:latin typeface="Calibri"/>
                <a:cs typeface="Calibri"/>
              </a:rPr>
              <a:t> </a:t>
            </a:r>
            <a:r>
              <a:rPr dirty="0" sz="2950" spc="-105">
                <a:latin typeface="Calibri"/>
                <a:cs typeface="Calibri"/>
              </a:rPr>
              <a:t>medir</a:t>
            </a:r>
            <a:r>
              <a:rPr dirty="0" sz="2950" spc="-60">
                <a:latin typeface="Calibri"/>
                <a:cs typeface="Calibri"/>
              </a:rPr>
              <a:t> </a:t>
            </a:r>
            <a:r>
              <a:rPr dirty="0" sz="2950">
                <a:latin typeface="Calibri"/>
                <a:cs typeface="Calibri"/>
              </a:rPr>
              <a:t>la</a:t>
            </a:r>
            <a:r>
              <a:rPr dirty="0" sz="2950" spc="-280">
                <a:latin typeface="Calibri"/>
                <a:cs typeface="Calibri"/>
              </a:rPr>
              <a:t> </a:t>
            </a:r>
            <a:r>
              <a:rPr dirty="0" sz="2950" spc="-60">
                <a:latin typeface="Calibri"/>
                <a:cs typeface="Calibri"/>
              </a:rPr>
              <a:t>utilidad,</a:t>
            </a:r>
            <a:r>
              <a:rPr dirty="0" sz="2950" spc="-105">
                <a:latin typeface="Calibri"/>
                <a:cs typeface="Calibri"/>
              </a:rPr>
              <a:t> </a:t>
            </a:r>
            <a:r>
              <a:rPr dirty="0" sz="2950" spc="-75">
                <a:latin typeface="Calibri"/>
                <a:cs typeface="Calibri"/>
              </a:rPr>
              <a:t>precisión</a:t>
            </a:r>
            <a:r>
              <a:rPr dirty="0" sz="2950" spc="140">
                <a:latin typeface="Calibri"/>
                <a:cs typeface="Calibri"/>
              </a:rPr>
              <a:t> </a:t>
            </a:r>
            <a:r>
              <a:rPr dirty="0" sz="2950" spc="-50">
                <a:latin typeface="Calibri"/>
                <a:cs typeface="Calibri"/>
              </a:rPr>
              <a:t>y </a:t>
            </a:r>
            <a:r>
              <a:rPr dirty="0" sz="2950" spc="-60">
                <a:latin typeface="Calibri"/>
                <a:cs typeface="Calibri"/>
              </a:rPr>
              <a:t>satisfacción</a:t>
            </a:r>
            <a:r>
              <a:rPr dirty="0" sz="2950" spc="75">
                <a:latin typeface="Calibri"/>
                <a:cs typeface="Calibri"/>
              </a:rPr>
              <a:t> </a:t>
            </a:r>
            <a:r>
              <a:rPr dirty="0" sz="2950" spc="-110">
                <a:latin typeface="Calibri"/>
                <a:cs typeface="Calibri"/>
              </a:rPr>
              <a:t>con</a:t>
            </a:r>
            <a:r>
              <a:rPr dirty="0" sz="2950" spc="-114">
                <a:latin typeface="Calibri"/>
                <a:cs typeface="Calibri"/>
              </a:rPr>
              <a:t> </a:t>
            </a:r>
            <a:r>
              <a:rPr dirty="0" sz="2950">
                <a:latin typeface="Calibri"/>
                <a:cs typeface="Calibri"/>
              </a:rPr>
              <a:t>las</a:t>
            </a:r>
            <a:r>
              <a:rPr dirty="0" sz="2950" spc="-150">
                <a:latin typeface="Calibri"/>
                <a:cs typeface="Calibri"/>
              </a:rPr>
              <a:t> </a:t>
            </a:r>
            <a:r>
              <a:rPr dirty="0" sz="2950" spc="-85">
                <a:latin typeface="Calibri"/>
                <a:cs typeface="Calibri"/>
              </a:rPr>
              <a:t>recomendaciones</a:t>
            </a:r>
            <a:r>
              <a:rPr dirty="0" sz="2950" spc="-275">
                <a:latin typeface="Calibri"/>
                <a:cs typeface="Calibri"/>
              </a:rPr>
              <a:t> </a:t>
            </a:r>
            <a:r>
              <a:rPr dirty="0" sz="2950" spc="-100">
                <a:latin typeface="Calibri"/>
                <a:cs typeface="Calibri"/>
              </a:rPr>
              <a:t>generadas</a:t>
            </a:r>
            <a:r>
              <a:rPr dirty="0" sz="2950" spc="15">
                <a:latin typeface="Calibri"/>
                <a:cs typeface="Calibri"/>
              </a:rPr>
              <a:t> </a:t>
            </a:r>
            <a:r>
              <a:rPr dirty="0" sz="2950" spc="-60">
                <a:latin typeface="Calibri"/>
                <a:cs typeface="Calibri"/>
              </a:rPr>
              <a:t>por</a:t>
            </a:r>
            <a:r>
              <a:rPr dirty="0" sz="2950" spc="-155">
                <a:latin typeface="Calibri"/>
                <a:cs typeface="Calibri"/>
              </a:rPr>
              <a:t> </a:t>
            </a:r>
            <a:r>
              <a:rPr dirty="0" sz="2950" spc="-30">
                <a:latin typeface="Calibri"/>
                <a:cs typeface="Calibri"/>
              </a:rPr>
              <a:t>el</a:t>
            </a:r>
            <a:r>
              <a:rPr dirty="0" sz="2950" spc="-250">
                <a:latin typeface="Calibri"/>
                <a:cs typeface="Calibri"/>
              </a:rPr>
              <a:t> </a:t>
            </a:r>
            <a:r>
              <a:rPr dirty="0" sz="2950" spc="-10">
                <a:latin typeface="Calibri"/>
                <a:cs typeface="Calibri"/>
              </a:rPr>
              <a:t>sistema.</a:t>
            </a:r>
            <a:endParaRPr sz="2950">
              <a:latin typeface="Calibri"/>
              <a:cs typeface="Calibri"/>
            </a:endParaRPr>
          </a:p>
          <a:p>
            <a:pPr marL="9462770">
              <a:lnSpc>
                <a:spcPts val="1130"/>
              </a:lnSpc>
            </a:pPr>
            <a:r>
              <a:rPr dirty="0" sz="1250" spc="-65">
                <a:latin typeface="Times New Roman"/>
                <a:cs typeface="Times New Roman"/>
              </a:rPr>
              <a:t>Título:</a:t>
            </a:r>
            <a:r>
              <a:rPr dirty="0" sz="1250" spc="-70">
                <a:latin typeface="Times New Roman"/>
                <a:cs typeface="Times New Roman"/>
              </a:rPr>
              <a:t> </a:t>
            </a:r>
            <a:r>
              <a:rPr dirty="0" sz="1250" spc="-25">
                <a:solidFill>
                  <a:srgbClr val="0F0F0F"/>
                </a:solidFill>
                <a:latin typeface="Times New Roman"/>
                <a:cs typeface="Times New Roman"/>
              </a:rPr>
              <a:t>Trabajo</a:t>
            </a:r>
            <a:r>
              <a:rPr dirty="0" sz="1250" spc="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250" spc="-40">
                <a:latin typeface="Times New Roman"/>
                <a:cs typeface="Times New Roman"/>
              </a:rPr>
              <a:t>Futuro</a:t>
            </a:r>
            <a:r>
              <a:rPr dirty="0" sz="1250" spc="-30">
                <a:latin typeface="Times New Roman"/>
                <a:cs typeface="Times New Roman"/>
              </a:rPr>
              <a:t> </a:t>
            </a:r>
            <a:r>
              <a:rPr dirty="0" sz="1250" spc="-125">
                <a:latin typeface="Times New Roman"/>
                <a:cs typeface="Times New Roman"/>
              </a:rPr>
              <a:t>y</a:t>
            </a:r>
            <a:r>
              <a:rPr dirty="0" sz="1250" spc="-30">
                <a:latin typeface="Times New Roman"/>
                <a:cs typeface="Times New Roman"/>
              </a:rPr>
              <a:t> </a:t>
            </a:r>
            <a:r>
              <a:rPr dirty="0" sz="1250" spc="-60">
                <a:latin typeface="Times New Roman"/>
                <a:cs typeface="Times New Roman"/>
              </a:rPr>
              <a:t>Próximos</a:t>
            </a:r>
            <a:r>
              <a:rPr dirty="0" sz="1250" spc="5">
                <a:latin typeface="Times New Roman"/>
                <a:cs typeface="Times New Roman"/>
              </a:rPr>
              <a:t> </a:t>
            </a:r>
            <a:r>
              <a:rPr dirty="0" sz="1250" spc="-10">
                <a:solidFill>
                  <a:srgbClr val="232323"/>
                </a:solidFill>
                <a:latin typeface="Times New Roman"/>
                <a:cs typeface="Times New Roman"/>
              </a:rPr>
              <a:t>Pasos</a:t>
            </a:r>
            <a:endParaRPr sz="1250">
              <a:latin typeface="Times New Roman"/>
              <a:cs typeface="Times New Roman"/>
            </a:endParaRPr>
          </a:p>
          <a:p>
            <a:pPr marL="9477375">
              <a:lnSpc>
                <a:spcPct val="100000"/>
              </a:lnSpc>
              <a:spcBef>
                <a:spcPts val="600"/>
              </a:spcBef>
            </a:pPr>
            <a:r>
              <a:rPr dirty="0" sz="1250" spc="-70">
                <a:latin typeface="Times New Roman"/>
                <a:cs typeface="Times New Roman"/>
              </a:rPr>
              <a:t>Proyectos</a:t>
            </a:r>
            <a:r>
              <a:rPr dirty="0" sz="1250" spc="-60">
                <a:latin typeface="Times New Roman"/>
                <a:cs typeface="Times New Roman"/>
              </a:rPr>
              <a:t> </a:t>
            </a:r>
            <a:r>
              <a:rPr dirty="0" sz="1250" spc="-25">
                <a:latin typeface="Times New Roman"/>
                <a:cs typeface="Times New Roman"/>
              </a:rPr>
              <a:t>Sistema</a:t>
            </a:r>
            <a:r>
              <a:rPr dirty="0" sz="1250" spc="5">
                <a:latin typeface="Times New Roman"/>
                <a:cs typeface="Times New Roman"/>
              </a:rPr>
              <a:t> </a:t>
            </a:r>
            <a:r>
              <a:rPr dirty="0" sz="1250">
                <a:solidFill>
                  <a:srgbClr val="111111"/>
                </a:solidFill>
                <a:latin typeface="Times New Roman"/>
                <a:cs typeface="Times New Roman"/>
              </a:rPr>
              <a:t>de</a:t>
            </a:r>
            <a:r>
              <a:rPr dirty="0" sz="1250" spc="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250" spc="-10">
                <a:latin typeface="Times New Roman"/>
                <a:cs typeface="Times New Roman"/>
              </a:rPr>
              <a:t>Recomendación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4268107" y="9054041"/>
            <a:ext cx="379095" cy="425450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17780" marR="5080" indent="-5715">
              <a:lnSpc>
                <a:spcPts val="1400"/>
              </a:lnSpc>
              <a:spcBef>
                <a:spcPts val="434"/>
              </a:spcBef>
            </a:pPr>
            <a:r>
              <a:rPr dirty="0" sz="1450" spc="-165">
                <a:solidFill>
                  <a:srgbClr val="2A2A2A"/>
                </a:solidFill>
                <a:latin typeface="Times New Roman"/>
                <a:cs typeface="Times New Roman"/>
              </a:rPr>
              <a:t>Colon</a:t>
            </a:r>
            <a:r>
              <a:rPr dirty="0" sz="1450" spc="-11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dirty="0" sz="1450" spc="-110">
                <a:solidFill>
                  <a:srgbClr val="0A0A0A"/>
                </a:solidFill>
                <a:latin typeface="Times New Roman"/>
                <a:cs typeface="Times New Roman"/>
              </a:rPr>
              <a:t>Alian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5484957" y="9054041"/>
            <a:ext cx="527685" cy="425450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12700" marR="5080" indent="1905">
              <a:lnSpc>
                <a:spcPts val="1400"/>
              </a:lnSpc>
              <a:spcBef>
                <a:spcPts val="434"/>
              </a:spcBef>
            </a:pPr>
            <a:r>
              <a:rPr dirty="0" sz="1450" spc="-10">
                <a:latin typeface="Times New Roman"/>
                <a:cs typeface="Times New Roman"/>
              </a:rPr>
              <a:t>Colon </a:t>
            </a:r>
            <a:r>
              <a:rPr dirty="0" sz="1450" spc="-150">
                <a:solidFill>
                  <a:srgbClr val="212121"/>
                </a:solidFill>
                <a:latin typeface="Times New Roman"/>
                <a:cs typeface="Times New Roman"/>
              </a:rPr>
              <a:t>s333333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6109480" y="9067800"/>
            <a:ext cx="1226820" cy="604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54025">
              <a:lnSpc>
                <a:spcPts val="1450"/>
              </a:lnSpc>
              <a:spcBef>
                <a:spcPts val="100"/>
              </a:spcBef>
            </a:pPr>
            <a:r>
              <a:rPr dirty="0" sz="1250" spc="-10">
                <a:latin typeface="Times New Roman"/>
                <a:cs typeface="Times New Roman"/>
              </a:rPr>
              <a:t>Slides.</a:t>
            </a:r>
            <a:endParaRPr sz="1250">
              <a:latin typeface="Times New Roman"/>
              <a:cs typeface="Times New Roman"/>
            </a:endParaRPr>
          </a:p>
          <a:p>
            <a:pPr marL="452755">
              <a:lnSpc>
                <a:spcPts val="1435"/>
              </a:lnSpc>
            </a:pPr>
            <a:r>
              <a:rPr dirty="0" sz="1350" spc="-50">
                <a:solidFill>
                  <a:srgbClr val="3D3D3D"/>
                </a:solidFill>
                <a:latin typeface="Times New Roman"/>
                <a:cs typeface="Times New Roman"/>
              </a:rPr>
              <a:t>S</a:t>
            </a:r>
            <a:endParaRPr sz="1350">
              <a:latin typeface="Times New Roman"/>
              <a:cs typeface="Times New Roman"/>
            </a:endParaRPr>
          </a:p>
          <a:p>
            <a:pPr algn="ctr">
              <a:lnSpc>
                <a:spcPts val="1664"/>
              </a:lnSpc>
              <a:tabLst>
                <a:tab pos="250190" algn="l"/>
              </a:tabLst>
            </a:pPr>
            <a:r>
              <a:rPr dirty="0" sz="1500" spc="-50">
                <a:latin typeface="Times New Roman"/>
                <a:cs typeface="Times New Roman"/>
              </a:rPr>
              <a:t>G</a:t>
            </a:r>
            <a:r>
              <a:rPr dirty="0" sz="1500">
                <a:latin typeface="Times New Roman"/>
                <a:cs typeface="Times New Roman"/>
              </a:rPr>
              <a:t>	</a:t>
            </a:r>
            <a:r>
              <a:rPr dirty="0" sz="1500" spc="-60">
                <a:latin typeface="Times New Roman"/>
                <a:cs typeface="Times New Roman"/>
              </a:rPr>
              <a:t>NotebookLM</a:t>
            </a:r>
            <a:endParaRPr sz="1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2026-01-15T18:09:41Z</dcterms:created>
  <dcterms:modified xsi:type="dcterms:W3CDTF">2026-01-15T18:09:41Z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2026-01-15T00:00:00Z</vt:filetime>
  </property>
  <property fmtid="{D5CDD505-2E9C-101B-9397-08002B2CF9AE}" pid="3" name="LastSaved">
    <vt:filetime>2026-01-15T00:00:00Z</vt:filetime>
  </property>
</Properties>
</file>
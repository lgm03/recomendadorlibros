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6" roundtripDataSignature="AMtx7mh51FrQcsi8m/I4tUzP4Paok4Hau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b8427cadc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b8427cadc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b82afa0925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g3b82afa0925_0_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b82afa0925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g3b82afa0925_1_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6"/>
          <p:cNvSpPr/>
          <p:nvPr>
            <p:ph idx="2" type="pic"/>
          </p:nvPr>
        </p:nvSpPr>
        <p:spPr>
          <a:xfrm>
            <a:off x="1792288" y="612775"/>
            <a:ext cx="5486400" cy="4114800"/>
          </a:xfrm>
          <a:prstGeom prst="rect">
            <a:avLst/>
          </a:prstGeom>
          <a:noFill/>
          <a:ln>
            <a:noFill/>
          </a:ln>
        </p:spPr>
      </p:sp>
      <p:sp>
        <p:nvSpPr>
          <p:cNvPr id="64" name="Google Shape;64;p2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chema.org"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hyperlink" Target="http://schema.or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drive.google.com/file/d/1Awyf2sYVl7qE8jfZnch2WcRbz9YI1QJG/view" TargetMode="External"/><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0"/>
        </a:solidFill>
      </p:bgPr>
    </p:bg>
    <p:spTree>
      <p:nvGrpSpPr>
        <p:cNvPr id="83" name="Shape 83"/>
        <p:cNvGrpSpPr/>
        <p:nvPr/>
      </p:nvGrpSpPr>
      <p:grpSpPr>
        <a:xfrm>
          <a:off x="0" y="0"/>
          <a:ext cx="0" cy="0"/>
          <a:chOff x="0" y="0"/>
          <a:chExt cx="0" cy="0"/>
        </a:xfrm>
      </p:grpSpPr>
      <p:sp>
        <p:nvSpPr>
          <p:cNvPr id="84" name="Google Shape;84;p1"/>
          <p:cNvSpPr txBox="1"/>
          <p:nvPr/>
        </p:nvSpPr>
        <p:spPr>
          <a:xfrm>
            <a:off x="1028700" y="1931275"/>
            <a:ext cx="12384600" cy="6021900"/>
          </a:xfrm>
          <a:prstGeom prst="rect">
            <a:avLst/>
          </a:prstGeom>
          <a:noFill/>
          <a:ln>
            <a:noFill/>
          </a:ln>
        </p:spPr>
        <p:txBody>
          <a:bodyPr anchorCtr="0" anchor="t" bIns="0" lIns="0" spcFirstLastPara="1" rIns="0" wrap="square" tIns="0">
            <a:spAutoFit/>
          </a:bodyPr>
          <a:lstStyle/>
          <a:p>
            <a:pPr indent="0" lvl="0" marL="0" marR="0" rtl="0" algn="l">
              <a:lnSpc>
                <a:spcPct val="100007"/>
              </a:lnSpc>
              <a:spcBef>
                <a:spcPts val="0"/>
              </a:spcBef>
              <a:spcAft>
                <a:spcPts val="0"/>
              </a:spcAft>
              <a:buNone/>
            </a:pPr>
            <a:r>
              <a:rPr lang="en-US" sz="13039">
                <a:solidFill>
                  <a:srgbClr val="331B0D"/>
                </a:solidFill>
              </a:rPr>
              <a:t>Sistema Recomendador de Libros</a:t>
            </a:r>
            <a:endParaRPr/>
          </a:p>
        </p:txBody>
      </p:sp>
      <p:sp>
        <p:nvSpPr>
          <p:cNvPr id="85" name="Google Shape;85;p1"/>
          <p:cNvSpPr txBox="1"/>
          <p:nvPr/>
        </p:nvSpPr>
        <p:spPr>
          <a:xfrm>
            <a:off x="12698616" y="8228316"/>
            <a:ext cx="5033400" cy="11205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b="0" i="0" lang="en-US" sz="2100" u="none" cap="none" strike="noStrike">
                <a:solidFill>
                  <a:srgbClr val="331B0D"/>
                </a:solidFill>
                <a:latin typeface="Arial"/>
                <a:ea typeface="Arial"/>
                <a:cs typeface="Arial"/>
                <a:sym typeface="Arial"/>
              </a:rPr>
              <a:t>Juan Broto</a:t>
            </a:r>
            <a:endParaRPr/>
          </a:p>
          <a:p>
            <a:pPr indent="0" lvl="0" marL="0" marR="0" rtl="0" algn="r">
              <a:lnSpc>
                <a:spcPct val="140000"/>
              </a:lnSpc>
              <a:spcBef>
                <a:spcPts val="0"/>
              </a:spcBef>
              <a:spcAft>
                <a:spcPts val="0"/>
              </a:spcAft>
              <a:buNone/>
            </a:pPr>
            <a:r>
              <a:rPr b="0" i="0" lang="en-US" sz="2100" u="none" cap="none" strike="noStrike">
                <a:solidFill>
                  <a:srgbClr val="331B0D"/>
                </a:solidFill>
                <a:latin typeface="Arial"/>
                <a:ea typeface="Arial"/>
                <a:cs typeface="Arial"/>
                <a:sym typeface="Arial"/>
              </a:rPr>
              <a:t>Lidia González</a:t>
            </a:r>
            <a:endParaRPr/>
          </a:p>
          <a:p>
            <a:pPr indent="0" lvl="0" marL="0" marR="0" rtl="0" algn="r">
              <a:lnSpc>
                <a:spcPct val="140000"/>
              </a:lnSpc>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0"/>
        </a:solidFill>
      </p:bgPr>
    </p:bg>
    <p:spTree>
      <p:nvGrpSpPr>
        <p:cNvPr id="89" name="Shape 89"/>
        <p:cNvGrpSpPr/>
        <p:nvPr/>
      </p:nvGrpSpPr>
      <p:grpSpPr>
        <a:xfrm>
          <a:off x="0" y="0"/>
          <a:ext cx="0" cy="0"/>
          <a:chOff x="0" y="0"/>
          <a:chExt cx="0" cy="0"/>
        </a:xfrm>
      </p:grpSpPr>
      <p:sp>
        <p:nvSpPr>
          <p:cNvPr id="90" name="Google Shape;90;p2"/>
          <p:cNvSpPr/>
          <p:nvPr/>
        </p:nvSpPr>
        <p:spPr>
          <a:xfrm>
            <a:off x="1028700" y="3860684"/>
            <a:ext cx="1050505" cy="1263766"/>
          </a:xfrm>
          <a:custGeom>
            <a:rect b="b" l="l" r="r" t="t"/>
            <a:pathLst>
              <a:path extrusionOk="0" h="1263766" w="1050505">
                <a:moveTo>
                  <a:pt x="0" y="0"/>
                </a:moveTo>
                <a:lnTo>
                  <a:pt x="1050505" y="0"/>
                </a:lnTo>
                <a:lnTo>
                  <a:pt x="1050505" y="1263766"/>
                </a:lnTo>
                <a:lnTo>
                  <a:pt x="0" y="1263766"/>
                </a:lnTo>
                <a:lnTo>
                  <a:pt x="0" y="0"/>
                </a:lnTo>
                <a:close/>
              </a:path>
            </a:pathLst>
          </a:custGeom>
          <a:blipFill rotWithShape="1">
            <a:blip r:embed="rId3">
              <a:alphaModFix/>
            </a:blip>
            <a:stretch>
              <a:fillRect b="0" l="0" r="0" t="0"/>
            </a:stretch>
          </a:blipFill>
          <a:ln>
            <a:noFill/>
          </a:ln>
        </p:spPr>
      </p:sp>
      <p:sp>
        <p:nvSpPr>
          <p:cNvPr id="91" name="Google Shape;91;p2"/>
          <p:cNvSpPr/>
          <p:nvPr/>
        </p:nvSpPr>
        <p:spPr>
          <a:xfrm>
            <a:off x="6988914" y="3723853"/>
            <a:ext cx="1483618" cy="1537428"/>
          </a:xfrm>
          <a:custGeom>
            <a:rect b="b" l="l" r="r" t="t"/>
            <a:pathLst>
              <a:path extrusionOk="0" h="1537428" w="1483618">
                <a:moveTo>
                  <a:pt x="0" y="0"/>
                </a:moveTo>
                <a:lnTo>
                  <a:pt x="1483618" y="0"/>
                </a:lnTo>
                <a:lnTo>
                  <a:pt x="1483618" y="1537428"/>
                </a:lnTo>
                <a:lnTo>
                  <a:pt x="0" y="1537428"/>
                </a:lnTo>
                <a:lnTo>
                  <a:pt x="0" y="0"/>
                </a:lnTo>
                <a:close/>
              </a:path>
            </a:pathLst>
          </a:custGeom>
          <a:blipFill rotWithShape="1">
            <a:blip r:embed="rId4">
              <a:alphaModFix/>
            </a:blip>
            <a:stretch>
              <a:fillRect b="0" l="0" r="0" t="0"/>
            </a:stretch>
          </a:blipFill>
          <a:ln>
            <a:noFill/>
          </a:ln>
        </p:spPr>
      </p:sp>
      <p:sp>
        <p:nvSpPr>
          <p:cNvPr id="92" name="Google Shape;92;p2"/>
          <p:cNvSpPr/>
          <p:nvPr/>
        </p:nvSpPr>
        <p:spPr>
          <a:xfrm>
            <a:off x="12949128" y="3365384"/>
            <a:ext cx="811369" cy="1759066"/>
          </a:xfrm>
          <a:custGeom>
            <a:rect b="b" l="l" r="r" t="t"/>
            <a:pathLst>
              <a:path extrusionOk="0" h="1759066" w="811369">
                <a:moveTo>
                  <a:pt x="0" y="0"/>
                </a:moveTo>
                <a:lnTo>
                  <a:pt x="811369" y="0"/>
                </a:lnTo>
                <a:lnTo>
                  <a:pt x="811369" y="1759066"/>
                </a:lnTo>
                <a:lnTo>
                  <a:pt x="0" y="1759066"/>
                </a:lnTo>
                <a:lnTo>
                  <a:pt x="0" y="0"/>
                </a:lnTo>
                <a:close/>
              </a:path>
            </a:pathLst>
          </a:custGeom>
          <a:blipFill rotWithShape="1">
            <a:blip r:embed="rId5">
              <a:alphaModFix/>
            </a:blip>
            <a:stretch>
              <a:fillRect b="0" l="0" r="0" t="0"/>
            </a:stretch>
          </a:blipFill>
          <a:ln>
            <a:noFill/>
          </a:ln>
        </p:spPr>
      </p:sp>
      <p:sp>
        <p:nvSpPr>
          <p:cNvPr id="93" name="Google Shape;93;p2"/>
          <p:cNvSpPr txBox="1"/>
          <p:nvPr/>
        </p:nvSpPr>
        <p:spPr>
          <a:xfrm>
            <a:off x="1028700" y="1989777"/>
            <a:ext cx="8115300" cy="63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4800" u="none" cap="none" strike="noStrike">
                <a:solidFill>
                  <a:srgbClr val="331B0D"/>
                </a:solidFill>
                <a:latin typeface="Arial"/>
                <a:ea typeface="Arial"/>
                <a:cs typeface="Arial"/>
                <a:sym typeface="Arial"/>
              </a:rPr>
              <a:t>Contexto del proyecto</a:t>
            </a:r>
            <a:endParaRPr/>
          </a:p>
        </p:txBody>
      </p:sp>
      <p:sp>
        <p:nvSpPr>
          <p:cNvPr id="94" name="Google Shape;94;p2"/>
          <p:cNvSpPr txBox="1"/>
          <p:nvPr/>
        </p:nvSpPr>
        <p:spPr>
          <a:xfrm>
            <a:off x="1028700" y="5667375"/>
            <a:ext cx="2746800" cy="4059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0" i="0" lang="en-US" sz="2400" u="none" cap="none" strike="noStrike">
                <a:solidFill>
                  <a:srgbClr val="8C7753"/>
                </a:solidFill>
                <a:latin typeface="Arial"/>
                <a:ea typeface="Arial"/>
                <a:cs typeface="Arial"/>
                <a:sym typeface="Arial"/>
              </a:rPr>
              <a:t>Problema</a:t>
            </a:r>
            <a:endParaRPr/>
          </a:p>
        </p:txBody>
      </p:sp>
      <p:sp>
        <p:nvSpPr>
          <p:cNvPr id="95" name="Google Shape;95;p2"/>
          <p:cNvSpPr txBox="1"/>
          <p:nvPr/>
        </p:nvSpPr>
        <p:spPr>
          <a:xfrm>
            <a:off x="776175" y="6268000"/>
            <a:ext cx="5390700" cy="2133300"/>
          </a:xfrm>
          <a:prstGeom prst="rect">
            <a:avLst/>
          </a:prstGeom>
          <a:noFill/>
          <a:ln>
            <a:noFill/>
          </a:ln>
        </p:spPr>
        <p:txBody>
          <a:bodyPr anchorCtr="0" anchor="t" bIns="0" lIns="0" spcFirstLastPara="1" rIns="0" wrap="square" tIns="0">
            <a:spAutoFit/>
          </a:bodyPr>
          <a:lstStyle/>
          <a:p>
            <a:pPr indent="-226695" lvl="1" marL="453390" rtl="0" algn="l">
              <a:lnSpc>
                <a:spcPct val="140000"/>
              </a:lnSpc>
              <a:spcBef>
                <a:spcPts val="0"/>
              </a:spcBef>
              <a:spcAft>
                <a:spcPts val="0"/>
              </a:spcAft>
              <a:buClr>
                <a:srgbClr val="331B0D"/>
              </a:buClr>
              <a:buSzPts val="2100"/>
              <a:buChar char="•"/>
            </a:pPr>
            <a:r>
              <a:rPr lang="en-US" sz="2100">
                <a:solidFill>
                  <a:srgbClr val="331B0D"/>
                </a:solidFill>
              </a:rPr>
              <a:t>Sobrecarga de información</a:t>
            </a:r>
            <a:endParaRPr sz="2100">
              <a:solidFill>
                <a:srgbClr val="331B0D"/>
              </a:solidFill>
            </a:endParaRPr>
          </a:p>
          <a:p>
            <a:pPr indent="-226695" lvl="1" marL="453390" rtl="0" algn="l">
              <a:lnSpc>
                <a:spcPct val="140000"/>
              </a:lnSpc>
              <a:spcBef>
                <a:spcPts val="0"/>
              </a:spcBef>
              <a:spcAft>
                <a:spcPts val="0"/>
              </a:spcAft>
              <a:buClr>
                <a:srgbClr val="331B0D"/>
              </a:buClr>
              <a:buSzPts val="2100"/>
              <a:buChar char="•"/>
            </a:pPr>
            <a:r>
              <a:rPr lang="en-US" sz="2100">
                <a:solidFill>
                  <a:srgbClr val="331B0D"/>
                </a:solidFill>
              </a:rPr>
              <a:t>Recomendaciones actuales con falta de comprensión semántica</a:t>
            </a:r>
            <a:endParaRPr sz="2100">
              <a:solidFill>
                <a:srgbClr val="331B0D"/>
              </a:solidFill>
            </a:endParaRPr>
          </a:p>
          <a:p>
            <a:pPr indent="0" lvl="0" marL="0" rtl="0" algn="l">
              <a:lnSpc>
                <a:spcPct val="140000"/>
              </a:lnSpc>
              <a:spcBef>
                <a:spcPts val="0"/>
              </a:spcBef>
              <a:spcAft>
                <a:spcPts val="0"/>
              </a:spcAft>
              <a:buClr>
                <a:schemeClr val="dk1"/>
              </a:buClr>
              <a:buFont typeface="Arial"/>
              <a:buNone/>
            </a:pPr>
            <a:r>
              <a:t/>
            </a:r>
            <a:endParaRPr sz="2100">
              <a:solidFill>
                <a:srgbClr val="331B0D"/>
              </a:solidFill>
            </a:endParaRPr>
          </a:p>
          <a:p>
            <a:pPr indent="0" lvl="0" marL="0" marR="0" rtl="0" algn="l">
              <a:lnSpc>
                <a:spcPct val="140000"/>
              </a:lnSpc>
              <a:spcBef>
                <a:spcPts val="0"/>
              </a:spcBef>
              <a:spcAft>
                <a:spcPts val="0"/>
              </a:spcAft>
              <a:buNone/>
            </a:pPr>
            <a:r>
              <a:t/>
            </a:r>
            <a:endParaRPr sz="2100">
              <a:solidFill>
                <a:srgbClr val="331B0D"/>
              </a:solidFill>
            </a:endParaRPr>
          </a:p>
        </p:txBody>
      </p:sp>
      <p:sp>
        <p:nvSpPr>
          <p:cNvPr id="96" name="Google Shape;96;p2"/>
          <p:cNvSpPr txBox="1"/>
          <p:nvPr/>
        </p:nvSpPr>
        <p:spPr>
          <a:xfrm>
            <a:off x="6988914" y="5667375"/>
            <a:ext cx="2746800" cy="4059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0" i="0" lang="en-US" sz="2400" u="none" cap="none" strike="noStrike">
                <a:solidFill>
                  <a:srgbClr val="8C7753"/>
                </a:solidFill>
                <a:latin typeface="Arial"/>
                <a:ea typeface="Arial"/>
                <a:cs typeface="Arial"/>
                <a:sym typeface="Arial"/>
              </a:rPr>
              <a:t>Solución</a:t>
            </a:r>
            <a:endParaRPr/>
          </a:p>
        </p:txBody>
      </p:sp>
      <p:sp>
        <p:nvSpPr>
          <p:cNvPr id="97" name="Google Shape;97;p2"/>
          <p:cNvSpPr txBox="1"/>
          <p:nvPr/>
        </p:nvSpPr>
        <p:spPr>
          <a:xfrm>
            <a:off x="6862653" y="6267995"/>
            <a:ext cx="5390700" cy="1228200"/>
          </a:xfrm>
          <a:prstGeom prst="rect">
            <a:avLst/>
          </a:prstGeom>
          <a:noFill/>
          <a:ln>
            <a:noFill/>
          </a:ln>
        </p:spPr>
        <p:txBody>
          <a:bodyPr anchorCtr="0" anchor="t" bIns="0" lIns="0" spcFirstLastPara="1" rIns="0" wrap="square" tIns="0">
            <a:spAutoFit/>
          </a:bodyPr>
          <a:lstStyle/>
          <a:p>
            <a:pPr indent="-226695" lvl="1" marL="453390" marR="0" rtl="0" algn="l">
              <a:lnSpc>
                <a:spcPct val="140000"/>
              </a:lnSpc>
              <a:spcBef>
                <a:spcPts val="0"/>
              </a:spcBef>
              <a:spcAft>
                <a:spcPts val="0"/>
              </a:spcAft>
              <a:buClr>
                <a:srgbClr val="331B0D"/>
              </a:buClr>
              <a:buSzPts val="2100"/>
              <a:buFont typeface="Arial"/>
              <a:buChar char="•"/>
            </a:pPr>
            <a:r>
              <a:rPr lang="en-US" sz="2100">
                <a:solidFill>
                  <a:srgbClr val="331B0D"/>
                </a:solidFill>
              </a:rPr>
              <a:t>Recomendador basado en grafos de conocimiento </a:t>
            </a:r>
            <a:endParaRPr/>
          </a:p>
          <a:p>
            <a:pPr indent="0" lvl="0" marL="0" marR="0" rtl="0" algn="l">
              <a:lnSpc>
                <a:spcPct val="140000"/>
              </a:lnSpc>
              <a:spcBef>
                <a:spcPts val="0"/>
              </a:spcBef>
              <a:spcAft>
                <a:spcPts val="0"/>
              </a:spcAft>
              <a:buNone/>
            </a:pPr>
            <a:r>
              <a:t/>
            </a:r>
            <a:endParaRPr b="0" i="0" sz="2100" u="none" cap="none" strike="noStrike">
              <a:solidFill>
                <a:srgbClr val="331B0D"/>
              </a:solidFill>
              <a:latin typeface="Arial"/>
              <a:ea typeface="Arial"/>
              <a:cs typeface="Arial"/>
              <a:sym typeface="Arial"/>
            </a:endParaRPr>
          </a:p>
        </p:txBody>
      </p:sp>
      <p:sp>
        <p:nvSpPr>
          <p:cNvPr id="98" name="Google Shape;98;p2"/>
          <p:cNvSpPr txBox="1"/>
          <p:nvPr/>
        </p:nvSpPr>
        <p:spPr>
          <a:xfrm>
            <a:off x="12949128" y="5667375"/>
            <a:ext cx="2746800" cy="4059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0" i="0" lang="en-US" sz="2400" u="none" cap="none" strike="noStrike">
                <a:solidFill>
                  <a:srgbClr val="8C7753"/>
                </a:solidFill>
                <a:latin typeface="Arial"/>
                <a:ea typeface="Arial"/>
                <a:cs typeface="Arial"/>
                <a:sym typeface="Arial"/>
              </a:rPr>
              <a:t>¿Por qué?</a:t>
            </a:r>
            <a:endParaRPr/>
          </a:p>
        </p:txBody>
      </p:sp>
      <p:sp>
        <p:nvSpPr>
          <p:cNvPr id="99" name="Google Shape;99;p2"/>
          <p:cNvSpPr txBox="1"/>
          <p:nvPr/>
        </p:nvSpPr>
        <p:spPr>
          <a:xfrm>
            <a:off x="12823875" y="6268000"/>
            <a:ext cx="4748100" cy="1680900"/>
          </a:xfrm>
          <a:prstGeom prst="rect">
            <a:avLst/>
          </a:prstGeom>
          <a:noFill/>
          <a:ln>
            <a:noFill/>
          </a:ln>
        </p:spPr>
        <p:txBody>
          <a:bodyPr anchorCtr="0" anchor="t" bIns="0" lIns="0" spcFirstLastPara="1" rIns="0" wrap="square" tIns="0">
            <a:spAutoFit/>
          </a:bodyPr>
          <a:lstStyle/>
          <a:p>
            <a:pPr indent="-226695" lvl="1" marL="453390" marR="0" rtl="0" algn="l">
              <a:lnSpc>
                <a:spcPct val="140000"/>
              </a:lnSpc>
              <a:spcBef>
                <a:spcPts val="0"/>
              </a:spcBef>
              <a:spcAft>
                <a:spcPts val="0"/>
              </a:spcAft>
              <a:buClr>
                <a:srgbClr val="331B0D"/>
              </a:buClr>
              <a:buSzPts val="2100"/>
              <a:buFont typeface="Arial"/>
              <a:buChar char="•"/>
            </a:pPr>
            <a:r>
              <a:rPr b="0" i="0" lang="en-US" sz="2100" u="none" cap="none" strike="noStrike">
                <a:solidFill>
                  <a:srgbClr val="331B0D"/>
                </a:solidFill>
                <a:latin typeface="Arial"/>
                <a:ea typeface="Arial"/>
                <a:cs typeface="Arial"/>
                <a:sym typeface="Arial"/>
              </a:rPr>
              <a:t>Problema real</a:t>
            </a:r>
            <a:endParaRPr/>
          </a:p>
          <a:p>
            <a:pPr indent="-226695" lvl="1" marL="453390" marR="0" rtl="0" algn="l">
              <a:lnSpc>
                <a:spcPct val="140000"/>
              </a:lnSpc>
              <a:spcBef>
                <a:spcPts val="0"/>
              </a:spcBef>
              <a:spcAft>
                <a:spcPts val="0"/>
              </a:spcAft>
              <a:buClr>
                <a:srgbClr val="331B0D"/>
              </a:buClr>
              <a:buSzPts val="2100"/>
              <a:buFont typeface="Arial"/>
              <a:buChar char="•"/>
            </a:pPr>
            <a:r>
              <a:rPr b="0" i="0" lang="en-US" sz="2100" u="none" cap="none" strike="noStrike">
                <a:solidFill>
                  <a:srgbClr val="331B0D"/>
                </a:solidFill>
                <a:latin typeface="Arial"/>
                <a:ea typeface="Arial"/>
                <a:cs typeface="Arial"/>
                <a:sym typeface="Arial"/>
              </a:rPr>
              <a:t>Aplicación práctica del </a:t>
            </a:r>
            <a:r>
              <a:rPr lang="en-US" sz="2100">
                <a:solidFill>
                  <a:srgbClr val="331B0D"/>
                </a:solidFill>
              </a:rPr>
              <a:t>Ontologías y grafos de conocimiento</a:t>
            </a:r>
            <a:endParaRPr/>
          </a:p>
          <a:p>
            <a:pPr indent="0" lvl="0" marL="0" marR="0" rtl="0" algn="l">
              <a:lnSpc>
                <a:spcPct val="140000"/>
              </a:lnSpc>
              <a:spcBef>
                <a:spcPts val="0"/>
              </a:spcBef>
              <a:spcAft>
                <a:spcPts val="0"/>
              </a:spcAft>
              <a:buNone/>
            </a:pPr>
            <a:r>
              <a:t/>
            </a:r>
            <a:endParaRPr b="0" i="0" sz="2100" u="none" cap="none" strike="noStrike">
              <a:solidFill>
                <a:srgbClr val="331B0D"/>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grpSp>
        <p:nvGrpSpPr>
          <p:cNvPr id="104" name="Google Shape;104;p15"/>
          <p:cNvGrpSpPr/>
          <p:nvPr/>
        </p:nvGrpSpPr>
        <p:grpSpPr>
          <a:xfrm>
            <a:off x="-262" y="-2151679"/>
            <a:ext cx="18288516" cy="8095141"/>
            <a:chOff x="0" y="-47625"/>
            <a:chExt cx="1812000" cy="802055"/>
          </a:xfrm>
        </p:grpSpPr>
        <p:sp>
          <p:nvSpPr>
            <p:cNvPr id="105" name="Google Shape;105;p15"/>
            <p:cNvSpPr/>
            <p:nvPr/>
          </p:nvSpPr>
          <p:spPr>
            <a:xfrm>
              <a:off x="0" y="0"/>
              <a:ext cx="1811948" cy="754430"/>
            </a:xfrm>
            <a:custGeom>
              <a:rect b="b" l="l" r="r" t="t"/>
              <a:pathLst>
                <a:path extrusionOk="0" h="754430" w="1811948">
                  <a:moveTo>
                    <a:pt x="1811948" y="0"/>
                  </a:moveTo>
                  <a:lnTo>
                    <a:pt x="1811948" y="640130"/>
                  </a:lnTo>
                  <a:lnTo>
                    <a:pt x="905974" y="754430"/>
                  </a:lnTo>
                  <a:lnTo>
                    <a:pt x="0" y="640130"/>
                  </a:lnTo>
                  <a:lnTo>
                    <a:pt x="0" y="0"/>
                  </a:lnTo>
                  <a:lnTo>
                    <a:pt x="1811948" y="0"/>
                  </a:lnTo>
                  <a:close/>
                </a:path>
              </a:pathLst>
            </a:custGeom>
            <a:solidFill>
              <a:srgbClr val="FAF7F0"/>
            </a:solidFill>
            <a:ln>
              <a:noFill/>
            </a:ln>
          </p:spPr>
        </p:sp>
        <p:sp>
          <p:nvSpPr>
            <p:cNvPr id="106" name="Google Shape;106;p15"/>
            <p:cNvSpPr txBox="1"/>
            <p:nvPr/>
          </p:nvSpPr>
          <p:spPr>
            <a:xfrm>
              <a:off x="0" y="-47625"/>
              <a:ext cx="1812000" cy="68790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7" name="Google Shape;107;p15"/>
          <p:cNvSpPr txBox="1"/>
          <p:nvPr/>
        </p:nvSpPr>
        <p:spPr>
          <a:xfrm>
            <a:off x="1028700" y="430327"/>
            <a:ext cx="8115300" cy="738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4800">
                <a:solidFill>
                  <a:srgbClr val="331B0D"/>
                </a:solidFill>
              </a:rPr>
              <a:t>¿Qué aportan las ontologías?</a:t>
            </a:r>
            <a:endParaRPr/>
          </a:p>
        </p:txBody>
      </p:sp>
      <p:sp>
        <p:nvSpPr>
          <p:cNvPr id="108" name="Google Shape;108;p15"/>
          <p:cNvSpPr txBox="1"/>
          <p:nvPr/>
        </p:nvSpPr>
        <p:spPr>
          <a:xfrm>
            <a:off x="1100263" y="3208737"/>
            <a:ext cx="4238100" cy="1344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299">
                <a:solidFill>
                  <a:srgbClr val="331B0D"/>
                </a:solidFill>
              </a:rPr>
              <a:t>Permite definir jerarquías claras de géneros para inferir sobre intereses</a:t>
            </a:r>
            <a:endParaRPr/>
          </a:p>
        </p:txBody>
      </p:sp>
      <p:sp>
        <p:nvSpPr>
          <p:cNvPr id="109" name="Google Shape;109;p15"/>
          <p:cNvSpPr txBox="1"/>
          <p:nvPr/>
        </p:nvSpPr>
        <p:spPr>
          <a:xfrm>
            <a:off x="7096480" y="3208737"/>
            <a:ext cx="4238100" cy="1840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299">
                <a:solidFill>
                  <a:srgbClr val="331B0D"/>
                </a:solidFill>
              </a:rPr>
              <a:t>Permite unificar información de diferentes fuentes.</a:t>
            </a:r>
            <a:endParaRPr sz="2299">
              <a:solidFill>
                <a:srgbClr val="331B0D"/>
              </a:solidFill>
            </a:endParaRPr>
          </a:p>
          <a:p>
            <a:pPr indent="0" lvl="0" marL="0" marR="0" rtl="0" algn="ctr">
              <a:lnSpc>
                <a:spcPct val="140000"/>
              </a:lnSpc>
              <a:spcBef>
                <a:spcPts val="0"/>
              </a:spcBef>
              <a:spcAft>
                <a:spcPts val="0"/>
              </a:spcAft>
              <a:buNone/>
            </a:pPr>
            <a:r>
              <a:rPr lang="en-US" sz="2299">
                <a:solidFill>
                  <a:srgbClr val="331B0D"/>
                </a:solidFill>
              </a:rPr>
              <a:t>Unificaremos GoogleBooks, Wikidata y DBPedia</a:t>
            </a:r>
            <a:endParaRPr sz="2299">
              <a:solidFill>
                <a:srgbClr val="331B0D"/>
              </a:solidFill>
            </a:endParaRPr>
          </a:p>
        </p:txBody>
      </p:sp>
      <p:sp>
        <p:nvSpPr>
          <p:cNvPr id="110" name="Google Shape;110;p15"/>
          <p:cNvSpPr txBox="1"/>
          <p:nvPr/>
        </p:nvSpPr>
        <p:spPr>
          <a:xfrm>
            <a:off x="13096771" y="3208737"/>
            <a:ext cx="4238100" cy="1344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2299">
                <a:solidFill>
                  <a:srgbClr val="331B0D"/>
                </a:solidFill>
              </a:rPr>
              <a:t>El sistema puede justificar sus sugerencias. Justificaremos la similitud entre dos libros.</a:t>
            </a:r>
            <a:endParaRPr/>
          </a:p>
        </p:txBody>
      </p:sp>
      <p:sp>
        <p:nvSpPr>
          <p:cNvPr id="111" name="Google Shape;111;p15"/>
          <p:cNvSpPr txBox="1"/>
          <p:nvPr/>
        </p:nvSpPr>
        <p:spPr>
          <a:xfrm>
            <a:off x="6376325" y="6271750"/>
            <a:ext cx="5678400" cy="3693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i="1" lang="en-US" sz="2400">
                <a:solidFill>
                  <a:srgbClr val="8C7753"/>
                </a:solidFill>
              </a:rPr>
              <a:t>¿Qué ontologías hemos implementado?</a:t>
            </a:r>
            <a:endParaRPr/>
          </a:p>
        </p:txBody>
      </p:sp>
      <p:sp>
        <p:nvSpPr>
          <p:cNvPr id="112" name="Google Shape;112;p15"/>
          <p:cNvSpPr txBox="1"/>
          <p:nvPr/>
        </p:nvSpPr>
        <p:spPr>
          <a:xfrm>
            <a:off x="4229700" y="7323350"/>
            <a:ext cx="4608900" cy="2133300"/>
          </a:xfrm>
          <a:prstGeom prst="rect">
            <a:avLst/>
          </a:prstGeom>
          <a:noFill/>
          <a:ln>
            <a:noFill/>
          </a:ln>
        </p:spPr>
        <p:txBody>
          <a:bodyPr anchorCtr="0" anchor="t" bIns="0" lIns="0" spcFirstLastPara="1" rIns="0" wrap="square" tIns="0">
            <a:spAutoFit/>
          </a:bodyPr>
          <a:lstStyle/>
          <a:p>
            <a:pPr indent="-361950" lvl="0" marL="457200" marR="0" rtl="0" algn="l">
              <a:lnSpc>
                <a:spcPct val="140000"/>
              </a:lnSpc>
              <a:spcBef>
                <a:spcPts val="0"/>
              </a:spcBef>
              <a:spcAft>
                <a:spcPts val="0"/>
              </a:spcAft>
              <a:buClr>
                <a:srgbClr val="331B0D"/>
              </a:buClr>
              <a:buSzPts val="2100"/>
              <a:buChar char="●"/>
            </a:pPr>
            <a:r>
              <a:rPr b="1" lang="en-US" sz="2100">
                <a:solidFill>
                  <a:srgbClr val="331B0D"/>
                </a:solidFill>
              </a:rPr>
              <a:t>Google Books.</a:t>
            </a:r>
            <a:endParaRPr b="1" sz="2100">
              <a:solidFill>
                <a:srgbClr val="331B0D"/>
              </a:solidFill>
            </a:endParaRPr>
          </a:p>
          <a:p>
            <a:pPr indent="-361950" lvl="0" marL="457200" marR="0" rtl="0" algn="l">
              <a:lnSpc>
                <a:spcPct val="140000"/>
              </a:lnSpc>
              <a:spcBef>
                <a:spcPts val="0"/>
              </a:spcBef>
              <a:spcAft>
                <a:spcPts val="0"/>
              </a:spcAft>
              <a:buClr>
                <a:srgbClr val="331B0D"/>
              </a:buClr>
              <a:buSzPts val="2100"/>
              <a:buChar char="●"/>
            </a:pPr>
            <a:r>
              <a:rPr b="1" i="1" lang="en-US" sz="2100">
                <a:solidFill>
                  <a:srgbClr val="331B0D"/>
                </a:solidFill>
              </a:rPr>
              <a:t>Wikidata.</a:t>
            </a:r>
            <a:endParaRPr i="1" sz="2100">
              <a:solidFill>
                <a:srgbClr val="331B0D"/>
              </a:solidFill>
            </a:endParaRPr>
          </a:p>
          <a:p>
            <a:pPr indent="-361950" lvl="0" marL="457200" marR="0" rtl="0" algn="l">
              <a:lnSpc>
                <a:spcPct val="140000"/>
              </a:lnSpc>
              <a:spcBef>
                <a:spcPts val="0"/>
              </a:spcBef>
              <a:spcAft>
                <a:spcPts val="0"/>
              </a:spcAft>
              <a:buClr>
                <a:srgbClr val="331B0D"/>
              </a:buClr>
              <a:buSzPts val="2100"/>
              <a:buChar char="●"/>
            </a:pPr>
            <a:r>
              <a:rPr b="1" i="1" lang="en-US" sz="2100">
                <a:solidFill>
                  <a:srgbClr val="331B0D"/>
                </a:solidFill>
              </a:rPr>
              <a:t>DBPedia.</a:t>
            </a:r>
            <a:endParaRPr b="1" i="1" sz="2100">
              <a:solidFill>
                <a:srgbClr val="331B0D"/>
              </a:solidFill>
            </a:endParaRPr>
          </a:p>
          <a:p>
            <a:pPr indent="-361950" lvl="0" marL="457200" rtl="0" algn="l">
              <a:lnSpc>
                <a:spcPct val="140000"/>
              </a:lnSpc>
              <a:spcBef>
                <a:spcPts val="0"/>
              </a:spcBef>
              <a:spcAft>
                <a:spcPts val="0"/>
              </a:spcAft>
              <a:buClr>
                <a:srgbClr val="331B0D"/>
              </a:buClr>
              <a:buSzPts val="2100"/>
              <a:buChar char="●"/>
            </a:pPr>
            <a:r>
              <a:rPr b="1" i="1" lang="en-US" sz="2100">
                <a:solidFill>
                  <a:srgbClr val="331B0D"/>
                </a:solidFill>
              </a:rPr>
              <a:t>OpenLibrary</a:t>
            </a:r>
            <a:endParaRPr b="1" i="1" sz="2100">
              <a:solidFill>
                <a:srgbClr val="331B0D"/>
              </a:solidFill>
            </a:endParaRPr>
          </a:p>
          <a:p>
            <a:pPr indent="0" lvl="0" marL="0" marR="0" rtl="0" algn="l">
              <a:lnSpc>
                <a:spcPct val="140000"/>
              </a:lnSpc>
              <a:spcBef>
                <a:spcPts val="0"/>
              </a:spcBef>
              <a:spcAft>
                <a:spcPts val="0"/>
              </a:spcAft>
              <a:buNone/>
            </a:pPr>
            <a:r>
              <a:t/>
            </a:r>
            <a:endParaRPr i="1" sz="2100">
              <a:solidFill>
                <a:srgbClr val="331B0D"/>
              </a:solidFill>
            </a:endParaRPr>
          </a:p>
        </p:txBody>
      </p:sp>
      <p:sp>
        <p:nvSpPr>
          <p:cNvPr id="113" name="Google Shape;113;p15"/>
          <p:cNvSpPr txBox="1"/>
          <p:nvPr/>
        </p:nvSpPr>
        <p:spPr>
          <a:xfrm>
            <a:off x="953113" y="1925475"/>
            <a:ext cx="4532400" cy="10590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1" lang="en-US" sz="3200">
                <a:solidFill>
                  <a:srgbClr val="8C7753"/>
                </a:solidFill>
              </a:rPr>
              <a:t>Razonamiento Estructurado</a:t>
            </a:r>
            <a:endParaRPr/>
          </a:p>
        </p:txBody>
      </p:sp>
      <p:sp>
        <p:nvSpPr>
          <p:cNvPr id="114" name="Google Shape;114;p15"/>
          <p:cNvSpPr txBox="1"/>
          <p:nvPr/>
        </p:nvSpPr>
        <p:spPr>
          <a:xfrm>
            <a:off x="7780336" y="1863972"/>
            <a:ext cx="2870400" cy="10590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1" lang="en-US" sz="3200">
                <a:solidFill>
                  <a:srgbClr val="8C7753"/>
                </a:solidFill>
              </a:rPr>
              <a:t>Integración de datos</a:t>
            </a:r>
            <a:endParaRPr/>
          </a:p>
        </p:txBody>
      </p:sp>
      <p:sp>
        <p:nvSpPr>
          <p:cNvPr id="115" name="Google Shape;115;p15"/>
          <p:cNvSpPr txBox="1"/>
          <p:nvPr/>
        </p:nvSpPr>
        <p:spPr>
          <a:xfrm>
            <a:off x="13780627" y="1863985"/>
            <a:ext cx="2870400" cy="10590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1" lang="en-US" sz="3200">
                <a:solidFill>
                  <a:srgbClr val="8C7753"/>
                </a:solidFill>
              </a:rPr>
              <a:t>Explicabilidad Mejorada</a:t>
            </a:r>
            <a:endParaRPr/>
          </a:p>
        </p:txBody>
      </p:sp>
      <p:sp>
        <p:nvSpPr>
          <p:cNvPr id="116" name="Google Shape;116;p15"/>
          <p:cNvSpPr txBox="1"/>
          <p:nvPr/>
        </p:nvSpPr>
        <p:spPr>
          <a:xfrm>
            <a:off x="11170475" y="7146350"/>
            <a:ext cx="8090700" cy="2487300"/>
          </a:xfrm>
          <a:prstGeom prst="rect">
            <a:avLst/>
          </a:prstGeom>
          <a:noFill/>
          <a:ln>
            <a:noFill/>
          </a:ln>
        </p:spPr>
        <p:txBody>
          <a:bodyPr anchorCtr="0" anchor="t" bIns="91425" lIns="91425" spcFirstLastPara="1" rIns="91425" wrap="square" tIns="91425">
            <a:spAutoFit/>
          </a:bodyPr>
          <a:lstStyle/>
          <a:p>
            <a:pPr indent="-361950" lvl="0" marL="457200" rtl="0" algn="l">
              <a:lnSpc>
                <a:spcPct val="140000"/>
              </a:lnSpc>
              <a:spcBef>
                <a:spcPts val="0"/>
              </a:spcBef>
              <a:spcAft>
                <a:spcPts val="0"/>
              </a:spcAft>
              <a:buClr>
                <a:srgbClr val="331B0D"/>
              </a:buClr>
              <a:buSzPts val="2100"/>
              <a:buChar char="●"/>
            </a:pPr>
            <a:r>
              <a:rPr b="1" i="1" lang="en-US" sz="2100">
                <a:solidFill>
                  <a:srgbClr val="331B0D"/>
                </a:solidFill>
              </a:rPr>
              <a:t>BIBO </a:t>
            </a:r>
            <a:endParaRPr i="1" sz="2100">
              <a:solidFill>
                <a:srgbClr val="331B0D"/>
              </a:solidFill>
            </a:endParaRPr>
          </a:p>
          <a:p>
            <a:pPr indent="-361950" lvl="0" marL="457200" rtl="0" algn="l">
              <a:lnSpc>
                <a:spcPct val="140000"/>
              </a:lnSpc>
              <a:spcBef>
                <a:spcPts val="0"/>
              </a:spcBef>
              <a:spcAft>
                <a:spcPts val="0"/>
              </a:spcAft>
              <a:buClr>
                <a:srgbClr val="331B0D"/>
              </a:buClr>
              <a:buSzPts val="2100"/>
              <a:buChar char="●"/>
            </a:pPr>
            <a:r>
              <a:rPr b="1" i="1" lang="en-US" sz="2100">
                <a:solidFill>
                  <a:schemeClr val="dk1"/>
                </a:solidFill>
                <a:uFill>
                  <a:noFill/>
                </a:uFill>
                <a:hlinkClick r:id="rId3">
                  <a:extLst>
                    <a:ext uri="{A12FA001-AC4F-418D-AE19-62706E023703}">
                      <ahyp:hlinkClr val="tx"/>
                    </a:ext>
                  </a:extLst>
                </a:hlinkClick>
              </a:rPr>
              <a:t>Schema.org</a:t>
            </a:r>
            <a:r>
              <a:rPr i="1" lang="en-US" sz="2100">
                <a:solidFill>
                  <a:srgbClr val="331B0D"/>
                </a:solidFill>
              </a:rPr>
              <a:t> </a:t>
            </a:r>
            <a:endParaRPr i="1" sz="2100">
              <a:solidFill>
                <a:srgbClr val="331B0D"/>
              </a:solidFill>
            </a:endParaRPr>
          </a:p>
          <a:p>
            <a:pPr indent="-361950" lvl="0" marL="457200" rtl="0" algn="l">
              <a:lnSpc>
                <a:spcPct val="140000"/>
              </a:lnSpc>
              <a:spcBef>
                <a:spcPts val="0"/>
              </a:spcBef>
              <a:spcAft>
                <a:spcPts val="0"/>
              </a:spcAft>
              <a:buClr>
                <a:srgbClr val="331B0D"/>
              </a:buClr>
              <a:buSzPts val="2100"/>
              <a:buChar char="●"/>
            </a:pPr>
            <a:r>
              <a:rPr b="1" i="1" lang="en-US" sz="2100">
                <a:solidFill>
                  <a:srgbClr val="331B0D"/>
                </a:solidFill>
              </a:rPr>
              <a:t>Dublin Core</a:t>
            </a:r>
            <a:r>
              <a:rPr i="1" lang="en-US" sz="2100">
                <a:solidFill>
                  <a:srgbClr val="331B0D"/>
                </a:solidFill>
              </a:rPr>
              <a:t> </a:t>
            </a:r>
            <a:endParaRPr i="1" sz="2100">
              <a:solidFill>
                <a:srgbClr val="331B0D"/>
              </a:solidFill>
            </a:endParaRPr>
          </a:p>
          <a:p>
            <a:pPr indent="-361950" lvl="0" marL="457200" rtl="0" algn="l">
              <a:lnSpc>
                <a:spcPct val="140000"/>
              </a:lnSpc>
              <a:spcBef>
                <a:spcPts val="0"/>
              </a:spcBef>
              <a:spcAft>
                <a:spcPts val="0"/>
              </a:spcAft>
              <a:buClr>
                <a:srgbClr val="331B0D"/>
              </a:buClr>
              <a:buSzPts val="2100"/>
              <a:buChar char="●"/>
            </a:pPr>
            <a:r>
              <a:rPr b="1" i="1" lang="en-US" sz="2100">
                <a:solidFill>
                  <a:srgbClr val="331B0D"/>
                </a:solidFill>
              </a:rPr>
              <a:t>FOAF </a:t>
            </a:r>
            <a:endParaRPr i="1" sz="2100">
              <a:solidFill>
                <a:srgbClr val="331B0D"/>
              </a:solidFill>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0"/>
        </a:solidFill>
      </p:bgPr>
    </p:bg>
    <p:spTree>
      <p:nvGrpSpPr>
        <p:cNvPr id="120" name="Shape 120"/>
        <p:cNvGrpSpPr/>
        <p:nvPr/>
      </p:nvGrpSpPr>
      <p:grpSpPr>
        <a:xfrm>
          <a:off x="0" y="0"/>
          <a:ext cx="0" cy="0"/>
          <a:chOff x="0" y="0"/>
          <a:chExt cx="0" cy="0"/>
        </a:xfrm>
      </p:grpSpPr>
      <p:grpSp>
        <p:nvGrpSpPr>
          <p:cNvPr id="121" name="Google Shape;121;p5"/>
          <p:cNvGrpSpPr/>
          <p:nvPr/>
        </p:nvGrpSpPr>
        <p:grpSpPr>
          <a:xfrm>
            <a:off x="0" y="-180825"/>
            <a:ext cx="10076023" cy="10468053"/>
            <a:chOff x="0" y="-47625"/>
            <a:chExt cx="2408400" cy="2757000"/>
          </a:xfrm>
        </p:grpSpPr>
        <p:sp>
          <p:nvSpPr>
            <p:cNvPr id="122" name="Google Shape;122;p5"/>
            <p:cNvSpPr/>
            <p:nvPr/>
          </p:nvSpPr>
          <p:spPr>
            <a:xfrm>
              <a:off x="0" y="0"/>
              <a:ext cx="2408296" cy="2709333"/>
            </a:xfrm>
            <a:custGeom>
              <a:rect b="b" l="l" r="r" t="t"/>
              <a:pathLst>
                <a:path extrusionOk="0" h="2709333" w="2408296">
                  <a:moveTo>
                    <a:pt x="0" y="0"/>
                  </a:moveTo>
                  <a:lnTo>
                    <a:pt x="2408296" y="0"/>
                  </a:lnTo>
                  <a:lnTo>
                    <a:pt x="2408296" y="2709333"/>
                  </a:lnTo>
                  <a:lnTo>
                    <a:pt x="0" y="2709333"/>
                  </a:lnTo>
                  <a:close/>
                </a:path>
              </a:pathLst>
            </a:custGeom>
            <a:solidFill>
              <a:srgbClr val="FFFFFF"/>
            </a:solidFill>
            <a:ln>
              <a:noFill/>
            </a:ln>
          </p:spPr>
        </p:sp>
        <p:sp>
          <p:nvSpPr>
            <p:cNvPr id="123" name="Google Shape;123;p5"/>
            <p:cNvSpPr txBox="1"/>
            <p:nvPr/>
          </p:nvSpPr>
          <p:spPr>
            <a:xfrm>
              <a:off x="0" y="-47625"/>
              <a:ext cx="2408400" cy="27570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4" name="Google Shape;124;p5"/>
          <p:cNvSpPr/>
          <p:nvPr/>
        </p:nvSpPr>
        <p:spPr>
          <a:xfrm rot="5400000">
            <a:off x="13551173" y="3525097"/>
            <a:ext cx="1329462" cy="682529"/>
          </a:xfrm>
          <a:custGeom>
            <a:rect b="b" l="l" r="r" t="t"/>
            <a:pathLst>
              <a:path extrusionOk="0" h="1096432" w="1933763">
                <a:moveTo>
                  <a:pt x="0" y="0"/>
                </a:moveTo>
                <a:lnTo>
                  <a:pt x="1933762" y="0"/>
                </a:lnTo>
                <a:lnTo>
                  <a:pt x="1933762" y="1096432"/>
                </a:lnTo>
                <a:lnTo>
                  <a:pt x="0" y="1096432"/>
                </a:lnTo>
                <a:lnTo>
                  <a:pt x="0" y="0"/>
                </a:lnTo>
                <a:close/>
              </a:path>
            </a:pathLst>
          </a:custGeom>
          <a:blipFill rotWithShape="1">
            <a:blip r:embed="rId3">
              <a:alphaModFix/>
            </a:blip>
            <a:stretch>
              <a:fillRect b="0" l="0" r="0" t="0"/>
            </a:stretch>
          </a:blipFill>
          <a:ln>
            <a:noFill/>
          </a:ln>
        </p:spPr>
      </p:sp>
      <p:grpSp>
        <p:nvGrpSpPr>
          <p:cNvPr id="125" name="Google Shape;125;p5"/>
          <p:cNvGrpSpPr/>
          <p:nvPr/>
        </p:nvGrpSpPr>
        <p:grpSpPr>
          <a:xfrm>
            <a:off x="10471177" y="7850647"/>
            <a:ext cx="3134938" cy="837348"/>
            <a:chOff x="9569213" y="7945850"/>
            <a:chExt cx="3078600" cy="822300"/>
          </a:xfrm>
        </p:grpSpPr>
        <p:sp>
          <p:nvSpPr>
            <p:cNvPr id="126" name="Google Shape;126;p5"/>
            <p:cNvSpPr/>
            <p:nvPr/>
          </p:nvSpPr>
          <p:spPr>
            <a:xfrm>
              <a:off x="9569213" y="7945850"/>
              <a:ext cx="3078600" cy="822300"/>
            </a:xfrm>
            <a:prstGeom prst="roundRect">
              <a:avLst>
                <a:gd fmla="val 16667" name="adj"/>
              </a:avLst>
            </a:prstGeom>
            <a:solidFill>
              <a:srgbClr val="8C7753">
                <a:alpha val="40000"/>
              </a:srgbClr>
            </a:solidFill>
            <a:ln>
              <a:noFill/>
            </a:ln>
          </p:spPr>
          <p:txBody>
            <a:bodyPr anchorCtr="0" anchor="ctr" bIns="93100" lIns="93100" spcFirstLastPara="1" rIns="93100" wrap="square" tIns="93100">
              <a:noAutofit/>
            </a:bodyPr>
            <a:lstStyle/>
            <a:p>
              <a:pPr indent="0" lvl="0" marL="0" rtl="0" algn="ctr">
                <a:spcBef>
                  <a:spcPts val="0"/>
                </a:spcBef>
                <a:spcAft>
                  <a:spcPts val="0"/>
                </a:spcAft>
                <a:buNone/>
              </a:pPr>
              <a:r>
                <a:t/>
              </a:r>
              <a:endParaRPr sz="1425">
                <a:latin typeface="Calibri"/>
                <a:ea typeface="Calibri"/>
                <a:cs typeface="Calibri"/>
                <a:sym typeface="Calibri"/>
              </a:endParaRPr>
            </a:p>
          </p:txBody>
        </p:sp>
        <p:sp>
          <p:nvSpPr>
            <p:cNvPr id="127" name="Google Shape;127;p5"/>
            <p:cNvSpPr txBox="1"/>
            <p:nvPr/>
          </p:nvSpPr>
          <p:spPr>
            <a:xfrm>
              <a:off x="9719225" y="8217210"/>
              <a:ext cx="2778600" cy="27960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1" lang="en-US" sz="1850">
                  <a:solidFill>
                    <a:srgbClr val="FAF7F0"/>
                  </a:solidFill>
                </a:rPr>
                <a:t>NOVELA POLICIACA</a:t>
              </a:r>
              <a:endParaRPr b="1" sz="1425">
                <a:solidFill>
                  <a:srgbClr val="FAF7F0"/>
                </a:solidFill>
              </a:endParaRPr>
            </a:p>
          </p:txBody>
        </p:sp>
      </p:grpSp>
      <p:grpSp>
        <p:nvGrpSpPr>
          <p:cNvPr id="128" name="Google Shape;128;p5"/>
          <p:cNvGrpSpPr/>
          <p:nvPr/>
        </p:nvGrpSpPr>
        <p:grpSpPr>
          <a:xfrm>
            <a:off x="12647971" y="4821062"/>
            <a:ext cx="3134938" cy="837348"/>
            <a:chOff x="9569213" y="7945850"/>
            <a:chExt cx="3078600" cy="822300"/>
          </a:xfrm>
        </p:grpSpPr>
        <p:sp>
          <p:nvSpPr>
            <p:cNvPr id="129" name="Google Shape;129;p5"/>
            <p:cNvSpPr/>
            <p:nvPr/>
          </p:nvSpPr>
          <p:spPr>
            <a:xfrm>
              <a:off x="9569213" y="7945850"/>
              <a:ext cx="3078600" cy="822300"/>
            </a:xfrm>
            <a:prstGeom prst="roundRect">
              <a:avLst>
                <a:gd fmla="val 16667" name="adj"/>
              </a:avLst>
            </a:prstGeom>
            <a:solidFill>
              <a:srgbClr val="8C7753">
                <a:alpha val="40000"/>
              </a:srgbClr>
            </a:solidFill>
            <a:ln>
              <a:noFill/>
            </a:ln>
          </p:spPr>
          <p:txBody>
            <a:bodyPr anchorCtr="0" anchor="ctr" bIns="93100" lIns="93100" spcFirstLastPara="1" rIns="93100" wrap="square" tIns="93100">
              <a:noAutofit/>
            </a:bodyPr>
            <a:lstStyle/>
            <a:p>
              <a:pPr indent="0" lvl="0" marL="0" rtl="0" algn="ctr">
                <a:spcBef>
                  <a:spcPts val="0"/>
                </a:spcBef>
                <a:spcAft>
                  <a:spcPts val="0"/>
                </a:spcAft>
                <a:buNone/>
              </a:pPr>
              <a:r>
                <a:t/>
              </a:r>
              <a:endParaRPr sz="1425">
                <a:latin typeface="Calibri"/>
                <a:ea typeface="Calibri"/>
                <a:cs typeface="Calibri"/>
                <a:sym typeface="Calibri"/>
              </a:endParaRPr>
            </a:p>
          </p:txBody>
        </p:sp>
        <p:sp>
          <p:nvSpPr>
            <p:cNvPr id="130" name="Google Shape;130;p5"/>
            <p:cNvSpPr txBox="1"/>
            <p:nvPr/>
          </p:nvSpPr>
          <p:spPr>
            <a:xfrm>
              <a:off x="9719225" y="8021310"/>
              <a:ext cx="2778600" cy="67110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1" lang="en-US" sz="1850">
                  <a:solidFill>
                    <a:srgbClr val="FAF7F0"/>
                  </a:solidFill>
                </a:rPr>
                <a:t>FICCIÓN DETESTIVESCA</a:t>
              </a:r>
              <a:endParaRPr b="1" sz="1425">
                <a:solidFill>
                  <a:srgbClr val="FAF7F0"/>
                </a:solidFill>
              </a:endParaRPr>
            </a:p>
          </p:txBody>
        </p:sp>
      </p:grpSp>
      <p:sp>
        <p:nvSpPr>
          <p:cNvPr id="131" name="Google Shape;131;p5"/>
          <p:cNvSpPr txBox="1"/>
          <p:nvPr/>
        </p:nvSpPr>
        <p:spPr>
          <a:xfrm>
            <a:off x="1035069" y="802391"/>
            <a:ext cx="7804200" cy="69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4500">
                <a:solidFill>
                  <a:srgbClr val="331B0D"/>
                </a:solidFill>
              </a:rPr>
              <a:t>Jerarquía de géneros</a:t>
            </a:r>
            <a:endParaRPr/>
          </a:p>
        </p:txBody>
      </p:sp>
      <p:sp>
        <p:nvSpPr>
          <p:cNvPr id="132" name="Google Shape;132;p5"/>
          <p:cNvSpPr txBox="1"/>
          <p:nvPr/>
        </p:nvSpPr>
        <p:spPr>
          <a:xfrm>
            <a:off x="1035069" y="1895861"/>
            <a:ext cx="3078600" cy="3693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8C7753"/>
                </a:solidFill>
              </a:rPr>
              <a:t>Construcción</a:t>
            </a:r>
            <a:endParaRPr/>
          </a:p>
        </p:txBody>
      </p:sp>
      <p:sp>
        <p:nvSpPr>
          <p:cNvPr id="133" name="Google Shape;133;p5"/>
          <p:cNvSpPr txBox="1"/>
          <p:nvPr/>
        </p:nvSpPr>
        <p:spPr>
          <a:xfrm>
            <a:off x="1035075" y="2485800"/>
            <a:ext cx="8287200" cy="1228200"/>
          </a:xfrm>
          <a:prstGeom prst="rect">
            <a:avLst/>
          </a:prstGeom>
          <a:noFill/>
          <a:ln>
            <a:noFill/>
          </a:ln>
        </p:spPr>
        <p:txBody>
          <a:bodyPr anchorCtr="0" anchor="t" bIns="0" lIns="0" spcFirstLastPara="1" rIns="0" wrap="square" tIns="0">
            <a:spAutoFit/>
          </a:bodyPr>
          <a:lstStyle/>
          <a:p>
            <a:pPr indent="-361950" lvl="0" marL="457200" rtl="0" algn="l">
              <a:lnSpc>
                <a:spcPct val="140000"/>
              </a:lnSpc>
              <a:spcBef>
                <a:spcPts val="0"/>
              </a:spcBef>
              <a:spcAft>
                <a:spcPts val="0"/>
              </a:spcAft>
              <a:buClr>
                <a:srgbClr val="331B0D"/>
              </a:buClr>
              <a:buSzPts val="2100"/>
              <a:buChar char="●"/>
            </a:pPr>
            <a:r>
              <a:rPr b="1" i="1" lang="en-US" sz="2100">
                <a:solidFill>
                  <a:srgbClr val="331B0D"/>
                </a:solidFill>
              </a:rPr>
              <a:t>Wikidata.</a:t>
            </a:r>
            <a:r>
              <a:rPr i="1" lang="en-US" sz="2100">
                <a:solidFill>
                  <a:srgbClr val="331B0D"/>
                </a:solidFill>
              </a:rPr>
              <a:t> Fuente principal para extraer la </a:t>
            </a:r>
            <a:r>
              <a:rPr b="1" i="1" lang="en-US" sz="2100">
                <a:solidFill>
                  <a:srgbClr val="331B0D"/>
                </a:solidFill>
              </a:rPr>
              <a:t>jerarquía de géneros</a:t>
            </a:r>
            <a:r>
              <a:rPr i="1" lang="en-US" sz="2100">
                <a:solidFill>
                  <a:srgbClr val="331B0D"/>
                </a:solidFill>
              </a:rPr>
              <a:t> narrativos mediante consultas SPARQL y relaciones </a:t>
            </a:r>
            <a:r>
              <a:rPr b="1" i="1" lang="en-US" sz="2100">
                <a:solidFill>
                  <a:srgbClr val="331B0D"/>
                </a:solidFill>
              </a:rPr>
              <a:t>subclase </a:t>
            </a:r>
            <a:r>
              <a:rPr i="1" lang="en-US" sz="2100">
                <a:solidFill>
                  <a:srgbClr val="331B0D"/>
                </a:solidFill>
              </a:rPr>
              <a:t>(P279).</a:t>
            </a:r>
            <a:endParaRPr b="0" i="0" sz="2100" u="none" cap="none" strike="noStrike">
              <a:solidFill>
                <a:srgbClr val="331B0D"/>
              </a:solidFill>
              <a:latin typeface="Arial"/>
              <a:ea typeface="Arial"/>
              <a:cs typeface="Arial"/>
              <a:sym typeface="Arial"/>
            </a:endParaRPr>
          </a:p>
        </p:txBody>
      </p:sp>
      <p:grpSp>
        <p:nvGrpSpPr>
          <p:cNvPr id="134" name="Google Shape;134;p5"/>
          <p:cNvGrpSpPr/>
          <p:nvPr/>
        </p:nvGrpSpPr>
        <p:grpSpPr>
          <a:xfrm>
            <a:off x="12647992" y="2074343"/>
            <a:ext cx="3134938" cy="837348"/>
            <a:chOff x="9569213" y="7945850"/>
            <a:chExt cx="3078600" cy="822300"/>
          </a:xfrm>
        </p:grpSpPr>
        <p:sp>
          <p:nvSpPr>
            <p:cNvPr id="135" name="Google Shape;135;p5"/>
            <p:cNvSpPr/>
            <p:nvPr/>
          </p:nvSpPr>
          <p:spPr>
            <a:xfrm>
              <a:off x="9569213" y="7945850"/>
              <a:ext cx="3078600" cy="822300"/>
            </a:xfrm>
            <a:prstGeom prst="roundRect">
              <a:avLst>
                <a:gd fmla="val 16667" name="adj"/>
              </a:avLst>
            </a:prstGeom>
            <a:solidFill>
              <a:srgbClr val="8C7753">
                <a:alpha val="40000"/>
              </a:srgbClr>
            </a:solidFill>
            <a:ln>
              <a:noFill/>
            </a:ln>
          </p:spPr>
          <p:txBody>
            <a:bodyPr anchorCtr="0" anchor="ctr" bIns="93100" lIns="93100" spcFirstLastPara="1" rIns="93100" wrap="square" tIns="93100">
              <a:noAutofit/>
            </a:bodyPr>
            <a:lstStyle/>
            <a:p>
              <a:pPr indent="0" lvl="0" marL="0" rtl="0" algn="ctr">
                <a:spcBef>
                  <a:spcPts val="0"/>
                </a:spcBef>
                <a:spcAft>
                  <a:spcPts val="0"/>
                </a:spcAft>
                <a:buNone/>
              </a:pPr>
              <a:r>
                <a:t/>
              </a:r>
              <a:endParaRPr sz="1425">
                <a:latin typeface="Calibri"/>
                <a:ea typeface="Calibri"/>
                <a:cs typeface="Calibri"/>
                <a:sym typeface="Calibri"/>
              </a:endParaRPr>
            </a:p>
          </p:txBody>
        </p:sp>
        <p:sp>
          <p:nvSpPr>
            <p:cNvPr id="136" name="Google Shape;136;p5"/>
            <p:cNvSpPr txBox="1"/>
            <p:nvPr/>
          </p:nvSpPr>
          <p:spPr>
            <a:xfrm>
              <a:off x="9719225" y="8217210"/>
              <a:ext cx="2778600" cy="27960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1" lang="en-US" sz="1850">
                  <a:solidFill>
                    <a:srgbClr val="FAF7F0"/>
                  </a:solidFill>
                </a:rPr>
                <a:t>NARRATIVO</a:t>
              </a:r>
              <a:endParaRPr b="1" sz="1425">
                <a:solidFill>
                  <a:srgbClr val="FAF7F0"/>
                </a:solidFill>
              </a:endParaRPr>
            </a:p>
          </p:txBody>
        </p:sp>
      </p:grpSp>
      <p:sp>
        <p:nvSpPr>
          <p:cNvPr id="137" name="Google Shape;137;p5"/>
          <p:cNvSpPr/>
          <p:nvPr/>
        </p:nvSpPr>
        <p:spPr>
          <a:xfrm rot="7133572">
            <a:off x="12307936" y="6414541"/>
            <a:ext cx="1330736" cy="683431"/>
          </a:xfrm>
          <a:custGeom>
            <a:rect b="b" l="l" r="r" t="t"/>
            <a:pathLst>
              <a:path extrusionOk="0" h="1096432" w="1933763">
                <a:moveTo>
                  <a:pt x="0" y="0"/>
                </a:moveTo>
                <a:lnTo>
                  <a:pt x="1933762" y="0"/>
                </a:lnTo>
                <a:lnTo>
                  <a:pt x="1933762" y="1096432"/>
                </a:lnTo>
                <a:lnTo>
                  <a:pt x="0" y="1096432"/>
                </a:lnTo>
                <a:lnTo>
                  <a:pt x="0" y="0"/>
                </a:lnTo>
                <a:close/>
              </a:path>
            </a:pathLst>
          </a:custGeom>
          <a:blipFill rotWithShape="1">
            <a:blip r:embed="rId3">
              <a:alphaModFix/>
            </a:blip>
            <a:stretch>
              <a:fillRect b="0" l="0" r="0" t="0"/>
            </a:stretch>
          </a:blipFill>
          <a:ln>
            <a:noFill/>
          </a:ln>
        </p:spPr>
      </p:sp>
      <p:grpSp>
        <p:nvGrpSpPr>
          <p:cNvPr id="138" name="Google Shape;138;p5"/>
          <p:cNvGrpSpPr/>
          <p:nvPr/>
        </p:nvGrpSpPr>
        <p:grpSpPr>
          <a:xfrm>
            <a:off x="14824765" y="7850647"/>
            <a:ext cx="3134938" cy="837348"/>
            <a:chOff x="9569213" y="7945850"/>
            <a:chExt cx="3078600" cy="822300"/>
          </a:xfrm>
        </p:grpSpPr>
        <p:sp>
          <p:nvSpPr>
            <p:cNvPr id="139" name="Google Shape;139;p5"/>
            <p:cNvSpPr/>
            <p:nvPr/>
          </p:nvSpPr>
          <p:spPr>
            <a:xfrm>
              <a:off x="9569213" y="7945850"/>
              <a:ext cx="3078600" cy="822300"/>
            </a:xfrm>
            <a:prstGeom prst="roundRect">
              <a:avLst>
                <a:gd fmla="val 16667" name="adj"/>
              </a:avLst>
            </a:prstGeom>
            <a:solidFill>
              <a:srgbClr val="8C7753">
                <a:alpha val="40000"/>
              </a:srgbClr>
            </a:solidFill>
            <a:ln>
              <a:noFill/>
            </a:ln>
          </p:spPr>
          <p:txBody>
            <a:bodyPr anchorCtr="0" anchor="ctr" bIns="93100" lIns="93100" spcFirstLastPara="1" rIns="93100" wrap="square" tIns="93100">
              <a:noAutofit/>
            </a:bodyPr>
            <a:lstStyle/>
            <a:p>
              <a:pPr indent="0" lvl="0" marL="0" rtl="0" algn="ctr">
                <a:spcBef>
                  <a:spcPts val="0"/>
                </a:spcBef>
                <a:spcAft>
                  <a:spcPts val="0"/>
                </a:spcAft>
                <a:buNone/>
              </a:pPr>
              <a:r>
                <a:t/>
              </a:r>
              <a:endParaRPr sz="1425">
                <a:latin typeface="Calibri"/>
                <a:ea typeface="Calibri"/>
                <a:cs typeface="Calibri"/>
                <a:sym typeface="Calibri"/>
              </a:endParaRPr>
            </a:p>
          </p:txBody>
        </p:sp>
        <p:sp>
          <p:nvSpPr>
            <p:cNvPr id="140" name="Google Shape;140;p5"/>
            <p:cNvSpPr txBox="1"/>
            <p:nvPr/>
          </p:nvSpPr>
          <p:spPr>
            <a:xfrm>
              <a:off x="9719225" y="8217210"/>
              <a:ext cx="2778600" cy="27960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1" lang="en-US" sz="1850">
                  <a:solidFill>
                    <a:srgbClr val="FAF7F0"/>
                  </a:solidFill>
                </a:rPr>
                <a:t>NOVELA NEGRA</a:t>
              </a:r>
              <a:endParaRPr b="1" sz="1425">
                <a:solidFill>
                  <a:srgbClr val="FAF7F0"/>
                </a:solidFill>
              </a:endParaRPr>
            </a:p>
          </p:txBody>
        </p:sp>
      </p:grpSp>
      <p:sp>
        <p:nvSpPr>
          <p:cNvPr id="141" name="Google Shape;141;p5"/>
          <p:cNvSpPr/>
          <p:nvPr/>
        </p:nvSpPr>
        <p:spPr>
          <a:xfrm flipH="1" rot="-7133572">
            <a:off x="15046947" y="6414541"/>
            <a:ext cx="1330736" cy="683431"/>
          </a:xfrm>
          <a:custGeom>
            <a:rect b="b" l="l" r="r" t="t"/>
            <a:pathLst>
              <a:path extrusionOk="0" h="1096432" w="1933763">
                <a:moveTo>
                  <a:pt x="0" y="0"/>
                </a:moveTo>
                <a:lnTo>
                  <a:pt x="1933762" y="0"/>
                </a:lnTo>
                <a:lnTo>
                  <a:pt x="1933762" y="1096432"/>
                </a:lnTo>
                <a:lnTo>
                  <a:pt x="0" y="1096432"/>
                </a:lnTo>
                <a:lnTo>
                  <a:pt x="0" y="0"/>
                </a:lnTo>
                <a:close/>
              </a:path>
            </a:pathLst>
          </a:custGeom>
          <a:blipFill rotWithShape="1">
            <a:blip r:embed="rId3">
              <a:alphaModFix/>
            </a:blip>
            <a:stretch>
              <a:fillRect b="0" l="0" r="0" t="0"/>
            </a:stretch>
          </a:blipFill>
          <a:ln>
            <a:noFill/>
          </a:ln>
        </p:spPr>
      </p:sp>
      <p:sp>
        <p:nvSpPr>
          <p:cNvPr id="142" name="Google Shape;142;p5"/>
          <p:cNvSpPr txBox="1"/>
          <p:nvPr/>
        </p:nvSpPr>
        <p:spPr>
          <a:xfrm>
            <a:off x="14432418" y="3383021"/>
            <a:ext cx="1612800" cy="28470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1" lang="en-US" sz="1850">
                <a:solidFill>
                  <a:srgbClr val="CEC4B1"/>
                </a:solidFill>
              </a:rPr>
              <a:t>subClassOf</a:t>
            </a:r>
            <a:endParaRPr b="1" sz="1425">
              <a:solidFill>
                <a:srgbClr val="CEC4B1"/>
              </a:solidFill>
            </a:endParaRPr>
          </a:p>
        </p:txBody>
      </p:sp>
      <p:sp>
        <p:nvSpPr>
          <p:cNvPr id="143" name="Google Shape;143;p5"/>
          <p:cNvSpPr txBox="1"/>
          <p:nvPr/>
        </p:nvSpPr>
        <p:spPr>
          <a:xfrm>
            <a:off x="10703233" y="6222498"/>
            <a:ext cx="2368800" cy="28470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1" lang="en-US" sz="1850">
                <a:solidFill>
                  <a:srgbClr val="CEC4B1"/>
                </a:solidFill>
              </a:rPr>
              <a:t>subClassOf</a:t>
            </a:r>
            <a:endParaRPr b="1" sz="1425">
              <a:solidFill>
                <a:srgbClr val="CEC4B1"/>
              </a:solidFill>
            </a:endParaRPr>
          </a:p>
        </p:txBody>
      </p:sp>
      <p:sp>
        <p:nvSpPr>
          <p:cNvPr id="144" name="Google Shape;144;p5"/>
          <p:cNvSpPr txBox="1"/>
          <p:nvPr/>
        </p:nvSpPr>
        <p:spPr>
          <a:xfrm>
            <a:off x="859600" y="4636000"/>
            <a:ext cx="8723400" cy="4848600"/>
          </a:xfrm>
          <a:prstGeom prst="rect">
            <a:avLst/>
          </a:prstGeom>
          <a:noFill/>
          <a:ln>
            <a:noFill/>
          </a:ln>
        </p:spPr>
        <p:txBody>
          <a:bodyPr anchorCtr="0" anchor="t" bIns="0" lIns="0" spcFirstLastPara="1" rIns="0" wrap="square" tIns="0">
            <a:spAutoFit/>
          </a:bodyPr>
          <a:lstStyle/>
          <a:p>
            <a:pPr indent="-361950" lvl="0" marL="457200" marR="0" rtl="0" algn="l">
              <a:lnSpc>
                <a:spcPct val="140000"/>
              </a:lnSpc>
              <a:spcBef>
                <a:spcPts val="0"/>
              </a:spcBef>
              <a:spcAft>
                <a:spcPts val="0"/>
              </a:spcAft>
              <a:buClr>
                <a:srgbClr val="331B0D"/>
              </a:buClr>
              <a:buSzPts val="2100"/>
              <a:buChar char="●"/>
            </a:pPr>
            <a:r>
              <a:rPr b="1" lang="en-US" sz="2100">
                <a:solidFill>
                  <a:srgbClr val="331B0D"/>
                </a:solidFill>
              </a:rPr>
              <a:t>Google Books. </a:t>
            </a:r>
            <a:r>
              <a:rPr i="1" lang="en-US" sz="2100">
                <a:solidFill>
                  <a:srgbClr val="331B0D"/>
                </a:solidFill>
              </a:rPr>
              <a:t>Fuente bibliográfica completa y estructurada, con metadatos consistentes y tiempos de respuesta estables.</a:t>
            </a:r>
            <a:endParaRPr i="1" sz="2100">
              <a:solidFill>
                <a:srgbClr val="331B0D"/>
              </a:solidFill>
            </a:endParaRPr>
          </a:p>
          <a:p>
            <a:pPr indent="-361950" lvl="0" marL="457200" marR="0" rtl="0" algn="l">
              <a:lnSpc>
                <a:spcPct val="140000"/>
              </a:lnSpc>
              <a:spcBef>
                <a:spcPts val="0"/>
              </a:spcBef>
              <a:spcAft>
                <a:spcPts val="0"/>
              </a:spcAft>
              <a:buClr>
                <a:srgbClr val="331B0D"/>
              </a:buClr>
              <a:buSzPts val="2100"/>
              <a:buChar char="●"/>
            </a:pPr>
            <a:r>
              <a:rPr b="1" i="1" lang="en-US" sz="2100">
                <a:solidFill>
                  <a:srgbClr val="331B0D"/>
                </a:solidFill>
              </a:rPr>
              <a:t>Wikidata.</a:t>
            </a:r>
            <a:r>
              <a:rPr i="1" lang="en-US" sz="2100">
                <a:solidFill>
                  <a:srgbClr val="331B0D"/>
                </a:solidFill>
              </a:rPr>
              <a:t> Extracción de libros, buena integración semántica pero limitaciones en latencia y completitud de datos</a:t>
            </a:r>
            <a:endParaRPr i="1" sz="2100">
              <a:solidFill>
                <a:srgbClr val="331B0D"/>
              </a:solidFill>
            </a:endParaRPr>
          </a:p>
          <a:p>
            <a:pPr indent="-361950" lvl="0" marL="457200" marR="0" rtl="0" algn="l">
              <a:lnSpc>
                <a:spcPct val="140000"/>
              </a:lnSpc>
              <a:spcBef>
                <a:spcPts val="0"/>
              </a:spcBef>
              <a:spcAft>
                <a:spcPts val="0"/>
              </a:spcAft>
              <a:buClr>
                <a:srgbClr val="331B0D"/>
              </a:buClr>
              <a:buSzPts val="2100"/>
              <a:buChar char="●"/>
            </a:pPr>
            <a:r>
              <a:rPr b="1" i="1" lang="en-US" sz="2100">
                <a:solidFill>
                  <a:srgbClr val="331B0D"/>
                </a:solidFill>
              </a:rPr>
              <a:t>DBPedia. </a:t>
            </a:r>
            <a:r>
              <a:rPr i="1" lang="en-US" sz="2100">
                <a:solidFill>
                  <a:srgbClr val="331B0D"/>
                </a:solidFill>
              </a:rPr>
              <a:t>Fuente complementaria interconectada con Wikidata por URI de Género, con cobertura irregular y carencias en metadatos clave de libros.</a:t>
            </a:r>
            <a:endParaRPr i="1" sz="2100">
              <a:solidFill>
                <a:srgbClr val="331B0D"/>
              </a:solidFill>
            </a:endParaRPr>
          </a:p>
          <a:p>
            <a:pPr indent="-361950" lvl="0" marL="457200" marR="0" rtl="0" algn="l">
              <a:lnSpc>
                <a:spcPct val="140000"/>
              </a:lnSpc>
              <a:spcBef>
                <a:spcPts val="0"/>
              </a:spcBef>
              <a:spcAft>
                <a:spcPts val="0"/>
              </a:spcAft>
              <a:buClr>
                <a:srgbClr val="331B0D"/>
              </a:buClr>
              <a:buSzPts val="2100"/>
              <a:buChar char="●"/>
            </a:pPr>
            <a:r>
              <a:rPr b="1" i="1" lang="en-US" sz="2100">
                <a:solidFill>
                  <a:srgbClr val="331B0D"/>
                </a:solidFill>
              </a:rPr>
              <a:t>Otros</a:t>
            </a:r>
            <a:r>
              <a:rPr i="1" lang="en-US" sz="2100">
                <a:solidFill>
                  <a:srgbClr val="331B0D"/>
                </a:solidFill>
              </a:rPr>
              <a:t>. Se utilizaron </a:t>
            </a:r>
            <a:r>
              <a:rPr b="1" i="1" lang="en-US" sz="2100">
                <a:solidFill>
                  <a:srgbClr val="331B0D"/>
                </a:solidFill>
              </a:rPr>
              <a:t>BIBO </a:t>
            </a:r>
            <a:r>
              <a:rPr i="1" lang="en-US" sz="2100">
                <a:solidFill>
                  <a:srgbClr val="331B0D"/>
                </a:solidFill>
              </a:rPr>
              <a:t>para metadatos bibliográficos, </a:t>
            </a:r>
            <a:r>
              <a:rPr b="1" i="1" lang="en-US" sz="2100">
                <a:solidFill>
                  <a:schemeClr val="dk1"/>
                </a:solidFill>
                <a:uFill>
                  <a:noFill/>
                </a:uFill>
                <a:hlinkClick r:id="rId4">
                  <a:extLst>
                    <a:ext uri="{A12FA001-AC4F-418D-AE19-62706E023703}">
                      <ahyp:hlinkClr val="tx"/>
                    </a:ext>
                  </a:extLst>
                </a:hlinkClick>
              </a:rPr>
              <a:t>Schema.org</a:t>
            </a:r>
            <a:r>
              <a:rPr i="1" lang="en-US" sz="2100">
                <a:solidFill>
                  <a:srgbClr val="331B0D"/>
                </a:solidFill>
              </a:rPr>
              <a:t> para autor, género e ISBN, </a:t>
            </a:r>
            <a:r>
              <a:rPr b="1" i="1" lang="en-US" sz="2100">
                <a:solidFill>
                  <a:srgbClr val="331B0D"/>
                </a:solidFill>
              </a:rPr>
              <a:t>Dublin Core</a:t>
            </a:r>
            <a:r>
              <a:rPr i="1" lang="en-US" sz="2100">
                <a:solidFill>
                  <a:srgbClr val="331B0D"/>
                </a:solidFill>
              </a:rPr>
              <a:t> para creador, editorial y fecha, y </a:t>
            </a:r>
            <a:r>
              <a:rPr b="1" i="1" lang="en-US" sz="2100">
                <a:solidFill>
                  <a:srgbClr val="331B0D"/>
                </a:solidFill>
              </a:rPr>
              <a:t>FOAF </a:t>
            </a:r>
            <a:r>
              <a:rPr i="1" lang="en-US" sz="2100">
                <a:solidFill>
                  <a:srgbClr val="331B0D"/>
                </a:solidFill>
              </a:rPr>
              <a:t>para representar autores y sus relaciones sociales.</a:t>
            </a:r>
            <a:endParaRPr i="1" sz="2100">
              <a:solidFill>
                <a:srgbClr val="331B0D"/>
              </a:solidFill>
            </a:endParaRPr>
          </a:p>
        </p:txBody>
      </p:sp>
      <p:sp>
        <p:nvSpPr>
          <p:cNvPr id="145" name="Google Shape;145;p5"/>
          <p:cNvSpPr txBox="1"/>
          <p:nvPr/>
        </p:nvSpPr>
        <p:spPr>
          <a:xfrm>
            <a:off x="1035069" y="4061499"/>
            <a:ext cx="3078600" cy="3693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8C7753"/>
                </a:solidFill>
              </a:rPr>
              <a:t>Enriquecimiento</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0"/>
        </a:solidFill>
      </p:bgPr>
    </p:bg>
    <p:spTree>
      <p:nvGrpSpPr>
        <p:cNvPr id="149" name="Shape 149"/>
        <p:cNvGrpSpPr/>
        <p:nvPr/>
      </p:nvGrpSpPr>
      <p:grpSpPr>
        <a:xfrm>
          <a:off x="0" y="0"/>
          <a:ext cx="0" cy="0"/>
          <a:chOff x="0" y="0"/>
          <a:chExt cx="0" cy="0"/>
        </a:xfrm>
      </p:grpSpPr>
      <p:grpSp>
        <p:nvGrpSpPr>
          <p:cNvPr id="150" name="Google Shape;150;p6"/>
          <p:cNvGrpSpPr/>
          <p:nvPr/>
        </p:nvGrpSpPr>
        <p:grpSpPr>
          <a:xfrm>
            <a:off x="8474100" y="-181050"/>
            <a:ext cx="10076023" cy="10468053"/>
            <a:chOff x="0" y="-47625"/>
            <a:chExt cx="2408400" cy="2757000"/>
          </a:xfrm>
        </p:grpSpPr>
        <p:sp>
          <p:nvSpPr>
            <p:cNvPr id="151" name="Google Shape;151;p6"/>
            <p:cNvSpPr/>
            <p:nvPr/>
          </p:nvSpPr>
          <p:spPr>
            <a:xfrm>
              <a:off x="0" y="0"/>
              <a:ext cx="2408296" cy="2709333"/>
            </a:xfrm>
            <a:custGeom>
              <a:rect b="b" l="l" r="r" t="t"/>
              <a:pathLst>
                <a:path extrusionOk="0" h="2709333" w="2408296">
                  <a:moveTo>
                    <a:pt x="0" y="0"/>
                  </a:moveTo>
                  <a:lnTo>
                    <a:pt x="2408296" y="0"/>
                  </a:lnTo>
                  <a:lnTo>
                    <a:pt x="2408296" y="2709333"/>
                  </a:lnTo>
                  <a:lnTo>
                    <a:pt x="0" y="2709333"/>
                  </a:lnTo>
                  <a:close/>
                </a:path>
              </a:pathLst>
            </a:custGeom>
            <a:solidFill>
              <a:srgbClr val="FFFFFF"/>
            </a:solidFill>
            <a:ln>
              <a:noFill/>
            </a:ln>
          </p:spPr>
        </p:sp>
        <p:sp>
          <p:nvSpPr>
            <p:cNvPr id="152" name="Google Shape;152;p6"/>
            <p:cNvSpPr txBox="1"/>
            <p:nvPr/>
          </p:nvSpPr>
          <p:spPr>
            <a:xfrm>
              <a:off x="0" y="-47625"/>
              <a:ext cx="2408400" cy="27570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3" name="Google Shape;153;p6"/>
          <p:cNvSpPr/>
          <p:nvPr/>
        </p:nvSpPr>
        <p:spPr>
          <a:xfrm>
            <a:off x="9549450" y="723275"/>
            <a:ext cx="7988700" cy="3090900"/>
          </a:xfrm>
          <a:prstGeom prst="roundRect">
            <a:avLst>
              <a:gd fmla="val 16667" name="adj"/>
            </a:avLst>
          </a:prstGeom>
          <a:solidFill>
            <a:srgbClr val="EEECE1">
              <a:alpha val="0"/>
            </a:srgbClr>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4" name="Google Shape;154;p6"/>
          <p:cNvSpPr txBox="1"/>
          <p:nvPr/>
        </p:nvSpPr>
        <p:spPr>
          <a:xfrm>
            <a:off x="1062419" y="852266"/>
            <a:ext cx="7804200" cy="69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4500">
                <a:solidFill>
                  <a:srgbClr val="331B0D"/>
                </a:solidFill>
              </a:rPr>
              <a:t>Item-to-Item</a:t>
            </a:r>
            <a:endParaRPr sz="4500">
              <a:solidFill>
                <a:srgbClr val="331B0D"/>
              </a:solidFill>
            </a:endParaRPr>
          </a:p>
        </p:txBody>
      </p:sp>
      <p:sp>
        <p:nvSpPr>
          <p:cNvPr id="155" name="Google Shape;155;p6"/>
          <p:cNvSpPr txBox="1"/>
          <p:nvPr/>
        </p:nvSpPr>
        <p:spPr>
          <a:xfrm>
            <a:off x="1062419" y="4254017"/>
            <a:ext cx="3078600" cy="3693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8C7753"/>
                </a:solidFill>
              </a:rPr>
              <a:t>Falta de Serendipia</a:t>
            </a:r>
            <a:endParaRPr/>
          </a:p>
        </p:txBody>
      </p:sp>
      <p:sp>
        <p:nvSpPr>
          <p:cNvPr id="156" name="Google Shape;156;p6"/>
          <p:cNvSpPr txBox="1"/>
          <p:nvPr/>
        </p:nvSpPr>
        <p:spPr>
          <a:xfrm>
            <a:off x="1054344" y="1789492"/>
            <a:ext cx="3078600" cy="3693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8C7753"/>
                </a:solidFill>
              </a:rPr>
              <a:t>Aproximación Inicial</a:t>
            </a:r>
            <a:endParaRPr/>
          </a:p>
        </p:txBody>
      </p:sp>
      <p:sp>
        <p:nvSpPr>
          <p:cNvPr id="157" name="Google Shape;157;p6"/>
          <p:cNvSpPr txBox="1"/>
          <p:nvPr/>
        </p:nvSpPr>
        <p:spPr>
          <a:xfrm>
            <a:off x="1062419" y="4793132"/>
            <a:ext cx="7035300" cy="3943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2100">
                <a:solidFill>
                  <a:srgbClr val="331B0D"/>
                </a:solidFill>
              </a:rPr>
              <a:t>La similitud basada solo en género provoca recomendaciones repetitivas. </a:t>
            </a:r>
            <a:endParaRPr sz="2100">
              <a:solidFill>
                <a:srgbClr val="331B0D"/>
              </a:solidFill>
            </a:endParaRPr>
          </a:p>
          <a:p>
            <a:pPr indent="0" lvl="0" marL="0" marR="0" rtl="0" algn="l">
              <a:lnSpc>
                <a:spcPct val="140000"/>
              </a:lnSpc>
              <a:spcBef>
                <a:spcPts val="0"/>
              </a:spcBef>
              <a:spcAft>
                <a:spcPts val="0"/>
              </a:spcAft>
              <a:buNone/>
            </a:pPr>
            <a:r>
              <a:rPr lang="en-US" sz="2100">
                <a:solidFill>
                  <a:srgbClr val="331B0D"/>
                </a:solidFill>
              </a:rPr>
              <a:t>Se implementaron dos soluciones:</a:t>
            </a:r>
            <a:endParaRPr sz="2100">
              <a:solidFill>
                <a:srgbClr val="331B0D"/>
              </a:solidFill>
            </a:endParaRPr>
          </a:p>
          <a:p>
            <a:pPr indent="-361950" lvl="0" marL="457200" marR="0" rtl="0" algn="l">
              <a:lnSpc>
                <a:spcPct val="140000"/>
              </a:lnSpc>
              <a:spcBef>
                <a:spcPts val="0"/>
              </a:spcBef>
              <a:spcAft>
                <a:spcPts val="0"/>
              </a:spcAft>
              <a:buClr>
                <a:srgbClr val="331B0D"/>
              </a:buClr>
              <a:buSzPts val="2100"/>
              <a:buChar char="●"/>
            </a:pPr>
            <a:r>
              <a:rPr b="1" lang="en-US" sz="2100">
                <a:solidFill>
                  <a:srgbClr val="331B0D"/>
                </a:solidFill>
              </a:rPr>
              <a:t>Agregar pesos</a:t>
            </a:r>
            <a:r>
              <a:rPr lang="en-US" sz="2100">
                <a:solidFill>
                  <a:srgbClr val="331B0D"/>
                </a:solidFill>
              </a:rPr>
              <a:t>, consideramos más similares libros con elementos comunes:</a:t>
            </a:r>
            <a:endParaRPr sz="2100">
              <a:solidFill>
                <a:srgbClr val="331B0D"/>
              </a:solidFill>
            </a:endParaRPr>
          </a:p>
          <a:p>
            <a:pPr indent="-361950" lvl="1" marL="914400" marR="0" rtl="0" algn="l">
              <a:lnSpc>
                <a:spcPct val="140000"/>
              </a:lnSpc>
              <a:spcBef>
                <a:spcPts val="0"/>
              </a:spcBef>
              <a:spcAft>
                <a:spcPts val="0"/>
              </a:spcAft>
              <a:buClr>
                <a:srgbClr val="331B0D"/>
              </a:buClr>
              <a:buSzPts val="2100"/>
              <a:buChar char="○"/>
            </a:pPr>
            <a:r>
              <a:rPr lang="en-US" sz="2100">
                <a:solidFill>
                  <a:srgbClr val="331B0D"/>
                </a:solidFill>
              </a:rPr>
              <a:t>Autores: +0.5</a:t>
            </a:r>
            <a:endParaRPr sz="2100">
              <a:solidFill>
                <a:srgbClr val="331B0D"/>
              </a:solidFill>
            </a:endParaRPr>
          </a:p>
          <a:p>
            <a:pPr indent="-361950" lvl="1" marL="914400" marR="0" rtl="0" algn="l">
              <a:lnSpc>
                <a:spcPct val="140000"/>
              </a:lnSpc>
              <a:spcBef>
                <a:spcPts val="0"/>
              </a:spcBef>
              <a:spcAft>
                <a:spcPts val="0"/>
              </a:spcAft>
              <a:buClr>
                <a:srgbClr val="331B0D"/>
              </a:buClr>
              <a:buSzPts val="2100"/>
              <a:buChar char="○"/>
            </a:pPr>
            <a:r>
              <a:rPr lang="en-US" sz="2100">
                <a:solidFill>
                  <a:srgbClr val="331B0D"/>
                </a:solidFill>
              </a:rPr>
              <a:t>Editorial: +0.1</a:t>
            </a:r>
            <a:endParaRPr sz="2100">
              <a:solidFill>
                <a:srgbClr val="331B0D"/>
              </a:solidFill>
            </a:endParaRPr>
          </a:p>
          <a:p>
            <a:pPr indent="-361950" lvl="0" marL="457200" marR="0" rtl="0" algn="l">
              <a:lnSpc>
                <a:spcPct val="140000"/>
              </a:lnSpc>
              <a:spcBef>
                <a:spcPts val="0"/>
              </a:spcBef>
              <a:spcAft>
                <a:spcPts val="0"/>
              </a:spcAft>
              <a:buClr>
                <a:srgbClr val="331B0D"/>
              </a:buClr>
              <a:buSzPts val="2100"/>
              <a:buChar char="●"/>
            </a:pPr>
            <a:r>
              <a:rPr lang="en-US" sz="2100">
                <a:solidFill>
                  <a:srgbClr val="331B0D"/>
                </a:solidFill>
              </a:rPr>
              <a:t>Factor de aleatoriedad, agregando aleatoriamente hasta +0.1</a:t>
            </a:r>
            <a:endParaRPr sz="2100">
              <a:solidFill>
                <a:srgbClr val="331B0D"/>
              </a:solidFill>
            </a:endParaRPr>
          </a:p>
        </p:txBody>
      </p:sp>
      <p:sp>
        <p:nvSpPr>
          <p:cNvPr id="158" name="Google Shape;158;p6"/>
          <p:cNvSpPr txBox="1"/>
          <p:nvPr/>
        </p:nvSpPr>
        <p:spPr>
          <a:xfrm>
            <a:off x="1054344" y="2328607"/>
            <a:ext cx="7035300" cy="1680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2100">
                <a:solidFill>
                  <a:srgbClr val="331B0D"/>
                </a:solidFill>
              </a:rPr>
              <a:t>Los libros eran originalmente una instancia del género, pero esto daba problemas para navegar por el grafo.</a:t>
            </a:r>
            <a:endParaRPr sz="2100">
              <a:solidFill>
                <a:srgbClr val="331B0D"/>
              </a:solidFill>
            </a:endParaRPr>
          </a:p>
          <a:p>
            <a:pPr indent="0" lvl="0" marL="0" marR="0" rtl="0" algn="l">
              <a:lnSpc>
                <a:spcPct val="140000"/>
              </a:lnSpc>
              <a:spcBef>
                <a:spcPts val="0"/>
              </a:spcBef>
              <a:spcAft>
                <a:spcPts val="0"/>
              </a:spcAft>
              <a:buNone/>
            </a:pPr>
            <a:r>
              <a:rPr lang="en-US" sz="2100">
                <a:solidFill>
                  <a:srgbClr val="331B0D"/>
                </a:solidFill>
              </a:rPr>
              <a:t>Los libros pasaron a ser instancia de LibrosXXI y tener un propiedad tiene género</a:t>
            </a:r>
            <a:endParaRPr sz="2100">
              <a:solidFill>
                <a:srgbClr val="331B0D"/>
              </a:solidFill>
            </a:endParaRPr>
          </a:p>
        </p:txBody>
      </p:sp>
      <p:sp>
        <p:nvSpPr>
          <p:cNvPr id="159" name="Google Shape;159;p6"/>
          <p:cNvSpPr/>
          <p:nvPr/>
        </p:nvSpPr>
        <p:spPr>
          <a:xfrm>
            <a:off x="10525863" y="1400375"/>
            <a:ext cx="2052000" cy="2070600"/>
          </a:xfrm>
          <a:prstGeom prst="ellipse">
            <a:avLst/>
          </a:prstGeom>
          <a:solidFill>
            <a:srgbClr val="F4CCCC"/>
          </a:solidFill>
          <a:ln cap="flat" cmpd="sng" w="9525">
            <a:solidFill>
              <a:srgbClr val="F4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500">
                <a:latin typeface="Calibri"/>
                <a:ea typeface="Calibri"/>
                <a:cs typeface="Calibri"/>
                <a:sym typeface="Calibri"/>
              </a:rPr>
              <a:t>Libro</a:t>
            </a:r>
            <a:endParaRPr sz="4000">
              <a:latin typeface="Calibri"/>
              <a:ea typeface="Calibri"/>
              <a:cs typeface="Calibri"/>
              <a:sym typeface="Calibri"/>
            </a:endParaRPr>
          </a:p>
        </p:txBody>
      </p:sp>
      <p:sp>
        <p:nvSpPr>
          <p:cNvPr id="160" name="Google Shape;160;p6"/>
          <p:cNvSpPr/>
          <p:nvPr/>
        </p:nvSpPr>
        <p:spPr>
          <a:xfrm>
            <a:off x="14900075" y="1400375"/>
            <a:ext cx="2052000" cy="2070600"/>
          </a:xfrm>
          <a:prstGeom prst="ellipse">
            <a:avLst/>
          </a:prstGeom>
          <a:solidFill>
            <a:srgbClr val="F4CCCC"/>
          </a:solidFill>
          <a:ln cap="flat" cmpd="sng" w="9525">
            <a:solidFill>
              <a:srgbClr val="F4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500">
                <a:latin typeface="Calibri"/>
                <a:ea typeface="Calibri"/>
                <a:cs typeface="Calibri"/>
                <a:sym typeface="Calibri"/>
              </a:rPr>
              <a:t>Comic</a:t>
            </a:r>
            <a:endParaRPr sz="3500">
              <a:latin typeface="Calibri"/>
              <a:ea typeface="Calibri"/>
              <a:cs typeface="Calibri"/>
              <a:sym typeface="Calibri"/>
            </a:endParaRPr>
          </a:p>
        </p:txBody>
      </p:sp>
      <p:cxnSp>
        <p:nvCxnSpPr>
          <p:cNvPr id="161" name="Google Shape;161;p6"/>
          <p:cNvCxnSpPr>
            <a:stCxn id="159" idx="6"/>
            <a:endCxn id="160" idx="2"/>
          </p:cNvCxnSpPr>
          <p:nvPr/>
        </p:nvCxnSpPr>
        <p:spPr>
          <a:xfrm>
            <a:off x="12577863" y="2435675"/>
            <a:ext cx="2322300" cy="0"/>
          </a:xfrm>
          <a:prstGeom prst="straightConnector1">
            <a:avLst/>
          </a:prstGeom>
          <a:noFill/>
          <a:ln cap="flat" cmpd="sng" w="76200">
            <a:solidFill>
              <a:srgbClr val="F4CCCC"/>
            </a:solidFill>
            <a:prstDash val="solid"/>
            <a:round/>
            <a:headEnd len="med" w="med" type="none"/>
            <a:tailEnd len="med" w="med" type="triangle"/>
          </a:ln>
        </p:spPr>
      </p:cxnSp>
      <p:sp>
        <p:nvSpPr>
          <p:cNvPr id="162" name="Google Shape;162;p6"/>
          <p:cNvSpPr txBox="1"/>
          <p:nvPr/>
        </p:nvSpPr>
        <p:spPr>
          <a:xfrm>
            <a:off x="9698375" y="860075"/>
            <a:ext cx="87201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rgbClr val="980000"/>
                </a:solidFill>
              </a:rPr>
              <a:t>Antes</a:t>
            </a:r>
            <a:endParaRPr sz="3200">
              <a:solidFill>
                <a:srgbClr val="980000"/>
              </a:solidFill>
            </a:endParaRPr>
          </a:p>
        </p:txBody>
      </p:sp>
      <p:sp>
        <p:nvSpPr>
          <p:cNvPr id="163" name="Google Shape;163;p6"/>
          <p:cNvSpPr txBox="1"/>
          <p:nvPr/>
        </p:nvSpPr>
        <p:spPr>
          <a:xfrm>
            <a:off x="12577875" y="1647875"/>
            <a:ext cx="49719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rdfs:Type</a:t>
            </a:r>
            <a:endParaRPr sz="3200">
              <a:solidFill>
                <a:schemeClr val="dk1"/>
              </a:solidFill>
              <a:latin typeface="Calibri"/>
              <a:ea typeface="Calibri"/>
              <a:cs typeface="Calibri"/>
              <a:sym typeface="Calibri"/>
            </a:endParaRPr>
          </a:p>
        </p:txBody>
      </p:sp>
      <p:sp>
        <p:nvSpPr>
          <p:cNvPr id="164" name="Google Shape;164;p6"/>
          <p:cNvSpPr/>
          <p:nvPr/>
        </p:nvSpPr>
        <p:spPr>
          <a:xfrm>
            <a:off x="9549450" y="4254025"/>
            <a:ext cx="7988700" cy="5058600"/>
          </a:xfrm>
          <a:prstGeom prst="roundRect">
            <a:avLst>
              <a:gd fmla="val 16667" name="adj"/>
            </a:avLst>
          </a:prstGeom>
          <a:solidFill>
            <a:srgbClr val="EEECE1">
              <a:alpha val="0"/>
            </a:srgbClr>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5" name="Google Shape;165;p6"/>
          <p:cNvSpPr/>
          <p:nvPr/>
        </p:nvSpPr>
        <p:spPr>
          <a:xfrm>
            <a:off x="10525850" y="6898975"/>
            <a:ext cx="2052000" cy="2070600"/>
          </a:xfrm>
          <a:prstGeom prst="ellipse">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500">
                <a:latin typeface="Calibri"/>
                <a:ea typeface="Calibri"/>
                <a:cs typeface="Calibri"/>
                <a:sym typeface="Calibri"/>
              </a:rPr>
              <a:t>Libro</a:t>
            </a:r>
            <a:endParaRPr sz="4000">
              <a:latin typeface="Calibri"/>
              <a:ea typeface="Calibri"/>
              <a:cs typeface="Calibri"/>
              <a:sym typeface="Calibri"/>
            </a:endParaRPr>
          </a:p>
        </p:txBody>
      </p:sp>
      <p:sp>
        <p:nvSpPr>
          <p:cNvPr id="166" name="Google Shape;166;p6"/>
          <p:cNvSpPr/>
          <p:nvPr/>
        </p:nvSpPr>
        <p:spPr>
          <a:xfrm>
            <a:off x="14900063" y="6898975"/>
            <a:ext cx="2052000" cy="2070600"/>
          </a:xfrm>
          <a:prstGeom prst="ellipse">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500">
                <a:latin typeface="Calibri"/>
                <a:ea typeface="Calibri"/>
                <a:cs typeface="Calibri"/>
                <a:sym typeface="Calibri"/>
              </a:rPr>
              <a:t>Comic</a:t>
            </a:r>
            <a:endParaRPr sz="3500">
              <a:latin typeface="Calibri"/>
              <a:ea typeface="Calibri"/>
              <a:cs typeface="Calibri"/>
              <a:sym typeface="Calibri"/>
            </a:endParaRPr>
          </a:p>
        </p:txBody>
      </p:sp>
      <p:cxnSp>
        <p:nvCxnSpPr>
          <p:cNvPr id="167" name="Google Shape;167;p6"/>
          <p:cNvCxnSpPr>
            <a:stCxn id="165" idx="6"/>
            <a:endCxn id="166" idx="2"/>
          </p:cNvCxnSpPr>
          <p:nvPr/>
        </p:nvCxnSpPr>
        <p:spPr>
          <a:xfrm>
            <a:off x="12577850" y="7934275"/>
            <a:ext cx="2322300" cy="0"/>
          </a:xfrm>
          <a:prstGeom prst="straightConnector1">
            <a:avLst/>
          </a:prstGeom>
          <a:noFill/>
          <a:ln cap="flat" cmpd="sng" w="76200">
            <a:solidFill>
              <a:srgbClr val="C9DAF8"/>
            </a:solidFill>
            <a:prstDash val="solid"/>
            <a:round/>
            <a:headEnd len="med" w="med" type="none"/>
            <a:tailEnd len="med" w="med" type="triangle"/>
          </a:ln>
        </p:spPr>
      </p:cxnSp>
      <p:sp>
        <p:nvSpPr>
          <p:cNvPr id="168" name="Google Shape;168;p6"/>
          <p:cNvSpPr txBox="1"/>
          <p:nvPr/>
        </p:nvSpPr>
        <p:spPr>
          <a:xfrm>
            <a:off x="9830013" y="4349775"/>
            <a:ext cx="87201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rgbClr val="0B5394"/>
                </a:solidFill>
              </a:rPr>
              <a:t>Después</a:t>
            </a:r>
            <a:endParaRPr sz="3200">
              <a:solidFill>
                <a:srgbClr val="0B5394"/>
              </a:solidFill>
            </a:endParaRPr>
          </a:p>
        </p:txBody>
      </p:sp>
      <p:sp>
        <p:nvSpPr>
          <p:cNvPr id="169" name="Google Shape;169;p6"/>
          <p:cNvSpPr txBox="1"/>
          <p:nvPr/>
        </p:nvSpPr>
        <p:spPr>
          <a:xfrm rot="-2699560">
            <a:off x="12089373" y="4846411"/>
            <a:ext cx="4971739" cy="677125"/>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rdfs:Type</a:t>
            </a:r>
            <a:endParaRPr sz="3200">
              <a:solidFill>
                <a:schemeClr val="dk1"/>
              </a:solidFill>
              <a:latin typeface="Calibri"/>
              <a:ea typeface="Calibri"/>
              <a:cs typeface="Calibri"/>
              <a:sym typeface="Calibri"/>
            </a:endParaRPr>
          </a:p>
        </p:txBody>
      </p:sp>
      <p:sp>
        <p:nvSpPr>
          <p:cNvPr id="170" name="Google Shape;170;p6"/>
          <p:cNvSpPr/>
          <p:nvPr/>
        </p:nvSpPr>
        <p:spPr>
          <a:xfrm>
            <a:off x="14900063" y="4527275"/>
            <a:ext cx="2052000" cy="2070600"/>
          </a:xfrm>
          <a:prstGeom prst="ellipse">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500">
                <a:latin typeface="Calibri"/>
                <a:ea typeface="Calibri"/>
                <a:cs typeface="Calibri"/>
                <a:sym typeface="Calibri"/>
              </a:rPr>
              <a:t>Libros XXI</a:t>
            </a:r>
            <a:endParaRPr sz="3500">
              <a:latin typeface="Calibri"/>
              <a:ea typeface="Calibri"/>
              <a:cs typeface="Calibri"/>
              <a:sym typeface="Calibri"/>
            </a:endParaRPr>
          </a:p>
        </p:txBody>
      </p:sp>
      <p:cxnSp>
        <p:nvCxnSpPr>
          <p:cNvPr id="171" name="Google Shape;171;p6"/>
          <p:cNvCxnSpPr>
            <a:stCxn id="165" idx="6"/>
            <a:endCxn id="170" idx="2"/>
          </p:cNvCxnSpPr>
          <p:nvPr/>
        </p:nvCxnSpPr>
        <p:spPr>
          <a:xfrm flipH="1" rot="10800000">
            <a:off x="12577850" y="5562475"/>
            <a:ext cx="2322300" cy="2371800"/>
          </a:xfrm>
          <a:prstGeom prst="straightConnector1">
            <a:avLst/>
          </a:prstGeom>
          <a:noFill/>
          <a:ln cap="flat" cmpd="sng" w="76200">
            <a:solidFill>
              <a:srgbClr val="C9DAF8"/>
            </a:solidFill>
            <a:prstDash val="solid"/>
            <a:round/>
            <a:headEnd len="med" w="med" type="none"/>
            <a:tailEnd len="med" w="med" type="triangle"/>
          </a:ln>
        </p:spPr>
      </p:cxnSp>
      <p:sp>
        <p:nvSpPr>
          <p:cNvPr id="172" name="Google Shape;172;p6"/>
          <p:cNvSpPr txBox="1"/>
          <p:nvPr/>
        </p:nvSpPr>
        <p:spPr>
          <a:xfrm>
            <a:off x="9451050" y="7934275"/>
            <a:ext cx="8185500" cy="1169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3200">
                <a:solidFill>
                  <a:schemeClr val="dk1"/>
                </a:solidFill>
                <a:latin typeface="Calibri"/>
                <a:ea typeface="Calibri"/>
                <a:cs typeface="Calibri"/>
                <a:sym typeface="Calibri"/>
              </a:rPr>
              <a:t>onto</a:t>
            </a:r>
            <a:r>
              <a:rPr lang="en-US" sz="3200">
                <a:solidFill>
                  <a:schemeClr val="dk1"/>
                </a:solidFill>
                <a:latin typeface="Calibri"/>
                <a:ea typeface="Calibri"/>
                <a:cs typeface="Calibri"/>
                <a:sym typeface="Calibri"/>
              </a:rPr>
              <a:t>:</a:t>
            </a:r>
            <a:endParaRPr sz="3200">
              <a:solidFill>
                <a:schemeClr val="dk1"/>
              </a:solidFill>
              <a:latin typeface="Calibri"/>
              <a:ea typeface="Calibri"/>
              <a:cs typeface="Calibri"/>
              <a:sym typeface="Calibri"/>
            </a:endParaRPr>
          </a:p>
          <a:p>
            <a:pPr indent="0" lvl="0" marL="0" rtl="0" algn="ctr">
              <a:spcBef>
                <a:spcPts val="0"/>
              </a:spcBef>
              <a:spcAft>
                <a:spcPts val="0"/>
              </a:spcAft>
              <a:buNone/>
            </a:pPr>
            <a:r>
              <a:rPr lang="en-US" sz="3200">
                <a:solidFill>
                  <a:schemeClr val="dk1"/>
                </a:solidFill>
                <a:latin typeface="Calibri"/>
                <a:ea typeface="Calibri"/>
                <a:cs typeface="Calibri"/>
                <a:sym typeface="Calibri"/>
              </a:rPr>
              <a:t>tieneGenero</a:t>
            </a:r>
            <a:endParaRPr sz="32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0"/>
        </a:solidFill>
      </p:bgPr>
    </p:bg>
    <p:spTree>
      <p:nvGrpSpPr>
        <p:cNvPr id="176" name="Shape 176"/>
        <p:cNvGrpSpPr/>
        <p:nvPr/>
      </p:nvGrpSpPr>
      <p:grpSpPr>
        <a:xfrm>
          <a:off x="0" y="0"/>
          <a:ext cx="0" cy="0"/>
          <a:chOff x="0" y="0"/>
          <a:chExt cx="0" cy="0"/>
        </a:xfrm>
      </p:grpSpPr>
      <p:grpSp>
        <p:nvGrpSpPr>
          <p:cNvPr id="177" name="Google Shape;177;p8"/>
          <p:cNvGrpSpPr/>
          <p:nvPr/>
        </p:nvGrpSpPr>
        <p:grpSpPr>
          <a:xfrm>
            <a:off x="9430925" y="-181050"/>
            <a:ext cx="9119407" cy="10468053"/>
            <a:chOff x="0" y="-47625"/>
            <a:chExt cx="2408400" cy="2757000"/>
          </a:xfrm>
        </p:grpSpPr>
        <p:sp>
          <p:nvSpPr>
            <p:cNvPr id="178" name="Google Shape;178;p8"/>
            <p:cNvSpPr/>
            <p:nvPr/>
          </p:nvSpPr>
          <p:spPr>
            <a:xfrm>
              <a:off x="0" y="0"/>
              <a:ext cx="2408296" cy="2709333"/>
            </a:xfrm>
            <a:custGeom>
              <a:rect b="b" l="l" r="r" t="t"/>
              <a:pathLst>
                <a:path extrusionOk="0" h="2709333" w="2408296">
                  <a:moveTo>
                    <a:pt x="0" y="0"/>
                  </a:moveTo>
                  <a:lnTo>
                    <a:pt x="2408296" y="0"/>
                  </a:lnTo>
                  <a:lnTo>
                    <a:pt x="2408296" y="2709333"/>
                  </a:lnTo>
                  <a:lnTo>
                    <a:pt x="0" y="2709333"/>
                  </a:lnTo>
                  <a:close/>
                </a:path>
              </a:pathLst>
            </a:custGeom>
            <a:solidFill>
              <a:srgbClr val="FFFFFF"/>
            </a:solidFill>
            <a:ln>
              <a:noFill/>
            </a:ln>
          </p:spPr>
        </p:sp>
        <p:sp>
          <p:nvSpPr>
            <p:cNvPr id="179" name="Google Shape;179;p8"/>
            <p:cNvSpPr txBox="1"/>
            <p:nvPr/>
          </p:nvSpPr>
          <p:spPr>
            <a:xfrm>
              <a:off x="0" y="-47625"/>
              <a:ext cx="2408400" cy="27570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pic>
        <p:nvPicPr>
          <p:cNvPr id="180" name="Google Shape;180;p8"/>
          <p:cNvPicPr preferRelativeResize="0"/>
          <p:nvPr/>
        </p:nvPicPr>
        <p:blipFill>
          <a:blip r:embed="rId3">
            <a:alphaModFix/>
          </a:blip>
          <a:stretch>
            <a:fillRect/>
          </a:stretch>
        </p:blipFill>
        <p:spPr>
          <a:xfrm>
            <a:off x="10945005" y="5076084"/>
            <a:ext cx="5919719" cy="3777150"/>
          </a:xfrm>
          <a:prstGeom prst="rect">
            <a:avLst/>
          </a:prstGeom>
          <a:noFill/>
          <a:ln>
            <a:noFill/>
          </a:ln>
        </p:spPr>
      </p:pic>
      <p:sp>
        <p:nvSpPr>
          <p:cNvPr id="181" name="Google Shape;181;p8"/>
          <p:cNvSpPr txBox="1"/>
          <p:nvPr/>
        </p:nvSpPr>
        <p:spPr>
          <a:xfrm>
            <a:off x="669900" y="1114425"/>
            <a:ext cx="7804200" cy="69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4500">
                <a:solidFill>
                  <a:srgbClr val="331B0D"/>
                </a:solidFill>
              </a:rPr>
              <a:t>Filtrado Colaborativo</a:t>
            </a:r>
            <a:endParaRPr/>
          </a:p>
        </p:txBody>
      </p:sp>
      <p:sp>
        <p:nvSpPr>
          <p:cNvPr id="182" name="Google Shape;182;p8"/>
          <p:cNvSpPr txBox="1"/>
          <p:nvPr/>
        </p:nvSpPr>
        <p:spPr>
          <a:xfrm>
            <a:off x="669900" y="2112854"/>
            <a:ext cx="3453130" cy="405765"/>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0" i="0" lang="en-US" sz="2400" u="none" cap="none" strike="noStrike">
                <a:solidFill>
                  <a:srgbClr val="8C7753"/>
                </a:solidFill>
                <a:latin typeface="Arial"/>
                <a:ea typeface="Arial"/>
                <a:cs typeface="Arial"/>
                <a:sym typeface="Arial"/>
              </a:rPr>
              <a:t>Objetivo</a:t>
            </a:r>
            <a:endParaRPr/>
          </a:p>
        </p:txBody>
      </p:sp>
      <p:sp>
        <p:nvSpPr>
          <p:cNvPr id="183" name="Google Shape;183;p8"/>
          <p:cNvSpPr txBox="1"/>
          <p:nvPr/>
        </p:nvSpPr>
        <p:spPr>
          <a:xfrm>
            <a:off x="669900" y="2871044"/>
            <a:ext cx="7804200" cy="775800"/>
          </a:xfrm>
          <a:prstGeom prst="rect">
            <a:avLst/>
          </a:prstGeom>
          <a:noFill/>
          <a:ln>
            <a:noFill/>
          </a:ln>
        </p:spPr>
        <p:txBody>
          <a:bodyPr anchorCtr="0" anchor="t" bIns="0" lIns="0" spcFirstLastPara="1" rIns="0" wrap="square" tIns="0">
            <a:spAutoFit/>
          </a:bodyPr>
          <a:lstStyle/>
          <a:p>
            <a:pPr indent="-226695" lvl="1" marL="453390" marR="0" rtl="0" algn="l">
              <a:lnSpc>
                <a:spcPct val="140000"/>
              </a:lnSpc>
              <a:spcBef>
                <a:spcPts val="0"/>
              </a:spcBef>
              <a:spcAft>
                <a:spcPts val="0"/>
              </a:spcAft>
              <a:buClr>
                <a:srgbClr val="331B0D"/>
              </a:buClr>
              <a:buSzPts val="2100"/>
              <a:buFont typeface="Arial"/>
              <a:buChar char="•"/>
            </a:pPr>
            <a:r>
              <a:rPr lang="en-US" sz="2100">
                <a:solidFill>
                  <a:srgbClr val="331B0D"/>
                </a:solidFill>
              </a:rPr>
              <a:t>Recomendar a los usuarios libros basándose en los gustos de usuarios similares.</a:t>
            </a:r>
            <a:endParaRPr/>
          </a:p>
        </p:txBody>
      </p:sp>
      <p:sp>
        <p:nvSpPr>
          <p:cNvPr id="184" name="Google Shape;184;p8"/>
          <p:cNvSpPr txBox="1"/>
          <p:nvPr/>
        </p:nvSpPr>
        <p:spPr>
          <a:xfrm>
            <a:off x="642700" y="3858787"/>
            <a:ext cx="4473600" cy="3693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8C7753"/>
                </a:solidFill>
              </a:rPr>
              <a:t>Implementación Inicial</a:t>
            </a:r>
            <a:endParaRPr/>
          </a:p>
        </p:txBody>
      </p:sp>
      <p:sp>
        <p:nvSpPr>
          <p:cNvPr id="185" name="Google Shape;185;p8"/>
          <p:cNvSpPr txBox="1"/>
          <p:nvPr/>
        </p:nvSpPr>
        <p:spPr>
          <a:xfrm>
            <a:off x="10944988" y="6433317"/>
            <a:ext cx="34530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lang="en-US" sz="2400">
                <a:solidFill>
                  <a:srgbClr val="8C7753"/>
                </a:solidFill>
              </a:rPr>
              <a:t>Usuario A</a:t>
            </a:r>
            <a:endParaRPr sz="2400">
              <a:solidFill>
                <a:srgbClr val="8C7753"/>
              </a:solidFill>
            </a:endParaRPr>
          </a:p>
          <a:p>
            <a:pPr indent="0" lvl="0" marL="0" marR="0" rtl="0" algn="ctr">
              <a:lnSpc>
                <a:spcPct val="139958"/>
              </a:lnSpc>
              <a:spcBef>
                <a:spcPts val="0"/>
              </a:spcBef>
              <a:spcAft>
                <a:spcPts val="0"/>
              </a:spcAft>
              <a:buNone/>
            </a:pPr>
            <a:r>
              <a:rPr lang="en-US" sz="2400">
                <a:solidFill>
                  <a:srgbClr val="8C7753"/>
                </a:solidFill>
              </a:rPr>
              <a:t>(100 Libros)</a:t>
            </a:r>
            <a:endParaRPr sz="2400">
              <a:solidFill>
                <a:srgbClr val="8C7753"/>
              </a:solidFill>
            </a:endParaRPr>
          </a:p>
        </p:txBody>
      </p:sp>
      <p:grpSp>
        <p:nvGrpSpPr>
          <p:cNvPr id="186" name="Google Shape;186;p8"/>
          <p:cNvGrpSpPr/>
          <p:nvPr/>
        </p:nvGrpSpPr>
        <p:grpSpPr>
          <a:xfrm>
            <a:off x="10944988" y="427175"/>
            <a:ext cx="6428900" cy="4472726"/>
            <a:chOff x="10944988" y="427175"/>
            <a:chExt cx="6428900" cy="4472726"/>
          </a:xfrm>
        </p:grpSpPr>
        <p:pic>
          <p:nvPicPr>
            <p:cNvPr id="187" name="Google Shape;187;p8"/>
            <p:cNvPicPr preferRelativeResize="0"/>
            <p:nvPr/>
          </p:nvPicPr>
          <p:blipFill>
            <a:blip r:embed="rId4">
              <a:alphaModFix/>
            </a:blip>
            <a:stretch>
              <a:fillRect/>
            </a:stretch>
          </p:blipFill>
          <p:spPr>
            <a:xfrm>
              <a:off x="10945005" y="427175"/>
              <a:ext cx="5919719" cy="3777150"/>
            </a:xfrm>
            <a:prstGeom prst="rect">
              <a:avLst/>
            </a:prstGeom>
            <a:noFill/>
            <a:ln>
              <a:noFill/>
            </a:ln>
          </p:spPr>
        </p:pic>
        <p:sp>
          <p:nvSpPr>
            <p:cNvPr id="188" name="Google Shape;188;p8"/>
            <p:cNvSpPr txBox="1"/>
            <p:nvPr/>
          </p:nvSpPr>
          <p:spPr>
            <a:xfrm>
              <a:off x="10944988" y="1872504"/>
              <a:ext cx="34530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lang="en-US" sz="2400">
                  <a:solidFill>
                    <a:srgbClr val="8C7753"/>
                  </a:solidFill>
                </a:rPr>
                <a:t>Usuario A</a:t>
              </a:r>
              <a:endParaRPr sz="2400">
                <a:solidFill>
                  <a:srgbClr val="8C7753"/>
                </a:solidFill>
              </a:endParaRPr>
            </a:p>
            <a:p>
              <a:pPr indent="0" lvl="0" marL="0" marR="0" rtl="0" algn="ctr">
                <a:lnSpc>
                  <a:spcPct val="139958"/>
                </a:lnSpc>
                <a:spcBef>
                  <a:spcPts val="0"/>
                </a:spcBef>
                <a:spcAft>
                  <a:spcPts val="0"/>
                </a:spcAft>
                <a:buNone/>
              </a:pPr>
              <a:r>
                <a:rPr lang="en-US" sz="2400">
                  <a:solidFill>
                    <a:srgbClr val="8C7753"/>
                  </a:solidFill>
                </a:rPr>
                <a:t>(100 Libros)</a:t>
              </a:r>
              <a:endParaRPr sz="2400">
                <a:solidFill>
                  <a:srgbClr val="8C7753"/>
                </a:solidFill>
              </a:endParaRPr>
            </a:p>
          </p:txBody>
        </p:sp>
        <p:sp>
          <p:nvSpPr>
            <p:cNvPr id="189" name="Google Shape;189;p8"/>
            <p:cNvSpPr txBox="1"/>
            <p:nvPr/>
          </p:nvSpPr>
          <p:spPr>
            <a:xfrm>
              <a:off x="13920888" y="1872492"/>
              <a:ext cx="34530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lang="en-US" sz="2400">
                  <a:solidFill>
                    <a:srgbClr val="8C7753"/>
                  </a:solidFill>
                </a:rPr>
                <a:t>Usuario B</a:t>
              </a:r>
              <a:endParaRPr sz="2400">
                <a:solidFill>
                  <a:srgbClr val="8C7753"/>
                </a:solidFill>
              </a:endParaRPr>
            </a:p>
            <a:p>
              <a:pPr indent="0" lvl="0" marL="0" marR="0" rtl="0" algn="ctr">
                <a:lnSpc>
                  <a:spcPct val="139958"/>
                </a:lnSpc>
                <a:spcBef>
                  <a:spcPts val="0"/>
                </a:spcBef>
                <a:spcAft>
                  <a:spcPts val="0"/>
                </a:spcAft>
                <a:buNone/>
              </a:pPr>
              <a:r>
                <a:rPr lang="en-US" sz="2400">
                  <a:solidFill>
                    <a:srgbClr val="8C7753"/>
                  </a:solidFill>
                </a:rPr>
                <a:t>(5 Libros)</a:t>
              </a:r>
              <a:endParaRPr sz="2400">
                <a:solidFill>
                  <a:srgbClr val="8C7753"/>
                </a:solidFill>
              </a:endParaRPr>
            </a:p>
          </p:txBody>
        </p:sp>
        <p:sp>
          <p:nvSpPr>
            <p:cNvPr id="190" name="Google Shape;190;p8"/>
            <p:cNvSpPr txBox="1"/>
            <p:nvPr/>
          </p:nvSpPr>
          <p:spPr>
            <a:xfrm>
              <a:off x="12134129" y="4105801"/>
              <a:ext cx="4473900" cy="7941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lang="en-US" sz="2400">
                  <a:solidFill>
                    <a:srgbClr val="FFC8DD"/>
                  </a:solidFill>
                </a:rPr>
                <a:t>Similitud de </a:t>
              </a:r>
              <a:endParaRPr sz="2400">
                <a:solidFill>
                  <a:srgbClr val="FFC8DD"/>
                </a:solidFill>
              </a:endParaRPr>
            </a:p>
            <a:p>
              <a:pPr indent="0" lvl="0" marL="0" marR="0" rtl="0" algn="ctr">
                <a:lnSpc>
                  <a:spcPct val="115000"/>
                </a:lnSpc>
                <a:spcBef>
                  <a:spcPts val="0"/>
                </a:spcBef>
                <a:spcAft>
                  <a:spcPts val="0"/>
                </a:spcAft>
                <a:buNone/>
              </a:pPr>
              <a:r>
                <a:rPr lang="en-US" sz="2400">
                  <a:solidFill>
                    <a:srgbClr val="FFC8DD"/>
                  </a:solidFill>
                </a:rPr>
                <a:t>Jaccard (1%)</a:t>
              </a:r>
              <a:endParaRPr sz="2400">
                <a:solidFill>
                  <a:srgbClr val="FFC8DD"/>
                </a:solidFill>
              </a:endParaRPr>
            </a:p>
          </p:txBody>
        </p:sp>
      </p:grpSp>
      <p:sp>
        <p:nvSpPr>
          <p:cNvPr id="191" name="Google Shape;191;p8"/>
          <p:cNvSpPr txBox="1"/>
          <p:nvPr/>
        </p:nvSpPr>
        <p:spPr>
          <a:xfrm>
            <a:off x="12081404" y="8853226"/>
            <a:ext cx="44739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lang="en-US" sz="2400">
                <a:solidFill>
                  <a:srgbClr val="FFC8DD"/>
                </a:solidFill>
              </a:rPr>
              <a:t>Coincidencias</a:t>
            </a:r>
            <a:endParaRPr sz="2400">
              <a:solidFill>
                <a:srgbClr val="FFC8DD"/>
              </a:solidFill>
            </a:endParaRPr>
          </a:p>
          <a:p>
            <a:pPr indent="0" lvl="0" marL="0" marR="0" rtl="0" algn="ctr">
              <a:lnSpc>
                <a:spcPct val="139958"/>
              </a:lnSpc>
              <a:spcBef>
                <a:spcPts val="0"/>
              </a:spcBef>
              <a:spcAft>
                <a:spcPts val="0"/>
              </a:spcAft>
              <a:buNone/>
            </a:pPr>
            <a:r>
              <a:rPr lang="en-US" sz="2400">
                <a:solidFill>
                  <a:srgbClr val="FFC8DD"/>
                </a:solidFill>
              </a:rPr>
              <a:t>Perfil Menor</a:t>
            </a:r>
            <a:endParaRPr sz="2400">
              <a:solidFill>
                <a:srgbClr val="FFC8DD"/>
              </a:solidFill>
            </a:endParaRPr>
          </a:p>
        </p:txBody>
      </p:sp>
      <p:cxnSp>
        <p:nvCxnSpPr>
          <p:cNvPr id="192" name="Google Shape;192;p8"/>
          <p:cNvCxnSpPr/>
          <p:nvPr/>
        </p:nvCxnSpPr>
        <p:spPr>
          <a:xfrm rot="10800000">
            <a:off x="12974275" y="9312650"/>
            <a:ext cx="2619300" cy="0"/>
          </a:xfrm>
          <a:prstGeom prst="straightConnector1">
            <a:avLst/>
          </a:prstGeom>
          <a:noFill/>
          <a:ln cap="flat" cmpd="sng" w="38100">
            <a:solidFill>
              <a:srgbClr val="FFC8DD"/>
            </a:solidFill>
            <a:prstDash val="solid"/>
            <a:round/>
            <a:headEnd len="med" w="med" type="none"/>
            <a:tailEnd len="med" w="med" type="none"/>
          </a:ln>
        </p:spPr>
      </p:cxnSp>
      <p:sp>
        <p:nvSpPr>
          <p:cNvPr id="193" name="Google Shape;193;p8"/>
          <p:cNvSpPr txBox="1"/>
          <p:nvPr/>
        </p:nvSpPr>
        <p:spPr>
          <a:xfrm>
            <a:off x="13920888" y="6417366"/>
            <a:ext cx="34530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lang="en-US" sz="2400">
                <a:solidFill>
                  <a:srgbClr val="8C7753"/>
                </a:solidFill>
              </a:rPr>
              <a:t>Usuario B</a:t>
            </a:r>
            <a:endParaRPr sz="2400">
              <a:solidFill>
                <a:srgbClr val="8C7753"/>
              </a:solidFill>
            </a:endParaRPr>
          </a:p>
          <a:p>
            <a:pPr indent="0" lvl="0" marL="0" marR="0" rtl="0" algn="ctr">
              <a:lnSpc>
                <a:spcPct val="139958"/>
              </a:lnSpc>
              <a:spcBef>
                <a:spcPts val="0"/>
              </a:spcBef>
              <a:spcAft>
                <a:spcPts val="0"/>
              </a:spcAft>
              <a:buNone/>
            </a:pPr>
            <a:r>
              <a:rPr lang="en-US" sz="2400">
                <a:solidFill>
                  <a:srgbClr val="8C7753"/>
                </a:solidFill>
              </a:rPr>
              <a:t>(5 Libros)</a:t>
            </a:r>
            <a:endParaRPr sz="2400">
              <a:solidFill>
                <a:srgbClr val="8C7753"/>
              </a:solidFill>
            </a:endParaRPr>
          </a:p>
        </p:txBody>
      </p:sp>
      <p:sp>
        <p:nvSpPr>
          <p:cNvPr id="194" name="Google Shape;194;p8"/>
          <p:cNvSpPr txBox="1"/>
          <p:nvPr/>
        </p:nvSpPr>
        <p:spPr>
          <a:xfrm>
            <a:off x="778775" y="6934587"/>
            <a:ext cx="4473600" cy="3693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8C7753"/>
                </a:solidFill>
              </a:rPr>
              <a:t>Solución</a:t>
            </a:r>
            <a:endParaRPr/>
          </a:p>
        </p:txBody>
      </p:sp>
      <p:sp>
        <p:nvSpPr>
          <p:cNvPr id="195" name="Google Shape;195;p8"/>
          <p:cNvSpPr txBox="1"/>
          <p:nvPr/>
        </p:nvSpPr>
        <p:spPr>
          <a:xfrm>
            <a:off x="550675" y="4388975"/>
            <a:ext cx="8269800" cy="3036900"/>
          </a:xfrm>
          <a:prstGeom prst="rect">
            <a:avLst/>
          </a:prstGeom>
          <a:noFill/>
          <a:ln>
            <a:noFill/>
          </a:ln>
        </p:spPr>
        <p:txBody>
          <a:bodyPr anchorCtr="0" anchor="t" bIns="91425" lIns="91425" spcFirstLastPara="1" rIns="91425" wrap="square" tIns="91425">
            <a:spAutoFit/>
          </a:bodyPr>
          <a:lstStyle/>
          <a:p>
            <a:pPr indent="-226695" lvl="1" marL="453390" marR="0" rtl="0" algn="l">
              <a:lnSpc>
                <a:spcPct val="140000"/>
              </a:lnSpc>
              <a:spcBef>
                <a:spcPts val="0"/>
              </a:spcBef>
              <a:spcAft>
                <a:spcPts val="0"/>
              </a:spcAft>
              <a:buClr>
                <a:srgbClr val="331B0D"/>
              </a:buClr>
              <a:buSzPts val="2100"/>
              <a:buChar char="•"/>
            </a:pPr>
            <a:r>
              <a:rPr lang="en-US" sz="2100">
                <a:solidFill>
                  <a:srgbClr val="331B0D"/>
                </a:solidFill>
              </a:rPr>
              <a:t>La similitud entre usuarios se calculaba con la métrica de Jaccard. Para perfiles con baja superposición de libros (un escenario común), esta métrica arrojaba valores de similitud demasiado bajos, dificultando la generación de recomendaciones</a:t>
            </a:r>
            <a:r>
              <a:rPr lang="en-US" sz="2550">
                <a:solidFill>
                  <a:schemeClr val="dk1"/>
                </a:solidFill>
                <a:latin typeface="Calibri"/>
                <a:ea typeface="Calibri"/>
                <a:cs typeface="Calibri"/>
                <a:sym typeface="Calibri"/>
              </a:rPr>
              <a:t>.</a:t>
            </a:r>
            <a:endParaRPr sz="255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196" name="Google Shape;196;p8"/>
          <p:cNvSpPr txBox="1"/>
          <p:nvPr/>
        </p:nvSpPr>
        <p:spPr>
          <a:xfrm>
            <a:off x="584500" y="7393200"/>
            <a:ext cx="8508300" cy="2940000"/>
          </a:xfrm>
          <a:prstGeom prst="rect">
            <a:avLst/>
          </a:prstGeom>
          <a:noFill/>
          <a:ln>
            <a:noFill/>
          </a:ln>
        </p:spPr>
        <p:txBody>
          <a:bodyPr anchorCtr="0" anchor="t" bIns="91425" lIns="91425" spcFirstLastPara="1" rIns="91425" wrap="square" tIns="91425">
            <a:spAutoFit/>
          </a:bodyPr>
          <a:lstStyle/>
          <a:p>
            <a:pPr indent="-226695" lvl="1" marL="453390" marR="0" rtl="0" algn="l">
              <a:lnSpc>
                <a:spcPct val="140000"/>
              </a:lnSpc>
              <a:spcBef>
                <a:spcPts val="0"/>
              </a:spcBef>
              <a:spcAft>
                <a:spcPts val="0"/>
              </a:spcAft>
              <a:buClr>
                <a:srgbClr val="331B0D"/>
              </a:buClr>
              <a:buSzPts val="2100"/>
              <a:buChar char="•"/>
            </a:pPr>
            <a:r>
              <a:rPr lang="en-US" sz="2100">
                <a:solidFill>
                  <a:srgbClr val="331B0D"/>
                </a:solidFill>
              </a:rPr>
              <a:t>Adaptamos la métrica para dar más peso a las coincidencias en perfiles pequeños. Se modificó la fórmula para que el denominador considerara únicamente el perfil con el menor número de libros. Esto permite </a:t>
            </a:r>
            <a:r>
              <a:rPr lang="en-US" sz="2100">
                <a:solidFill>
                  <a:srgbClr val="331B0D"/>
                </a:solidFill>
              </a:rPr>
              <a:t>obtener</a:t>
            </a:r>
            <a:r>
              <a:rPr lang="en-US" sz="2100">
                <a:solidFill>
                  <a:srgbClr val="331B0D"/>
                </a:solidFill>
              </a:rPr>
              <a:t> valores de similitud más significativos, incluso con pocas coincidencias.</a:t>
            </a:r>
            <a:endParaRPr sz="275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pic>
        <p:nvPicPr>
          <p:cNvPr id="201" name="Google Shape;201;g3b8427cadcd_0_0" title="Demo.mp4">
            <a:hlinkClick r:id="rId3"/>
          </p:cNvPr>
          <p:cNvPicPr preferRelativeResize="0"/>
          <p:nvPr/>
        </p:nvPicPr>
        <p:blipFill>
          <a:blip r:embed="rId4">
            <a:alphaModFix/>
          </a:blip>
          <a:stretch>
            <a:fillRect/>
          </a:stretch>
        </p:blipFill>
        <p:spPr>
          <a:xfrm>
            <a:off x="135475" y="76200"/>
            <a:ext cx="18017059" cy="101346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gtEl>
                                        <p:attrNameLst>
                                          <p:attrName>style.visibility</p:attrName>
                                        </p:attrNameLst>
                                      </p:cBhvr>
                                      <p:to>
                                        <p:strVal val="visible"/>
                                      </p:to>
                                    </p:set>
                                    <p:animEffect filter="fade" transition="in">
                                      <p:cBhvr>
                                        <p:cTn dur="1000"/>
                                        <p:tgtEl>
                                          <p:spTgt spid="2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0"/>
        </a:solidFill>
      </p:bgPr>
    </p:bg>
    <p:spTree>
      <p:nvGrpSpPr>
        <p:cNvPr id="205" name="Shape 205"/>
        <p:cNvGrpSpPr/>
        <p:nvPr/>
      </p:nvGrpSpPr>
      <p:grpSpPr>
        <a:xfrm>
          <a:off x="0" y="0"/>
          <a:ext cx="0" cy="0"/>
          <a:chOff x="0" y="0"/>
          <a:chExt cx="0" cy="0"/>
        </a:xfrm>
      </p:grpSpPr>
      <p:sp>
        <p:nvSpPr>
          <p:cNvPr id="206" name="Google Shape;206;g3b82afa0925_0_55"/>
          <p:cNvSpPr txBox="1"/>
          <p:nvPr/>
        </p:nvSpPr>
        <p:spPr>
          <a:xfrm>
            <a:off x="891900" y="1318302"/>
            <a:ext cx="8115300" cy="738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4800" u="none" cap="none" strike="noStrike">
                <a:solidFill>
                  <a:srgbClr val="331B0D"/>
                </a:solidFill>
                <a:latin typeface="Arial"/>
                <a:ea typeface="Arial"/>
                <a:cs typeface="Arial"/>
                <a:sym typeface="Arial"/>
              </a:rPr>
              <a:t>C</a:t>
            </a:r>
            <a:r>
              <a:rPr lang="en-US" sz="4800">
                <a:solidFill>
                  <a:srgbClr val="331B0D"/>
                </a:solidFill>
              </a:rPr>
              <a:t>onclusiones</a:t>
            </a:r>
            <a:endParaRPr/>
          </a:p>
        </p:txBody>
      </p:sp>
      <p:sp>
        <p:nvSpPr>
          <p:cNvPr id="207" name="Google Shape;207;g3b82afa0925_0_55"/>
          <p:cNvSpPr txBox="1"/>
          <p:nvPr/>
        </p:nvSpPr>
        <p:spPr>
          <a:xfrm>
            <a:off x="1352675" y="2553438"/>
            <a:ext cx="2746800" cy="3693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8C7753"/>
                </a:solidFill>
              </a:rPr>
              <a:t>Objetivo Cumplido</a:t>
            </a:r>
            <a:endParaRPr/>
          </a:p>
        </p:txBody>
      </p:sp>
      <p:sp>
        <p:nvSpPr>
          <p:cNvPr id="208" name="Google Shape;208;g3b82afa0925_0_55"/>
          <p:cNvSpPr txBox="1"/>
          <p:nvPr/>
        </p:nvSpPr>
        <p:spPr>
          <a:xfrm>
            <a:off x="1806025" y="5002650"/>
            <a:ext cx="14773500" cy="1218600"/>
          </a:xfrm>
          <a:prstGeom prst="rect">
            <a:avLst/>
          </a:prstGeom>
          <a:noFill/>
          <a:ln>
            <a:noFill/>
          </a:ln>
        </p:spPr>
        <p:txBody>
          <a:bodyPr anchorCtr="0" anchor="t" bIns="91425" lIns="91425" spcFirstLastPara="1" rIns="91425" wrap="square" tIns="91425">
            <a:spAutoFit/>
          </a:bodyPr>
          <a:lstStyle/>
          <a:p>
            <a:pPr indent="0" lvl="0" marL="0" marR="12700" rtl="0" algn="just">
              <a:lnSpc>
                <a:spcPct val="87000"/>
              </a:lnSpc>
              <a:spcBef>
                <a:spcPts val="2000"/>
              </a:spcBef>
              <a:spcAft>
                <a:spcPts val="0"/>
              </a:spcAft>
              <a:buNone/>
            </a:pPr>
            <a:r>
              <a:rPr lang="en-US" sz="2100">
                <a:solidFill>
                  <a:schemeClr val="dk1"/>
                </a:solidFill>
              </a:rPr>
              <a:t>La combinación de Wikidata, Google Books, DBpedia y ontologías estándar (BIBO, Schema.org) resultó en un grafo de conocimiento interoperable, a pesar de los problemas de integración</a:t>
            </a:r>
            <a:endParaRPr sz="2100">
              <a:solidFill>
                <a:schemeClr val="dk1"/>
              </a:solidFill>
            </a:endParaRPr>
          </a:p>
          <a:p>
            <a:pPr indent="0" lvl="0" marL="0" rtl="0" algn="l">
              <a:lnSpc>
                <a:spcPct val="89000"/>
              </a:lnSpc>
              <a:spcBef>
                <a:spcPts val="500"/>
              </a:spcBef>
              <a:spcAft>
                <a:spcPts val="0"/>
              </a:spcAft>
              <a:buNone/>
            </a:pPr>
            <a:r>
              <a:t/>
            </a:r>
            <a:endParaRPr sz="2100">
              <a:solidFill>
                <a:schemeClr val="dk1"/>
              </a:solidFill>
            </a:endParaRPr>
          </a:p>
        </p:txBody>
      </p:sp>
      <p:sp>
        <p:nvSpPr>
          <p:cNvPr id="209" name="Google Shape;209;g3b82afa0925_0_55"/>
          <p:cNvSpPr txBox="1"/>
          <p:nvPr/>
        </p:nvSpPr>
        <p:spPr>
          <a:xfrm>
            <a:off x="1352675" y="4365650"/>
            <a:ext cx="3442500" cy="3693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8C7753"/>
                </a:solidFill>
              </a:rPr>
              <a:t>Integración realizada</a:t>
            </a:r>
            <a:endParaRPr/>
          </a:p>
        </p:txBody>
      </p:sp>
      <p:sp>
        <p:nvSpPr>
          <p:cNvPr id="210" name="Google Shape;210;g3b82afa0925_0_55"/>
          <p:cNvSpPr txBox="1"/>
          <p:nvPr/>
        </p:nvSpPr>
        <p:spPr>
          <a:xfrm>
            <a:off x="1806025" y="3114275"/>
            <a:ext cx="15129300" cy="831300"/>
          </a:xfrm>
          <a:prstGeom prst="rect">
            <a:avLst/>
          </a:prstGeom>
          <a:noFill/>
          <a:ln>
            <a:noFill/>
          </a:ln>
        </p:spPr>
        <p:txBody>
          <a:bodyPr anchorCtr="0" anchor="t" bIns="91425" lIns="91425" spcFirstLastPara="1" rIns="91425" wrap="square" tIns="91425">
            <a:spAutoFit/>
          </a:bodyPr>
          <a:lstStyle/>
          <a:p>
            <a:pPr indent="0" lvl="0" marL="0" rtl="0" algn="l">
              <a:lnSpc>
                <a:spcPct val="89000"/>
              </a:lnSpc>
              <a:spcBef>
                <a:spcPts val="500"/>
              </a:spcBef>
              <a:spcAft>
                <a:spcPts val="0"/>
              </a:spcAft>
              <a:buNone/>
            </a:pPr>
            <a:r>
              <a:rPr lang="en-US" sz="2100">
                <a:solidFill>
                  <a:schemeClr val="dk1"/>
                </a:solidFill>
              </a:rPr>
              <a:t>Se desarrolló con éxito un sistema recomendador que reduce la sobrecarga informativa mediante razonamiento semántico, superando las limitaciones de los enfoques basados solo en popularidad.</a:t>
            </a:r>
            <a:endParaRPr sz="2100">
              <a:solidFill>
                <a:schemeClr val="dk1"/>
              </a:solidFill>
            </a:endParaRPr>
          </a:p>
        </p:txBody>
      </p:sp>
      <p:sp>
        <p:nvSpPr>
          <p:cNvPr id="211" name="Google Shape;211;g3b82afa0925_0_55"/>
          <p:cNvSpPr txBox="1"/>
          <p:nvPr/>
        </p:nvSpPr>
        <p:spPr>
          <a:xfrm>
            <a:off x="1352675" y="6498250"/>
            <a:ext cx="4064400" cy="3693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8C7753"/>
                </a:solidFill>
              </a:rPr>
              <a:t>Resultados Obtenidos</a:t>
            </a:r>
            <a:endParaRPr/>
          </a:p>
        </p:txBody>
      </p:sp>
      <p:sp>
        <p:nvSpPr>
          <p:cNvPr id="212" name="Google Shape;212;g3b82afa0925_0_55"/>
          <p:cNvSpPr txBox="1"/>
          <p:nvPr/>
        </p:nvSpPr>
        <p:spPr>
          <a:xfrm>
            <a:off x="1806025" y="7144550"/>
            <a:ext cx="14773500" cy="1623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500"/>
              </a:spcBef>
              <a:spcAft>
                <a:spcPts val="0"/>
              </a:spcAft>
              <a:buClr>
                <a:schemeClr val="dk1"/>
              </a:buClr>
              <a:buSzPts val="1100"/>
              <a:buFont typeface="Arial"/>
              <a:buNone/>
            </a:pPr>
            <a:r>
              <a:rPr lang="en-US" sz="2100">
                <a:solidFill>
                  <a:schemeClr val="dk1"/>
                </a:solidFill>
              </a:rPr>
              <a:t>Los ajustes en el modelo de datos y en los algoritmos de similitu</a:t>
            </a:r>
            <a:r>
              <a:rPr lang="en-US" sz="2100">
                <a:solidFill>
                  <a:schemeClr val="dk1"/>
                </a:solidFill>
              </a:rPr>
              <a:t>d </a:t>
            </a:r>
            <a:r>
              <a:rPr lang="en-US" sz="2100">
                <a:solidFill>
                  <a:schemeClr val="dk1"/>
                </a:solidFill>
              </a:rPr>
              <a:t>permitieron mejorar la relevancia y diversidad de las recomendaciones. Los resultados confirman la idoneidad de los enfoques basados en conocimiento para el dominio de la recomendación de libros. Teniendo resultados variados basados en relaciones semánticas.</a:t>
            </a:r>
            <a:endParaRPr sz="2100">
              <a:solidFill>
                <a:schemeClr val="dk1"/>
              </a:solidFill>
            </a:endParaRPr>
          </a:p>
          <a:p>
            <a:pPr indent="0" lvl="0" marL="0" rtl="0" algn="l">
              <a:spcBef>
                <a:spcPts val="0"/>
              </a:spcBef>
              <a:spcAft>
                <a:spcPts val="0"/>
              </a:spcAft>
              <a:buNone/>
            </a:pPr>
            <a:r>
              <a:t/>
            </a:r>
            <a:endParaRPr sz="21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0"/>
        </a:solidFill>
      </p:bgPr>
    </p:bg>
    <p:spTree>
      <p:nvGrpSpPr>
        <p:cNvPr id="216" name="Shape 216"/>
        <p:cNvGrpSpPr/>
        <p:nvPr/>
      </p:nvGrpSpPr>
      <p:grpSpPr>
        <a:xfrm>
          <a:off x="0" y="0"/>
          <a:ext cx="0" cy="0"/>
          <a:chOff x="0" y="0"/>
          <a:chExt cx="0" cy="0"/>
        </a:xfrm>
      </p:grpSpPr>
      <p:sp>
        <p:nvSpPr>
          <p:cNvPr id="217" name="Google Shape;217;g3b82afa0925_1_63"/>
          <p:cNvSpPr txBox="1"/>
          <p:nvPr/>
        </p:nvSpPr>
        <p:spPr>
          <a:xfrm>
            <a:off x="891900" y="1318302"/>
            <a:ext cx="8115300" cy="738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4800">
                <a:solidFill>
                  <a:srgbClr val="331B0D"/>
                </a:solidFill>
              </a:rPr>
              <a:t>Trabajo Futuro</a:t>
            </a:r>
            <a:endParaRPr/>
          </a:p>
        </p:txBody>
      </p:sp>
      <p:sp>
        <p:nvSpPr>
          <p:cNvPr id="218" name="Google Shape;218;g3b82afa0925_1_63"/>
          <p:cNvSpPr txBox="1"/>
          <p:nvPr/>
        </p:nvSpPr>
        <p:spPr>
          <a:xfrm>
            <a:off x="1352675" y="2553445"/>
            <a:ext cx="5151300" cy="3693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8C7753"/>
                </a:solidFill>
              </a:rPr>
              <a:t>Refinamiento de la ontología</a:t>
            </a:r>
            <a:endParaRPr/>
          </a:p>
        </p:txBody>
      </p:sp>
      <p:sp>
        <p:nvSpPr>
          <p:cNvPr id="219" name="Google Shape;219;g3b82afa0925_1_63"/>
          <p:cNvSpPr txBox="1"/>
          <p:nvPr/>
        </p:nvSpPr>
        <p:spPr>
          <a:xfrm>
            <a:off x="1806025" y="5002650"/>
            <a:ext cx="14773500" cy="1218600"/>
          </a:xfrm>
          <a:prstGeom prst="rect">
            <a:avLst/>
          </a:prstGeom>
          <a:noFill/>
          <a:ln>
            <a:noFill/>
          </a:ln>
        </p:spPr>
        <p:txBody>
          <a:bodyPr anchorCtr="0" anchor="t" bIns="91425" lIns="91425" spcFirstLastPara="1" rIns="91425" wrap="square" tIns="91425">
            <a:spAutoFit/>
          </a:bodyPr>
          <a:lstStyle/>
          <a:p>
            <a:pPr indent="-1904" lvl="0" marL="14603" marR="655320" rtl="0" algn="l">
              <a:spcBef>
                <a:spcPts val="869"/>
              </a:spcBef>
              <a:spcAft>
                <a:spcPts val="0"/>
              </a:spcAft>
              <a:buClr>
                <a:schemeClr val="dk1"/>
              </a:buClr>
              <a:buFont typeface="Arial"/>
              <a:buNone/>
            </a:pPr>
            <a:r>
              <a:rPr lang="en-US" sz="2100">
                <a:solidFill>
                  <a:schemeClr val="dk1"/>
                </a:solidFill>
              </a:rPr>
              <a:t>Combinar el razonamiento ontológico con técnicas de aprendizaje automático para capturar similitudes no explícitas y mejorar aún más la diversidad.</a:t>
            </a:r>
            <a:endParaRPr sz="2100">
              <a:solidFill>
                <a:schemeClr val="dk1"/>
              </a:solidFill>
            </a:endParaRPr>
          </a:p>
          <a:p>
            <a:pPr indent="0" lvl="0" marL="0" rtl="0" algn="l">
              <a:lnSpc>
                <a:spcPct val="89000"/>
              </a:lnSpc>
              <a:spcBef>
                <a:spcPts val="500"/>
              </a:spcBef>
              <a:spcAft>
                <a:spcPts val="0"/>
              </a:spcAft>
              <a:buNone/>
            </a:pPr>
            <a:r>
              <a:t/>
            </a:r>
            <a:endParaRPr sz="2100">
              <a:solidFill>
                <a:schemeClr val="dk1"/>
              </a:solidFill>
            </a:endParaRPr>
          </a:p>
        </p:txBody>
      </p:sp>
      <p:sp>
        <p:nvSpPr>
          <p:cNvPr id="220" name="Google Shape;220;g3b82afa0925_1_63"/>
          <p:cNvSpPr txBox="1"/>
          <p:nvPr/>
        </p:nvSpPr>
        <p:spPr>
          <a:xfrm>
            <a:off x="1352675" y="4365650"/>
            <a:ext cx="5007000" cy="3693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8C7753"/>
                </a:solidFill>
              </a:rPr>
              <a:t>Exploración de enfoques híbridos</a:t>
            </a:r>
            <a:endParaRPr/>
          </a:p>
        </p:txBody>
      </p:sp>
      <p:sp>
        <p:nvSpPr>
          <p:cNvPr id="221" name="Google Shape;221;g3b82afa0925_1_63"/>
          <p:cNvSpPr txBox="1"/>
          <p:nvPr/>
        </p:nvSpPr>
        <p:spPr>
          <a:xfrm>
            <a:off x="1806025" y="3114275"/>
            <a:ext cx="15129300" cy="858600"/>
          </a:xfrm>
          <a:prstGeom prst="rect">
            <a:avLst/>
          </a:prstGeom>
          <a:noFill/>
          <a:ln>
            <a:noFill/>
          </a:ln>
        </p:spPr>
        <p:txBody>
          <a:bodyPr anchorCtr="0" anchor="t" bIns="91425" lIns="91425" spcFirstLastPara="1" rIns="91425" wrap="square" tIns="91425">
            <a:spAutoFit/>
          </a:bodyPr>
          <a:lstStyle/>
          <a:p>
            <a:pPr indent="1270" lvl="0" marL="33020" marR="853439" rtl="0" algn="l">
              <a:lnSpc>
                <a:spcPct val="108474"/>
              </a:lnSpc>
              <a:spcBef>
                <a:spcPts val="740"/>
              </a:spcBef>
              <a:spcAft>
                <a:spcPts val="0"/>
              </a:spcAft>
              <a:buClr>
                <a:schemeClr val="dk1"/>
              </a:buClr>
              <a:buFont typeface="Arial"/>
              <a:buNone/>
            </a:pPr>
            <a:r>
              <a:rPr lang="en-US" sz="2100">
                <a:solidFill>
                  <a:schemeClr val="dk1"/>
                </a:solidFill>
              </a:rPr>
              <a:t>Incorporar nuevos géneros, relaciones semánticas más complejas y mejorar los mecanismos de actualización de datos para reducir la latencia. Además de enriquecer la ontología con más libros.</a:t>
            </a:r>
            <a:endParaRPr sz="2100">
              <a:solidFill>
                <a:schemeClr val="dk1"/>
              </a:solidFill>
            </a:endParaRPr>
          </a:p>
        </p:txBody>
      </p:sp>
      <p:sp>
        <p:nvSpPr>
          <p:cNvPr id="222" name="Google Shape;222;g3b82afa0925_1_63"/>
          <p:cNvSpPr txBox="1"/>
          <p:nvPr/>
        </p:nvSpPr>
        <p:spPr>
          <a:xfrm>
            <a:off x="1352675" y="6498250"/>
            <a:ext cx="5151300" cy="3693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8C7753"/>
                </a:solidFill>
              </a:rPr>
              <a:t>Validación con usuarios reales</a:t>
            </a:r>
            <a:endParaRPr/>
          </a:p>
        </p:txBody>
      </p:sp>
      <p:sp>
        <p:nvSpPr>
          <p:cNvPr id="223" name="Google Shape;223;g3b82afa0925_1_63"/>
          <p:cNvSpPr txBox="1"/>
          <p:nvPr/>
        </p:nvSpPr>
        <p:spPr>
          <a:xfrm>
            <a:off x="1806025" y="7144550"/>
            <a:ext cx="14773500" cy="1187400"/>
          </a:xfrm>
          <a:prstGeom prst="rect">
            <a:avLst/>
          </a:prstGeom>
          <a:noFill/>
          <a:ln>
            <a:noFill/>
          </a:ln>
        </p:spPr>
        <p:txBody>
          <a:bodyPr anchorCtr="0" anchor="t" bIns="91425" lIns="91425" spcFirstLastPara="1" rIns="91425" wrap="square" tIns="91425">
            <a:spAutoFit/>
          </a:bodyPr>
          <a:lstStyle/>
          <a:p>
            <a:pPr indent="-4444" lvl="0" marL="16510" marR="825500" rtl="0" algn="l">
              <a:lnSpc>
                <a:spcPct val="105084"/>
              </a:lnSpc>
              <a:spcBef>
                <a:spcPts val="869"/>
              </a:spcBef>
              <a:spcAft>
                <a:spcPts val="0"/>
              </a:spcAft>
              <a:buClr>
                <a:schemeClr val="dk1"/>
              </a:buClr>
              <a:buFont typeface="Arial"/>
              <a:buNone/>
            </a:pPr>
            <a:r>
              <a:rPr lang="en-US" sz="2100">
                <a:solidFill>
                  <a:schemeClr val="dk1"/>
                </a:solidFill>
              </a:rPr>
              <a:t>Realizar una evaluación formal con usuarios para medir la utilidad, precisión y satisfacción con las recomendaciones generadas por el sistema.</a:t>
            </a:r>
            <a:endParaRPr sz="2950">
              <a:solidFill>
                <a:schemeClr val="dk1"/>
              </a:solidFill>
              <a:latin typeface="Calibri"/>
              <a:ea typeface="Calibri"/>
              <a:cs typeface="Calibri"/>
              <a:sym typeface="Calibri"/>
            </a:endParaRPr>
          </a:p>
          <a:p>
            <a:pPr indent="0" lvl="0" marL="0" rtl="0" algn="l">
              <a:spcBef>
                <a:spcPts val="0"/>
              </a:spcBef>
              <a:spcAft>
                <a:spcPts val="0"/>
              </a:spcAft>
              <a:buNone/>
            </a:pPr>
            <a:r>
              <a:t/>
            </a:r>
            <a:endParaRPr sz="21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0"/>
        </a:solidFill>
      </p:bgPr>
    </p:bg>
    <p:spTree>
      <p:nvGrpSpPr>
        <p:cNvPr id="227" name="Shape 227"/>
        <p:cNvGrpSpPr/>
        <p:nvPr/>
      </p:nvGrpSpPr>
      <p:grpSpPr>
        <a:xfrm>
          <a:off x="0" y="0"/>
          <a:ext cx="0" cy="0"/>
          <a:chOff x="0" y="0"/>
          <a:chExt cx="0" cy="0"/>
        </a:xfrm>
      </p:grpSpPr>
      <p:sp>
        <p:nvSpPr>
          <p:cNvPr id="228" name="Google Shape;228;p16"/>
          <p:cNvSpPr txBox="1"/>
          <p:nvPr/>
        </p:nvSpPr>
        <p:spPr>
          <a:xfrm>
            <a:off x="933450" y="2696608"/>
            <a:ext cx="10910528" cy="1735035"/>
          </a:xfrm>
          <a:prstGeom prst="rect">
            <a:avLst/>
          </a:prstGeom>
          <a:noFill/>
          <a:ln>
            <a:noFill/>
          </a:ln>
        </p:spPr>
        <p:txBody>
          <a:bodyPr anchorCtr="0" anchor="t" bIns="0" lIns="0" spcFirstLastPara="1" rIns="0" wrap="square" tIns="0">
            <a:spAutoFit/>
          </a:bodyPr>
          <a:lstStyle/>
          <a:p>
            <a:pPr indent="0" lvl="0" marL="0" marR="0" rtl="0" algn="l">
              <a:lnSpc>
                <a:spcPct val="100007"/>
              </a:lnSpc>
              <a:spcBef>
                <a:spcPts val="0"/>
              </a:spcBef>
              <a:spcAft>
                <a:spcPts val="0"/>
              </a:spcAft>
              <a:buNone/>
            </a:pPr>
            <a:r>
              <a:rPr b="0" i="0" lang="en-US" sz="13039" u="none" cap="none" strike="noStrike">
                <a:solidFill>
                  <a:srgbClr val="331B0D"/>
                </a:solidFill>
                <a:latin typeface="Arial"/>
                <a:ea typeface="Arial"/>
                <a:cs typeface="Arial"/>
                <a:sym typeface="Arial"/>
              </a:rPr>
              <a:t>Gracias</a:t>
            </a:r>
            <a:endParaRPr/>
          </a:p>
        </p:txBody>
      </p:sp>
      <p:sp>
        <p:nvSpPr>
          <p:cNvPr id="229" name="Google Shape;229;p16"/>
          <p:cNvSpPr txBox="1"/>
          <p:nvPr/>
        </p:nvSpPr>
        <p:spPr>
          <a:xfrm>
            <a:off x="12307980" y="8392466"/>
            <a:ext cx="5033400" cy="11205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b="0" i="0" lang="en-US" sz="2100" u="none" cap="none" strike="noStrike">
                <a:solidFill>
                  <a:srgbClr val="331B0D"/>
                </a:solidFill>
                <a:latin typeface="Arial"/>
                <a:ea typeface="Arial"/>
                <a:cs typeface="Arial"/>
                <a:sym typeface="Arial"/>
              </a:rPr>
              <a:t>Juan Broto </a:t>
            </a:r>
            <a:endParaRPr/>
          </a:p>
          <a:p>
            <a:pPr indent="0" lvl="0" marL="0" marR="0" rtl="0" algn="r">
              <a:lnSpc>
                <a:spcPct val="140000"/>
              </a:lnSpc>
              <a:spcBef>
                <a:spcPts val="0"/>
              </a:spcBef>
              <a:spcAft>
                <a:spcPts val="0"/>
              </a:spcAft>
              <a:buNone/>
            </a:pPr>
            <a:r>
              <a:rPr b="0" i="0" lang="en-US" sz="2100" u="none" cap="none" strike="noStrike">
                <a:solidFill>
                  <a:srgbClr val="331B0D"/>
                </a:solidFill>
                <a:latin typeface="Arial"/>
                <a:ea typeface="Arial"/>
                <a:cs typeface="Arial"/>
                <a:sym typeface="Arial"/>
              </a:rPr>
              <a:t>Lidia González</a:t>
            </a:r>
            <a:endParaRPr/>
          </a:p>
          <a:p>
            <a:pPr indent="0" lvl="0" marL="0" marR="0" rtl="0" algn="r">
              <a:lnSpc>
                <a:spcPct val="140000"/>
              </a:lnSpc>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